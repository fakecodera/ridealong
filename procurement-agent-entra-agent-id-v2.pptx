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introduce the scenario. Frame around one idea — an AI agent that touches enterprise data must have its own governed identity. Entra Agent ID is the purpose-built platform. This deck has 20 slides but 15 are the core narrative; slides 6, 12, 14, 17, and 19 are deep-dive slides I'll skip unless the panel asks. Duration target: 12-15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Core narrative is ~15 slides at ~1 min each. Deep-dive slides (marked with a star in the section tag) are skippable in the main flow but pulled up if questions arise.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context: procurement teams get flooded with PO-status and policy questions. Automating this saves hours. Because it touches four systems, the security design is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what Anjali actually sees in Teams — a clean, natural conversation. Right side: what's happening behind the scenes across six steps. This slide bridges the user experience and the technical flow that follows. Point out the amber 'Authenticating via Entra Agent ID' banner in the UI mockup — that's the moment we get scrutinized in the auth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is a distributed system in miniature. Six different systems, each protected by its own access controls. Traditional approach would be a shared service account — bad idea, as we'll see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layers: user → agent → identity (Entra Agent ID is the star) → data. Governance sits alongside Entra as the guardrail. Every request routes through the amber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what happens without agent identity — what most orgs are doing today with a shared service principal. Right column: what Entra Agent ID gives us. Emphasize accountability and Conditional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Trust principles applied to agents. The right column shows how each principle maps concretely onto the procurement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content slide. Three facts: GA, standards-based OAuth, extends existing Zero Trust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slide (skip in main flow). This is THE mental model for Entra Agent ID. Blueprint = template with credentials + inheritable permissions. Agent Identities = per-environment instances that inherit from the blueprint. If a scope needs to change, update the blueprint and all agent identities inherit. Each agent identity has its own object ID, its own sign-in logs, and can have its own Conditional Access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important row: 'Sign-in mode'. Agents cannot log in like a human. This forces all auth to be programmatic — client credentials + OBO — which is more secure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benefits + six-step onboarding process. Blueprint (step 1) is where permissions are defined once and inherited by all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slowly. OBO = agent never sees user's password. User token is exchanged for a NEW token scoped to a downstream API. ERP call carries agent identity + user's delegated permission. If user can't see PO-12345, the agent can't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slide (skip in main flow). This is where you demonstrate real technical understanding. Three tokens: Tc (user), T1 (blueprint exchange), TR (resource). The T1 has aud=AzureADTokenExchange — meaning T1 is not a resource token, it's a short-lived credential used to obtain TR. TR has aud=backend and oid=agent identity's object ID. If asked 'how do you know which agent hit the ERP', point to the oid claim in TR.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AuthN vs AuthZ is one of the evaluation focus areas. AuthN at Entra, AuthZ at each backend. Sites.Selected not Sites.Read.All — that's the difference between least privilege and lazy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pillars. Single-click revoke — this is the operational reason for a proper agent identity. Disable one object in Entra and all downstream access dies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slide. Show how Entra Agent ID + Defender enable a real incident response playbook. Two branches: high severity → immediate revoke and investigate. Low/medium → investigate first. Both converge on remediation. Key value prop: because the agent has its OWN identity, revocation is one click and takes effect immediately across ALL downstream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Heart of the presentation. Walk through slowly, 2-3 minutes. The three amber steps are where Entra Agent ID does its work. If Anjali couldn't see PO-12345 in the ERP directly, the agent can't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Deep-dive slide. Four failure modes: not found, unauthorized, backend down, malicious. For each, show how the design handles it. The insight boxes at the bottom show WHY the identity design makes each case tractable. Panel is likely to ask 'what if the ERP is down' or 'what if the user hits rate limits' — this slide answers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Six takeaways. Expected questions: (1) Why not just managed identity? MI is for infra, lacks accountability model, blueprints, CA for agents. (2) What if ERP doesn't speak OAuth? Use MCP server / connector fronting the ERP. (3) How does this differ from Copilot Studio's built-in auth? Copilot Studio agents ARE now backed by Entra Agent ID identities.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flipH="1">
            <a:off x="8686800" y="0"/>
            <a:ext cx="3474720" cy="6858000"/>
          </a:xfrm>
          <a:prstGeom prst="rtTriangle">
            <a:avLst/>
          </a:prstGeom>
          <a:solidFill>
            <a:srgbClr val="13315C"/>
          </a:solidFill>
          <a:ln w="12700">
            <a:solidFill>
              <a:srgbClr val="13315C"/>
            </a:solidFill>
            <a:prstDash val="solid"/>
          </a:ln>
        </p:spPr>
      </p:sp>
      <p:sp>
        <p:nvSpPr>
          <p:cNvPr id="3" name="Shape 1"/>
          <p:cNvSpPr/>
          <p:nvPr/>
        </p:nvSpPr>
        <p:spPr>
          <a:xfrm>
            <a:off x="11612880" y="0"/>
            <a:ext cx="548640" cy="6858000"/>
          </a:xfrm>
          <a:prstGeom prst="rect">
            <a:avLst/>
          </a:prstGeom>
          <a:solidFill>
            <a:srgbClr val="F5A623"/>
          </a:solidFill>
          <a:ln w="12700">
            <a:solidFill>
              <a:srgbClr val="F5A623"/>
            </a:solidFill>
            <a:prstDash val="solid"/>
          </a:ln>
        </p:spPr>
      </p:sp>
      <p:sp>
        <p:nvSpPr>
          <p:cNvPr id="4" name="Shape 2"/>
          <p:cNvSpPr/>
          <p:nvPr/>
        </p:nvSpPr>
        <p:spPr>
          <a:xfrm>
            <a:off x="9326880" y="5029200"/>
            <a:ext cx="54864" cy="54864"/>
          </a:xfrm>
          <a:prstGeom prst="ellipse">
            <a:avLst/>
          </a:prstGeom>
          <a:solidFill>
            <a:srgbClr val="CADCFC"/>
          </a:solidFill>
          <a:ln w="12700">
            <a:solidFill>
              <a:srgbClr val="CADCFC"/>
            </a:solidFill>
            <a:prstDash val="solid"/>
          </a:ln>
        </p:spPr>
      </p:sp>
      <p:sp>
        <p:nvSpPr>
          <p:cNvPr id="5" name="Shape 3"/>
          <p:cNvSpPr/>
          <p:nvPr/>
        </p:nvSpPr>
        <p:spPr>
          <a:xfrm>
            <a:off x="9646920" y="5029200"/>
            <a:ext cx="54864" cy="54864"/>
          </a:xfrm>
          <a:prstGeom prst="ellipse">
            <a:avLst/>
          </a:prstGeom>
          <a:solidFill>
            <a:srgbClr val="CADCFC"/>
          </a:solidFill>
          <a:ln w="12700">
            <a:solidFill>
              <a:srgbClr val="CADCFC"/>
            </a:solidFill>
            <a:prstDash val="solid"/>
          </a:ln>
        </p:spPr>
      </p:sp>
      <p:sp>
        <p:nvSpPr>
          <p:cNvPr id="6" name="Shape 4"/>
          <p:cNvSpPr/>
          <p:nvPr/>
        </p:nvSpPr>
        <p:spPr>
          <a:xfrm>
            <a:off x="9966960" y="5029200"/>
            <a:ext cx="54864" cy="54864"/>
          </a:xfrm>
          <a:prstGeom prst="ellipse">
            <a:avLst/>
          </a:prstGeom>
          <a:solidFill>
            <a:srgbClr val="CADCFC"/>
          </a:solidFill>
          <a:ln w="12700">
            <a:solidFill>
              <a:srgbClr val="CADCFC"/>
            </a:solidFill>
            <a:prstDash val="solid"/>
          </a:ln>
        </p:spPr>
      </p:sp>
      <p:sp>
        <p:nvSpPr>
          <p:cNvPr id="7" name="Shape 5"/>
          <p:cNvSpPr/>
          <p:nvPr/>
        </p:nvSpPr>
        <p:spPr>
          <a:xfrm>
            <a:off x="10287000" y="5029200"/>
            <a:ext cx="54864" cy="54864"/>
          </a:xfrm>
          <a:prstGeom prst="ellipse">
            <a:avLst/>
          </a:prstGeom>
          <a:solidFill>
            <a:srgbClr val="CADCFC"/>
          </a:solidFill>
          <a:ln w="12700">
            <a:solidFill>
              <a:srgbClr val="CADCFC"/>
            </a:solidFill>
            <a:prstDash val="solid"/>
          </a:ln>
        </p:spPr>
      </p:sp>
      <p:sp>
        <p:nvSpPr>
          <p:cNvPr id="8" name="Shape 6"/>
          <p:cNvSpPr/>
          <p:nvPr/>
        </p:nvSpPr>
        <p:spPr>
          <a:xfrm>
            <a:off x="10607040" y="5029200"/>
            <a:ext cx="54864" cy="54864"/>
          </a:xfrm>
          <a:prstGeom prst="ellipse">
            <a:avLst/>
          </a:prstGeom>
          <a:solidFill>
            <a:srgbClr val="CADCFC"/>
          </a:solidFill>
          <a:ln w="12700">
            <a:solidFill>
              <a:srgbClr val="CADCFC"/>
            </a:solidFill>
            <a:prstDash val="solid"/>
          </a:ln>
        </p:spPr>
      </p:sp>
      <p:sp>
        <p:nvSpPr>
          <p:cNvPr id="9" name="Shape 7"/>
          <p:cNvSpPr/>
          <p:nvPr/>
        </p:nvSpPr>
        <p:spPr>
          <a:xfrm>
            <a:off x="9326880" y="5257800"/>
            <a:ext cx="54864" cy="54864"/>
          </a:xfrm>
          <a:prstGeom prst="ellipse">
            <a:avLst/>
          </a:prstGeom>
          <a:solidFill>
            <a:srgbClr val="CADCFC"/>
          </a:solidFill>
          <a:ln w="12700">
            <a:solidFill>
              <a:srgbClr val="CADCFC"/>
            </a:solidFill>
            <a:prstDash val="solid"/>
          </a:ln>
        </p:spPr>
      </p:sp>
      <p:sp>
        <p:nvSpPr>
          <p:cNvPr id="10" name="Shape 8"/>
          <p:cNvSpPr/>
          <p:nvPr/>
        </p:nvSpPr>
        <p:spPr>
          <a:xfrm>
            <a:off x="9646920" y="5257800"/>
            <a:ext cx="54864" cy="54864"/>
          </a:xfrm>
          <a:prstGeom prst="ellipse">
            <a:avLst/>
          </a:prstGeom>
          <a:solidFill>
            <a:srgbClr val="CADCFC"/>
          </a:solidFill>
          <a:ln w="12700">
            <a:solidFill>
              <a:srgbClr val="CADCFC"/>
            </a:solidFill>
            <a:prstDash val="solid"/>
          </a:ln>
        </p:spPr>
      </p:sp>
      <p:sp>
        <p:nvSpPr>
          <p:cNvPr id="11" name="Shape 9"/>
          <p:cNvSpPr/>
          <p:nvPr/>
        </p:nvSpPr>
        <p:spPr>
          <a:xfrm>
            <a:off x="9966960" y="5257800"/>
            <a:ext cx="54864" cy="54864"/>
          </a:xfrm>
          <a:prstGeom prst="ellipse">
            <a:avLst/>
          </a:prstGeom>
          <a:solidFill>
            <a:srgbClr val="CADCFC"/>
          </a:solidFill>
          <a:ln w="12700">
            <a:solidFill>
              <a:srgbClr val="CADCFC"/>
            </a:solidFill>
            <a:prstDash val="solid"/>
          </a:ln>
        </p:spPr>
      </p:sp>
      <p:sp>
        <p:nvSpPr>
          <p:cNvPr id="12" name="Shape 10"/>
          <p:cNvSpPr/>
          <p:nvPr/>
        </p:nvSpPr>
        <p:spPr>
          <a:xfrm>
            <a:off x="10287000" y="5257800"/>
            <a:ext cx="54864" cy="54864"/>
          </a:xfrm>
          <a:prstGeom prst="ellipse">
            <a:avLst/>
          </a:prstGeom>
          <a:solidFill>
            <a:srgbClr val="CADCFC"/>
          </a:solidFill>
          <a:ln w="12700">
            <a:solidFill>
              <a:srgbClr val="CADCFC"/>
            </a:solidFill>
            <a:prstDash val="solid"/>
          </a:ln>
        </p:spPr>
      </p:sp>
      <p:sp>
        <p:nvSpPr>
          <p:cNvPr id="13" name="Shape 11"/>
          <p:cNvSpPr/>
          <p:nvPr/>
        </p:nvSpPr>
        <p:spPr>
          <a:xfrm>
            <a:off x="10607040" y="5257800"/>
            <a:ext cx="54864" cy="54864"/>
          </a:xfrm>
          <a:prstGeom prst="ellipse">
            <a:avLst/>
          </a:prstGeom>
          <a:solidFill>
            <a:srgbClr val="CADCFC"/>
          </a:solidFill>
          <a:ln w="12700">
            <a:solidFill>
              <a:srgbClr val="CADCFC"/>
            </a:solidFill>
            <a:prstDash val="solid"/>
          </a:ln>
        </p:spPr>
      </p:sp>
      <p:sp>
        <p:nvSpPr>
          <p:cNvPr id="14" name="Shape 12"/>
          <p:cNvSpPr/>
          <p:nvPr/>
        </p:nvSpPr>
        <p:spPr>
          <a:xfrm>
            <a:off x="9326880" y="5486400"/>
            <a:ext cx="54864" cy="54864"/>
          </a:xfrm>
          <a:prstGeom prst="ellipse">
            <a:avLst/>
          </a:prstGeom>
          <a:solidFill>
            <a:srgbClr val="CADCFC"/>
          </a:solidFill>
          <a:ln w="12700">
            <a:solidFill>
              <a:srgbClr val="CADCFC"/>
            </a:solidFill>
            <a:prstDash val="solid"/>
          </a:ln>
        </p:spPr>
      </p:sp>
      <p:sp>
        <p:nvSpPr>
          <p:cNvPr id="15" name="Shape 13"/>
          <p:cNvSpPr/>
          <p:nvPr/>
        </p:nvSpPr>
        <p:spPr>
          <a:xfrm>
            <a:off x="9646920" y="5486400"/>
            <a:ext cx="54864" cy="54864"/>
          </a:xfrm>
          <a:prstGeom prst="ellipse">
            <a:avLst/>
          </a:prstGeom>
          <a:solidFill>
            <a:srgbClr val="CADCFC"/>
          </a:solidFill>
          <a:ln w="12700">
            <a:solidFill>
              <a:srgbClr val="CADCFC"/>
            </a:solidFill>
            <a:prstDash val="solid"/>
          </a:ln>
        </p:spPr>
      </p:sp>
      <p:sp>
        <p:nvSpPr>
          <p:cNvPr id="16" name="Shape 14"/>
          <p:cNvSpPr/>
          <p:nvPr/>
        </p:nvSpPr>
        <p:spPr>
          <a:xfrm>
            <a:off x="9966960" y="5486400"/>
            <a:ext cx="54864" cy="54864"/>
          </a:xfrm>
          <a:prstGeom prst="ellipse">
            <a:avLst/>
          </a:prstGeom>
          <a:solidFill>
            <a:srgbClr val="CADCFC"/>
          </a:solidFill>
          <a:ln w="12700">
            <a:solidFill>
              <a:srgbClr val="CADCFC"/>
            </a:solidFill>
            <a:prstDash val="solid"/>
          </a:ln>
        </p:spPr>
      </p:sp>
      <p:sp>
        <p:nvSpPr>
          <p:cNvPr id="17" name="Shape 15"/>
          <p:cNvSpPr/>
          <p:nvPr/>
        </p:nvSpPr>
        <p:spPr>
          <a:xfrm>
            <a:off x="10287000" y="5486400"/>
            <a:ext cx="54864" cy="54864"/>
          </a:xfrm>
          <a:prstGeom prst="ellipse">
            <a:avLst/>
          </a:prstGeom>
          <a:solidFill>
            <a:srgbClr val="CADCFC"/>
          </a:solidFill>
          <a:ln w="12700">
            <a:solidFill>
              <a:srgbClr val="CADCFC"/>
            </a:solidFill>
            <a:prstDash val="solid"/>
          </a:ln>
        </p:spPr>
      </p:sp>
      <p:sp>
        <p:nvSpPr>
          <p:cNvPr id="18" name="Shape 16"/>
          <p:cNvSpPr/>
          <p:nvPr/>
        </p:nvSpPr>
        <p:spPr>
          <a:xfrm>
            <a:off x="10607040" y="5486400"/>
            <a:ext cx="54864" cy="54864"/>
          </a:xfrm>
          <a:prstGeom prst="ellipse">
            <a:avLst/>
          </a:prstGeom>
          <a:solidFill>
            <a:srgbClr val="CADCFC"/>
          </a:solidFill>
          <a:ln w="12700">
            <a:solidFill>
              <a:srgbClr val="CADCFC"/>
            </a:solidFill>
            <a:prstDash val="solid"/>
          </a:ln>
        </p:spPr>
      </p:sp>
      <p:sp>
        <p:nvSpPr>
          <p:cNvPr id="19" name="Shape 17"/>
          <p:cNvSpPr/>
          <p:nvPr/>
        </p:nvSpPr>
        <p:spPr>
          <a:xfrm>
            <a:off x="9326880" y="5715000"/>
            <a:ext cx="54864" cy="54864"/>
          </a:xfrm>
          <a:prstGeom prst="ellipse">
            <a:avLst/>
          </a:prstGeom>
          <a:solidFill>
            <a:srgbClr val="CADCFC"/>
          </a:solidFill>
          <a:ln w="12700">
            <a:solidFill>
              <a:srgbClr val="CADCFC"/>
            </a:solidFill>
            <a:prstDash val="solid"/>
          </a:ln>
        </p:spPr>
      </p:sp>
      <p:sp>
        <p:nvSpPr>
          <p:cNvPr id="20" name="Shape 18"/>
          <p:cNvSpPr/>
          <p:nvPr/>
        </p:nvSpPr>
        <p:spPr>
          <a:xfrm>
            <a:off x="9646920" y="5715000"/>
            <a:ext cx="54864" cy="54864"/>
          </a:xfrm>
          <a:prstGeom prst="ellipse">
            <a:avLst/>
          </a:prstGeom>
          <a:solidFill>
            <a:srgbClr val="CADCFC"/>
          </a:solidFill>
          <a:ln w="12700">
            <a:solidFill>
              <a:srgbClr val="CADCFC"/>
            </a:solidFill>
            <a:prstDash val="solid"/>
          </a:ln>
        </p:spPr>
      </p:sp>
      <p:sp>
        <p:nvSpPr>
          <p:cNvPr id="21" name="Shape 19"/>
          <p:cNvSpPr/>
          <p:nvPr/>
        </p:nvSpPr>
        <p:spPr>
          <a:xfrm>
            <a:off x="9966960" y="5715000"/>
            <a:ext cx="54864" cy="54864"/>
          </a:xfrm>
          <a:prstGeom prst="ellipse">
            <a:avLst/>
          </a:prstGeom>
          <a:solidFill>
            <a:srgbClr val="CADCFC"/>
          </a:solidFill>
          <a:ln w="12700">
            <a:solidFill>
              <a:srgbClr val="CADCFC"/>
            </a:solidFill>
            <a:prstDash val="solid"/>
          </a:ln>
        </p:spPr>
      </p:sp>
      <p:sp>
        <p:nvSpPr>
          <p:cNvPr id="22" name="Shape 20"/>
          <p:cNvSpPr/>
          <p:nvPr/>
        </p:nvSpPr>
        <p:spPr>
          <a:xfrm>
            <a:off x="10287000" y="5715000"/>
            <a:ext cx="54864" cy="54864"/>
          </a:xfrm>
          <a:prstGeom prst="ellipse">
            <a:avLst/>
          </a:prstGeom>
          <a:solidFill>
            <a:srgbClr val="CADCFC"/>
          </a:solidFill>
          <a:ln w="12700">
            <a:solidFill>
              <a:srgbClr val="CADCFC"/>
            </a:solidFill>
            <a:prstDash val="solid"/>
          </a:ln>
        </p:spPr>
      </p:sp>
      <p:sp>
        <p:nvSpPr>
          <p:cNvPr id="23" name="Shape 21"/>
          <p:cNvSpPr/>
          <p:nvPr/>
        </p:nvSpPr>
        <p:spPr>
          <a:xfrm>
            <a:off x="10607040" y="5715000"/>
            <a:ext cx="54864" cy="54864"/>
          </a:xfrm>
          <a:prstGeom prst="ellipse">
            <a:avLst/>
          </a:prstGeom>
          <a:solidFill>
            <a:srgbClr val="CADCFC"/>
          </a:solidFill>
          <a:ln w="12700">
            <a:solidFill>
              <a:srgbClr val="CADCFC"/>
            </a:solidFill>
            <a:prstDash val="solid"/>
          </a:ln>
        </p:spPr>
      </p:sp>
      <p:sp>
        <p:nvSpPr>
          <p:cNvPr id="24" name="Shape 22"/>
          <p:cNvSpPr/>
          <p:nvPr/>
        </p:nvSpPr>
        <p:spPr>
          <a:xfrm>
            <a:off x="9326880" y="5943600"/>
            <a:ext cx="54864" cy="54864"/>
          </a:xfrm>
          <a:prstGeom prst="ellipse">
            <a:avLst/>
          </a:prstGeom>
          <a:solidFill>
            <a:srgbClr val="CADCFC"/>
          </a:solidFill>
          <a:ln w="12700">
            <a:solidFill>
              <a:srgbClr val="CADCFC"/>
            </a:solidFill>
            <a:prstDash val="solid"/>
          </a:ln>
        </p:spPr>
      </p:sp>
      <p:sp>
        <p:nvSpPr>
          <p:cNvPr id="25" name="Shape 23"/>
          <p:cNvSpPr/>
          <p:nvPr/>
        </p:nvSpPr>
        <p:spPr>
          <a:xfrm>
            <a:off x="9646920" y="5943600"/>
            <a:ext cx="54864" cy="54864"/>
          </a:xfrm>
          <a:prstGeom prst="ellipse">
            <a:avLst/>
          </a:prstGeom>
          <a:solidFill>
            <a:srgbClr val="CADCFC"/>
          </a:solidFill>
          <a:ln w="12700">
            <a:solidFill>
              <a:srgbClr val="CADCFC"/>
            </a:solidFill>
            <a:prstDash val="solid"/>
          </a:ln>
        </p:spPr>
      </p:sp>
      <p:sp>
        <p:nvSpPr>
          <p:cNvPr id="26" name="Shape 24"/>
          <p:cNvSpPr/>
          <p:nvPr/>
        </p:nvSpPr>
        <p:spPr>
          <a:xfrm>
            <a:off x="9966960" y="5943600"/>
            <a:ext cx="54864" cy="54864"/>
          </a:xfrm>
          <a:prstGeom prst="ellipse">
            <a:avLst/>
          </a:prstGeom>
          <a:solidFill>
            <a:srgbClr val="CADCFC"/>
          </a:solidFill>
          <a:ln w="12700">
            <a:solidFill>
              <a:srgbClr val="CADCFC"/>
            </a:solidFill>
            <a:prstDash val="solid"/>
          </a:ln>
        </p:spPr>
      </p:sp>
      <p:sp>
        <p:nvSpPr>
          <p:cNvPr id="27" name="Shape 25"/>
          <p:cNvSpPr/>
          <p:nvPr/>
        </p:nvSpPr>
        <p:spPr>
          <a:xfrm>
            <a:off x="10287000" y="5943600"/>
            <a:ext cx="54864" cy="54864"/>
          </a:xfrm>
          <a:prstGeom prst="ellipse">
            <a:avLst/>
          </a:prstGeom>
          <a:solidFill>
            <a:srgbClr val="CADCFC"/>
          </a:solidFill>
          <a:ln w="12700">
            <a:solidFill>
              <a:srgbClr val="CADCFC"/>
            </a:solidFill>
            <a:prstDash val="solid"/>
          </a:ln>
        </p:spPr>
      </p:sp>
      <p:sp>
        <p:nvSpPr>
          <p:cNvPr id="28" name="Shape 26"/>
          <p:cNvSpPr/>
          <p:nvPr/>
        </p:nvSpPr>
        <p:spPr>
          <a:xfrm>
            <a:off x="10607040" y="5943600"/>
            <a:ext cx="54864" cy="54864"/>
          </a:xfrm>
          <a:prstGeom prst="ellipse">
            <a:avLst/>
          </a:prstGeom>
          <a:solidFill>
            <a:srgbClr val="CADCFC"/>
          </a:solidFill>
          <a:ln w="12700">
            <a:solidFill>
              <a:srgbClr val="CADCFC"/>
            </a:solidFill>
            <a:prstDash val="solid"/>
          </a:ln>
        </p:spPr>
      </p:sp>
      <p:sp>
        <p:nvSpPr>
          <p:cNvPr id="29" name="Shape 27"/>
          <p:cNvSpPr/>
          <p:nvPr/>
        </p:nvSpPr>
        <p:spPr>
          <a:xfrm>
            <a:off x="9326880" y="6172200"/>
            <a:ext cx="54864" cy="54864"/>
          </a:xfrm>
          <a:prstGeom prst="ellipse">
            <a:avLst/>
          </a:prstGeom>
          <a:solidFill>
            <a:srgbClr val="CADCFC"/>
          </a:solidFill>
          <a:ln w="12700">
            <a:solidFill>
              <a:srgbClr val="CADCFC"/>
            </a:solidFill>
            <a:prstDash val="solid"/>
          </a:ln>
        </p:spPr>
      </p:sp>
      <p:sp>
        <p:nvSpPr>
          <p:cNvPr id="30" name="Shape 28"/>
          <p:cNvSpPr/>
          <p:nvPr/>
        </p:nvSpPr>
        <p:spPr>
          <a:xfrm>
            <a:off x="9646920" y="6172200"/>
            <a:ext cx="54864" cy="54864"/>
          </a:xfrm>
          <a:prstGeom prst="ellipse">
            <a:avLst/>
          </a:prstGeom>
          <a:solidFill>
            <a:srgbClr val="CADCFC"/>
          </a:solidFill>
          <a:ln w="12700">
            <a:solidFill>
              <a:srgbClr val="CADCFC"/>
            </a:solidFill>
            <a:prstDash val="solid"/>
          </a:ln>
        </p:spPr>
      </p:sp>
      <p:sp>
        <p:nvSpPr>
          <p:cNvPr id="31" name="Shape 29"/>
          <p:cNvSpPr/>
          <p:nvPr/>
        </p:nvSpPr>
        <p:spPr>
          <a:xfrm>
            <a:off x="9966960" y="6172200"/>
            <a:ext cx="54864" cy="54864"/>
          </a:xfrm>
          <a:prstGeom prst="ellipse">
            <a:avLst/>
          </a:prstGeom>
          <a:solidFill>
            <a:srgbClr val="CADCFC"/>
          </a:solidFill>
          <a:ln w="12700">
            <a:solidFill>
              <a:srgbClr val="CADCFC"/>
            </a:solidFill>
            <a:prstDash val="solid"/>
          </a:ln>
        </p:spPr>
      </p:sp>
      <p:sp>
        <p:nvSpPr>
          <p:cNvPr id="32" name="Shape 30"/>
          <p:cNvSpPr/>
          <p:nvPr/>
        </p:nvSpPr>
        <p:spPr>
          <a:xfrm>
            <a:off x="10287000" y="6172200"/>
            <a:ext cx="54864" cy="54864"/>
          </a:xfrm>
          <a:prstGeom prst="ellipse">
            <a:avLst/>
          </a:prstGeom>
          <a:solidFill>
            <a:srgbClr val="CADCFC"/>
          </a:solidFill>
          <a:ln w="12700">
            <a:solidFill>
              <a:srgbClr val="CADCFC"/>
            </a:solidFill>
            <a:prstDash val="solid"/>
          </a:ln>
        </p:spPr>
      </p:sp>
      <p:sp>
        <p:nvSpPr>
          <p:cNvPr id="33" name="Shape 31"/>
          <p:cNvSpPr/>
          <p:nvPr/>
        </p:nvSpPr>
        <p:spPr>
          <a:xfrm>
            <a:off x="10607040" y="6172200"/>
            <a:ext cx="54864" cy="54864"/>
          </a:xfrm>
          <a:prstGeom prst="ellipse">
            <a:avLst/>
          </a:prstGeom>
          <a:solidFill>
            <a:srgbClr val="CADCFC"/>
          </a:solidFill>
          <a:ln w="12700">
            <a:solidFill>
              <a:srgbClr val="CADCFC"/>
            </a:solidFill>
            <a:prstDash val="solid"/>
          </a:ln>
        </p:spPr>
      </p:sp>
      <p:sp>
        <p:nvSpPr>
          <p:cNvPr id="34" name="Shape 32"/>
          <p:cNvSpPr/>
          <p:nvPr/>
        </p:nvSpPr>
        <p:spPr>
          <a:xfrm rot="10800000">
            <a:off x="9601200" y="2194560"/>
            <a:ext cx="1645920" cy="2011680"/>
          </a:xfrm>
          <a:prstGeom prst="pentagon">
            <a:avLst/>
          </a:prstGeom>
          <a:solidFill>
            <a:srgbClr val="F5A623"/>
          </a:solidFill>
          <a:ln w="25400">
            <a:solidFill>
              <a:srgbClr val="FFFFFF"/>
            </a:solidFill>
            <a:prstDash val="solid"/>
          </a:ln>
        </p:spPr>
      </p:sp>
      <p:sp>
        <p:nvSpPr>
          <p:cNvPr id="35" name="Text 33"/>
          <p:cNvSpPr/>
          <p:nvPr/>
        </p:nvSpPr>
        <p:spPr>
          <a:xfrm>
            <a:off x="9601200" y="2743200"/>
            <a:ext cx="1645920" cy="1097280"/>
          </a:xfrm>
          <a:prstGeom prst="rect">
            <a:avLst/>
          </a:prstGeom>
          <a:noFill/>
          <a:ln/>
        </p:spPr>
        <p:txBody>
          <a:bodyPr wrap="square" lIns="0" tIns="0" rIns="0" bIns="0" rtlCol="0" anchor="ctr"/>
          <a:lstStyle/>
          <a:p>
            <a:pPr algn="ctr" indent="0" marL="0">
              <a:buNone/>
            </a:pPr>
            <a:r>
              <a:rPr lang="en-US" sz="4400" b="1" dirty="0">
                <a:solidFill>
                  <a:srgbClr val="0B1F3A"/>
                </a:solidFill>
                <a:latin typeface="Cambria" pitchFamily="34" charset="0"/>
                <a:ea typeface="Cambria" pitchFamily="34" charset="-122"/>
                <a:cs typeface="Cambria" pitchFamily="34" charset="-120"/>
              </a:rPr>
              <a:t>AI</a:t>
            </a:r>
            <a:endParaRPr lang="en-US" sz="4400" dirty="0"/>
          </a:p>
        </p:txBody>
      </p:sp>
      <p:sp>
        <p:nvSpPr>
          <p:cNvPr id="36" name="Text 34"/>
          <p:cNvSpPr/>
          <p:nvPr/>
        </p:nvSpPr>
        <p:spPr>
          <a:xfrm>
            <a:off x="640080" y="1097280"/>
            <a:ext cx="7315200" cy="365760"/>
          </a:xfrm>
          <a:prstGeom prst="rect">
            <a:avLst/>
          </a:prstGeom>
          <a:noFill/>
          <a:ln/>
        </p:spPr>
        <p:txBody>
          <a:bodyPr wrap="square" lIns="0" tIns="0" rIns="0" bIns="0" rtlCol="0" anchor="ctr"/>
          <a:lstStyle/>
          <a:p>
            <a:pPr indent="0" marL="0">
              <a:buNone/>
            </a:pPr>
            <a:r>
              <a:rPr lang="en-US" sz="1200" b="1" spc="600" kern="0" dirty="0">
                <a:solidFill>
                  <a:srgbClr val="F5A623"/>
                </a:solidFill>
                <a:latin typeface="Calibri" pitchFamily="34" charset="0"/>
                <a:ea typeface="Calibri" pitchFamily="34" charset="-122"/>
                <a:cs typeface="Calibri" pitchFamily="34" charset="-120"/>
              </a:rPr>
              <a:t>EVALUATION PRESENTATION</a:t>
            </a:r>
            <a:endParaRPr lang="en-US" sz="1200" dirty="0"/>
          </a:p>
        </p:txBody>
      </p:sp>
      <p:sp>
        <p:nvSpPr>
          <p:cNvPr id="37" name="Text 35"/>
          <p:cNvSpPr/>
          <p:nvPr/>
        </p:nvSpPr>
        <p:spPr>
          <a:xfrm>
            <a:off x="640080" y="1554480"/>
            <a:ext cx="8229600" cy="237744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Building a Secure</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AI Procurement</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Assistant Agent</a:t>
            </a:r>
            <a:endParaRPr lang="en-US" sz="4600" dirty="0"/>
          </a:p>
        </p:txBody>
      </p:sp>
      <p:sp>
        <p:nvSpPr>
          <p:cNvPr id="38" name="Text 36"/>
          <p:cNvSpPr/>
          <p:nvPr/>
        </p:nvSpPr>
        <p:spPr>
          <a:xfrm>
            <a:off x="640080" y="4114800"/>
            <a:ext cx="8229600" cy="457200"/>
          </a:xfrm>
          <a:prstGeom prst="rect">
            <a:avLst/>
          </a:prstGeom>
          <a:noFill/>
          <a:ln/>
        </p:spPr>
        <p:txBody>
          <a:bodyPr wrap="square" lIns="0" tIns="0" rIns="0" bIns="0"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Architecture • Identity • Auth • Governance</a:t>
            </a:r>
            <a:endParaRPr lang="en-US" sz="2000" dirty="0"/>
          </a:p>
        </p:txBody>
      </p:sp>
      <p:sp>
        <p:nvSpPr>
          <p:cNvPr id="39" name="Shape 37"/>
          <p:cNvSpPr/>
          <p:nvPr/>
        </p:nvSpPr>
        <p:spPr>
          <a:xfrm>
            <a:off x="640080" y="4846320"/>
            <a:ext cx="3200400" cy="0"/>
          </a:xfrm>
          <a:prstGeom prst="line">
            <a:avLst/>
          </a:prstGeom>
          <a:noFill/>
          <a:ln w="38100">
            <a:solidFill>
              <a:srgbClr val="F5A623"/>
            </a:solidFill>
            <a:prstDash val="solid"/>
          </a:ln>
        </p:spPr>
      </p:sp>
      <p:sp>
        <p:nvSpPr>
          <p:cNvPr id="40" name="Text 38"/>
          <p:cNvSpPr/>
          <p:nvPr/>
        </p:nvSpPr>
        <p:spPr>
          <a:xfrm>
            <a:off x="640080" y="502920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Powered by Microsoft Entra Agent ID</a:t>
            </a:r>
            <a:endParaRPr lang="en-US" sz="1600" dirty="0"/>
          </a:p>
        </p:txBody>
      </p:sp>
      <p:sp>
        <p:nvSpPr>
          <p:cNvPr id="41" name="Text 39"/>
          <p:cNvSpPr/>
          <p:nvPr/>
        </p:nvSpPr>
        <p:spPr>
          <a:xfrm>
            <a:off x="640080" y="6035040"/>
            <a:ext cx="73152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Presented by  Shashi Ranjan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AGENDA</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What we'll cover in the next 15 minutes</a:t>
            </a:r>
            <a:endParaRPr lang="en-US" sz="3200" dirty="0"/>
          </a:p>
        </p:txBody>
      </p:sp>
      <p:sp>
        <p:nvSpPr>
          <p:cNvPr id="5" name="Shape 3"/>
          <p:cNvSpPr/>
          <p:nvPr/>
        </p:nvSpPr>
        <p:spPr>
          <a:xfrm>
            <a:off x="457200" y="1737360"/>
            <a:ext cx="777240" cy="777240"/>
          </a:xfrm>
          <a:prstGeom prst="ellipse">
            <a:avLst/>
          </a:prstGeom>
          <a:solidFill>
            <a:srgbClr val="0B1F3A"/>
          </a:solidFill>
          <a:ln w="12700">
            <a:solidFill>
              <a:srgbClr val="0B1F3A"/>
            </a:solidFill>
            <a:prstDash val="solid"/>
          </a:ln>
        </p:spPr>
      </p:sp>
      <p:sp>
        <p:nvSpPr>
          <p:cNvPr id="6" name="Text 4"/>
          <p:cNvSpPr/>
          <p:nvPr/>
        </p:nvSpPr>
        <p:spPr>
          <a:xfrm>
            <a:off x="457200" y="1737360"/>
            <a:ext cx="777240" cy="777240"/>
          </a:xfrm>
          <a:prstGeom prst="rect">
            <a:avLst/>
          </a:prstGeom>
          <a:noFill/>
          <a:ln/>
        </p:spPr>
        <p:txBody>
          <a:bodyPr wrap="square" lIns="0" tIns="0" rIns="0" bIns="0"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01</a:t>
            </a:r>
            <a:endParaRPr lang="en-US" sz="1600" dirty="0"/>
          </a:p>
        </p:txBody>
      </p:sp>
      <p:sp>
        <p:nvSpPr>
          <p:cNvPr id="7" name="Text 5"/>
          <p:cNvSpPr/>
          <p:nvPr/>
        </p:nvSpPr>
        <p:spPr>
          <a:xfrm>
            <a:off x="1417320" y="1719072"/>
            <a:ext cx="4754880" cy="36576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High-Level Solution Design</a:t>
            </a:r>
            <a:endParaRPr lang="en-US" sz="1700" dirty="0"/>
          </a:p>
        </p:txBody>
      </p:sp>
      <p:sp>
        <p:nvSpPr>
          <p:cNvPr id="8" name="Text 6"/>
          <p:cNvSpPr/>
          <p:nvPr/>
        </p:nvSpPr>
        <p:spPr>
          <a:xfrm>
            <a:off x="1417320" y="2084832"/>
            <a:ext cx="4754880" cy="365760"/>
          </a:xfrm>
          <a:prstGeom prst="rect">
            <a:avLst/>
          </a:prstGeom>
          <a:noFill/>
          <a:ln/>
        </p:spPr>
        <p:txBody>
          <a:bodyPr wrap="square" lIns="0" tIns="0" rIns="0" bIns="0" rtlCol="0" anchor="ctr"/>
          <a:lstStyle/>
          <a:p>
            <a:pPr indent="0" marL="0">
              <a:buNone/>
            </a:pPr>
            <a:r>
              <a:rPr lang="en-US" sz="1200" dirty="0">
                <a:solidFill>
                  <a:srgbClr val="6B7B8C"/>
                </a:solidFill>
                <a:latin typeface="Calibri" pitchFamily="34" charset="0"/>
                <a:ea typeface="Calibri" pitchFamily="34" charset="-122"/>
                <a:cs typeface="Calibri" pitchFamily="34" charset="-120"/>
              </a:rPr>
              <a:t>The agent, the systems it touches, the architecture</a:t>
            </a:r>
            <a:endParaRPr lang="en-US" sz="1200" dirty="0"/>
          </a:p>
        </p:txBody>
      </p:sp>
      <p:sp>
        <p:nvSpPr>
          <p:cNvPr id="9" name="Shape 7"/>
          <p:cNvSpPr/>
          <p:nvPr/>
        </p:nvSpPr>
        <p:spPr>
          <a:xfrm>
            <a:off x="6309360" y="1737360"/>
            <a:ext cx="777240" cy="777240"/>
          </a:xfrm>
          <a:prstGeom prst="ellipse">
            <a:avLst/>
          </a:prstGeom>
          <a:solidFill>
            <a:srgbClr val="0B1F3A"/>
          </a:solidFill>
          <a:ln w="12700">
            <a:solidFill>
              <a:srgbClr val="0B1F3A"/>
            </a:solidFill>
            <a:prstDash val="solid"/>
          </a:ln>
        </p:spPr>
      </p:sp>
      <p:sp>
        <p:nvSpPr>
          <p:cNvPr id="10" name="Text 8"/>
          <p:cNvSpPr/>
          <p:nvPr/>
        </p:nvSpPr>
        <p:spPr>
          <a:xfrm>
            <a:off x="6309360" y="1737360"/>
            <a:ext cx="777240" cy="777240"/>
          </a:xfrm>
          <a:prstGeom prst="rect">
            <a:avLst/>
          </a:prstGeom>
          <a:noFill/>
          <a:ln/>
        </p:spPr>
        <p:txBody>
          <a:bodyPr wrap="square" lIns="0" tIns="0" rIns="0" bIns="0"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02</a:t>
            </a:r>
            <a:endParaRPr lang="en-US" sz="1600" dirty="0"/>
          </a:p>
        </p:txBody>
      </p:sp>
      <p:sp>
        <p:nvSpPr>
          <p:cNvPr id="11" name="Text 9"/>
          <p:cNvSpPr/>
          <p:nvPr/>
        </p:nvSpPr>
        <p:spPr>
          <a:xfrm>
            <a:off x="7269480" y="1719072"/>
            <a:ext cx="4754880" cy="36576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Why the Agent Needs an Identity</a:t>
            </a:r>
            <a:endParaRPr lang="en-US" sz="1700" dirty="0"/>
          </a:p>
        </p:txBody>
      </p:sp>
      <p:sp>
        <p:nvSpPr>
          <p:cNvPr id="12" name="Text 10"/>
          <p:cNvSpPr/>
          <p:nvPr/>
        </p:nvSpPr>
        <p:spPr>
          <a:xfrm>
            <a:off x="7269480" y="2084832"/>
            <a:ext cx="4754880" cy="365760"/>
          </a:xfrm>
          <a:prstGeom prst="rect">
            <a:avLst/>
          </a:prstGeom>
          <a:noFill/>
          <a:ln/>
        </p:spPr>
        <p:txBody>
          <a:bodyPr wrap="square" lIns="0" tIns="0" rIns="0" bIns="0" rtlCol="0" anchor="ctr"/>
          <a:lstStyle/>
          <a:p>
            <a:pPr indent="0" marL="0">
              <a:buNone/>
            </a:pPr>
            <a:r>
              <a:rPr lang="en-US" sz="1200" dirty="0">
                <a:solidFill>
                  <a:srgbClr val="6B7B8C"/>
                </a:solidFill>
                <a:latin typeface="Calibri" pitchFamily="34" charset="0"/>
                <a:ea typeface="Calibri" pitchFamily="34" charset="-122"/>
                <a:cs typeface="Calibri" pitchFamily="34" charset="-120"/>
              </a:rPr>
              <a:t>Problems that emerge without one</a:t>
            </a:r>
            <a:endParaRPr lang="en-US" sz="1200" dirty="0"/>
          </a:p>
        </p:txBody>
      </p:sp>
      <p:sp>
        <p:nvSpPr>
          <p:cNvPr id="13" name="Shape 11"/>
          <p:cNvSpPr/>
          <p:nvPr/>
        </p:nvSpPr>
        <p:spPr>
          <a:xfrm>
            <a:off x="457200" y="2926080"/>
            <a:ext cx="777240" cy="777240"/>
          </a:xfrm>
          <a:prstGeom prst="ellipse">
            <a:avLst/>
          </a:prstGeom>
          <a:solidFill>
            <a:srgbClr val="0B1F3A"/>
          </a:solidFill>
          <a:ln w="12700">
            <a:solidFill>
              <a:srgbClr val="0B1F3A"/>
            </a:solidFill>
            <a:prstDash val="solid"/>
          </a:ln>
        </p:spPr>
      </p:sp>
      <p:sp>
        <p:nvSpPr>
          <p:cNvPr id="14" name="Text 12"/>
          <p:cNvSpPr/>
          <p:nvPr/>
        </p:nvSpPr>
        <p:spPr>
          <a:xfrm>
            <a:off x="457200" y="2926080"/>
            <a:ext cx="777240" cy="777240"/>
          </a:xfrm>
          <a:prstGeom prst="rect">
            <a:avLst/>
          </a:prstGeom>
          <a:noFill/>
          <a:ln/>
        </p:spPr>
        <p:txBody>
          <a:bodyPr wrap="square" lIns="0" tIns="0" rIns="0" bIns="0"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03</a:t>
            </a:r>
            <a:endParaRPr lang="en-US" sz="1600" dirty="0"/>
          </a:p>
        </p:txBody>
      </p:sp>
      <p:sp>
        <p:nvSpPr>
          <p:cNvPr id="15" name="Text 13"/>
          <p:cNvSpPr/>
          <p:nvPr/>
        </p:nvSpPr>
        <p:spPr>
          <a:xfrm>
            <a:off x="1417320" y="2907792"/>
            <a:ext cx="4754880" cy="36576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Microsoft Entra Agent ID</a:t>
            </a:r>
            <a:endParaRPr lang="en-US" sz="1700" dirty="0"/>
          </a:p>
        </p:txBody>
      </p:sp>
      <p:sp>
        <p:nvSpPr>
          <p:cNvPr id="16" name="Text 14"/>
          <p:cNvSpPr/>
          <p:nvPr/>
        </p:nvSpPr>
        <p:spPr>
          <a:xfrm>
            <a:off x="1417320" y="3273552"/>
            <a:ext cx="4754880" cy="365760"/>
          </a:xfrm>
          <a:prstGeom prst="rect">
            <a:avLst/>
          </a:prstGeom>
          <a:noFill/>
          <a:ln/>
        </p:spPr>
        <p:txBody>
          <a:bodyPr wrap="square" lIns="0" tIns="0" rIns="0" bIns="0" rtlCol="0" anchor="ctr"/>
          <a:lstStyle/>
          <a:p>
            <a:pPr indent="0" marL="0">
              <a:buNone/>
            </a:pPr>
            <a:r>
              <a:rPr lang="en-US" sz="1200" dirty="0">
                <a:solidFill>
                  <a:srgbClr val="6B7B8C"/>
                </a:solidFill>
                <a:latin typeface="Calibri" pitchFamily="34" charset="0"/>
                <a:ea typeface="Calibri" pitchFamily="34" charset="-122"/>
                <a:cs typeface="Calibri" pitchFamily="34" charset="-120"/>
              </a:rPr>
              <a:t>What it is, why it matters, blueprint model</a:t>
            </a:r>
            <a:endParaRPr lang="en-US" sz="1200" dirty="0"/>
          </a:p>
        </p:txBody>
      </p:sp>
      <p:sp>
        <p:nvSpPr>
          <p:cNvPr id="17" name="Shape 15"/>
          <p:cNvSpPr/>
          <p:nvPr/>
        </p:nvSpPr>
        <p:spPr>
          <a:xfrm>
            <a:off x="6309360" y="2926080"/>
            <a:ext cx="777240" cy="777240"/>
          </a:xfrm>
          <a:prstGeom prst="ellipse">
            <a:avLst/>
          </a:prstGeom>
          <a:solidFill>
            <a:srgbClr val="0B1F3A"/>
          </a:solidFill>
          <a:ln w="12700">
            <a:solidFill>
              <a:srgbClr val="0B1F3A"/>
            </a:solidFill>
            <a:prstDash val="solid"/>
          </a:ln>
        </p:spPr>
      </p:sp>
      <p:sp>
        <p:nvSpPr>
          <p:cNvPr id="18" name="Text 16"/>
          <p:cNvSpPr/>
          <p:nvPr/>
        </p:nvSpPr>
        <p:spPr>
          <a:xfrm>
            <a:off x="6309360" y="2926080"/>
            <a:ext cx="777240" cy="777240"/>
          </a:xfrm>
          <a:prstGeom prst="rect">
            <a:avLst/>
          </a:prstGeom>
          <a:noFill/>
          <a:ln/>
        </p:spPr>
        <p:txBody>
          <a:bodyPr wrap="square" lIns="0" tIns="0" rIns="0" bIns="0"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04</a:t>
            </a:r>
            <a:endParaRPr lang="en-US" sz="1600" dirty="0"/>
          </a:p>
        </p:txBody>
      </p:sp>
      <p:sp>
        <p:nvSpPr>
          <p:cNvPr id="19" name="Text 17"/>
          <p:cNvSpPr/>
          <p:nvPr/>
        </p:nvSpPr>
        <p:spPr>
          <a:xfrm>
            <a:off x="7269480" y="2907792"/>
            <a:ext cx="4754880" cy="36576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Authentication &amp; Authorization</a:t>
            </a:r>
            <a:endParaRPr lang="en-US" sz="1700" dirty="0"/>
          </a:p>
        </p:txBody>
      </p:sp>
      <p:sp>
        <p:nvSpPr>
          <p:cNvPr id="20" name="Text 18"/>
          <p:cNvSpPr/>
          <p:nvPr/>
        </p:nvSpPr>
        <p:spPr>
          <a:xfrm>
            <a:off x="7269480" y="3273552"/>
            <a:ext cx="4754880" cy="365760"/>
          </a:xfrm>
          <a:prstGeom prst="rect">
            <a:avLst/>
          </a:prstGeom>
          <a:noFill/>
          <a:ln/>
        </p:spPr>
        <p:txBody>
          <a:bodyPr wrap="square" lIns="0" tIns="0" rIns="0" bIns="0" rtlCol="0" anchor="ctr"/>
          <a:lstStyle/>
          <a:p>
            <a:pPr indent="0" marL="0">
              <a:buNone/>
            </a:pPr>
            <a:r>
              <a:rPr lang="en-US" sz="1200" dirty="0">
                <a:solidFill>
                  <a:srgbClr val="6B7B8C"/>
                </a:solidFill>
                <a:latin typeface="Calibri" pitchFamily="34" charset="0"/>
                <a:ea typeface="Calibri" pitchFamily="34" charset="-122"/>
                <a:cs typeface="Calibri" pitchFamily="34" charset="-120"/>
              </a:rPr>
              <a:t>OBO flow, token exchange, least privilege</a:t>
            </a:r>
            <a:endParaRPr lang="en-US" sz="1200" dirty="0"/>
          </a:p>
        </p:txBody>
      </p:sp>
      <p:sp>
        <p:nvSpPr>
          <p:cNvPr id="21" name="Shape 19"/>
          <p:cNvSpPr/>
          <p:nvPr/>
        </p:nvSpPr>
        <p:spPr>
          <a:xfrm>
            <a:off x="457200" y="4114800"/>
            <a:ext cx="777240" cy="777240"/>
          </a:xfrm>
          <a:prstGeom prst="ellipse">
            <a:avLst/>
          </a:prstGeom>
          <a:solidFill>
            <a:srgbClr val="0B1F3A"/>
          </a:solidFill>
          <a:ln w="12700">
            <a:solidFill>
              <a:srgbClr val="0B1F3A"/>
            </a:solidFill>
            <a:prstDash val="solid"/>
          </a:ln>
        </p:spPr>
      </p:sp>
      <p:sp>
        <p:nvSpPr>
          <p:cNvPr id="22" name="Text 20"/>
          <p:cNvSpPr/>
          <p:nvPr/>
        </p:nvSpPr>
        <p:spPr>
          <a:xfrm>
            <a:off x="457200" y="4114800"/>
            <a:ext cx="777240" cy="777240"/>
          </a:xfrm>
          <a:prstGeom prst="rect">
            <a:avLst/>
          </a:prstGeom>
          <a:noFill/>
          <a:ln/>
        </p:spPr>
        <p:txBody>
          <a:bodyPr wrap="square" lIns="0" tIns="0" rIns="0" bIns="0"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05</a:t>
            </a:r>
            <a:endParaRPr lang="en-US" sz="1600" dirty="0"/>
          </a:p>
        </p:txBody>
      </p:sp>
      <p:sp>
        <p:nvSpPr>
          <p:cNvPr id="23" name="Text 21"/>
          <p:cNvSpPr/>
          <p:nvPr/>
        </p:nvSpPr>
        <p:spPr>
          <a:xfrm>
            <a:off x="1417320" y="4096512"/>
            <a:ext cx="4754880" cy="36576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Auditing &amp; Governance</a:t>
            </a:r>
            <a:endParaRPr lang="en-US" sz="1700" dirty="0"/>
          </a:p>
        </p:txBody>
      </p:sp>
      <p:sp>
        <p:nvSpPr>
          <p:cNvPr id="24" name="Text 22"/>
          <p:cNvSpPr/>
          <p:nvPr/>
        </p:nvSpPr>
        <p:spPr>
          <a:xfrm>
            <a:off x="1417320" y="4462272"/>
            <a:ext cx="4754880" cy="365760"/>
          </a:xfrm>
          <a:prstGeom prst="rect">
            <a:avLst/>
          </a:prstGeom>
          <a:noFill/>
          <a:ln/>
        </p:spPr>
        <p:txBody>
          <a:bodyPr wrap="square" lIns="0" tIns="0" rIns="0" bIns="0" rtlCol="0" anchor="ctr"/>
          <a:lstStyle/>
          <a:p>
            <a:pPr indent="0" marL="0">
              <a:buNone/>
            </a:pPr>
            <a:r>
              <a:rPr lang="en-US" sz="1200" dirty="0">
                <a:solidFill>
                  <a:srgbClr val="6B7B8C"/>
                </a:solidFill>
                <a:latin typeface="Calibri" pitchFamily="34" charset="0"/>
                <a:ea typeface="Calibri" pitchFamily="34" charset="-122"/>
                <a:cs typeface="Calibri" pitchFamily="34" charset="-120"/>
              </a:rPr>
              <a:t>Tracking, review, compliance, incident response</a:t>
            </a:r>
            <a:endParaRPr lang="en-US" sz="1200" dirty="0"/>
          </a:p>
        </p:txBody>
      </p:sp>
      <p:sp>
        <p:nvSpPr>
          <p:cNvPr id="25" name="Shape 23"/>
          <p:cNvSpPr/>
          <p:nvPr/>
        </p:nvSpPr>
        <p:spPr>
          <a:xfrm>
            <a:off x="6309360" y="4114800"/>
            <a:ext cx="777240" cy="777240"/>
          </a:xfrm>
          <a:prstGeom prst="ellipse">
            <a:avLst/>
          </a:prstGeom>
          <a:solidFill>
            <a:srgbClr val="0B1F3A"/>
          </a:solidFill>
          <a:ln w="12700">
            <a:solidFill>
              <a:srgbClr val="0B1F3A"/>
            </a:solidFill>
            <a:prstDash val="solid"/>
          </a:ln>
        </p:spPr>
      </p:sp>
      <p:sp>
        <p:nvSpPr>
          <p:cNvPr id="26" name="Text 24"/>
          <p:cNvSpPr/>
          <p:nvPr/>
        </p:nvSpPr>
        <p:spPr>
          <a:xfrm>
            <a:off x="6309360" y="4114800"/>
            <a:ext cx="777240" cy="777240"/>
          </a:xfrm>
          <a:prstGeom prst="rect">
            <a:avLst/>
          </a:prstGeom>
          <a:noFill/>
          <a:ln/>
        </p:spPr>
        <p:txBody>
          <a:bodyPr wrap="square" lIns="0" tIns="0" rIns="0" bIns="0"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06</a:t>
            </a:r>
            <a:endParaRPr lang="en-US" sz="1600" dirty="0"/>
          </a:p>
        </p:txBody>
      </p:sp>
      <p:sp>
        <p:nvSpPr>
          <p:cNvPr id="27" name="Text 25"/>
          <p:cNvSpPr/>
          <p:nvPr/>
        </p:nvSpPr>
        <p:spPr>
          <a:xfrm>
            <a:off x="7269480" y="4096512"/>
            <a:ext cx="4754880" cy="36576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End-to-End Example</a:t>
            </a:r>
            <a:endParaRPr lang="en-US" sz="1700" dirty="0"/>
          </a:p>
        </p:txBody>
      </p:sp>
      <p:sp>
        <p:nvSpPr>
          <p:cNvPr id="28" name="Text 26"/>
          <p:cNvSpPr/>
          <p:nvPr/>
        </p:nvSpPr>
        <p:spPr>
          <a:xfrm>
            <a:off x="7269480" y="4462272"/>
            <a:ext cx="4754880" cy="365760"/>
          </a:xfrm>
          <a:prstGeom prst="rect">
            <a:avLst/>
          </a:prstGeom>
          <a:noFill/>
          <a:ln/>
        </p:spPr>
        <p:txBody>
          <a:bodyPr wrap="square" lIns="0" tIns="0" rIns="0" bIns="0" rtlCol="0" anchor="ctr"/>
          <a:lstStyle/>
          <a:p>
            <a:pPr indent="0" marL="0">
              <a:buNone/>
            </a:pPr>
            <a:r>
              <a:rPr lang="en-US" sz="1200" dirty="0">
                <a:solidFill>
                  <a:srgbClr val="6B7B8C"/>
                </a:solidFill>
                <a:latin typeface="Calibri" pitchFamily="34" charset="0"/>
                <a:ea typeface="Calibri" pitchFamily="34" charset="-122"/>
                <a:cs typeface="Calibri" pitchFamily="34" charset="-120"/>
              </a:rPr>
              <a:t>PO-12345 walkthrough + edge cases</a:t>
            </a:r>
            <a:endParaRPr lang="en-US" sz="1200" dirty="0"/>
          </a:p>
        </p:txBody>
      </p:sp>
      <p:sp>
        <p:nvSpPr>
          <p:cNvPr id="29" name="Shape 27"/>
          <p:cNvSpPr/>
          <p:nvPr/>
        </p:nvSpPr>
        <p:spPr>
          <a:xfrm>
            <a:off x="457200" y="5852160"/>
            <a:ext cx="11247120" cy="502920"/>
          </a:xfrm>
          <a:prstGeom prst="roundRect">
            <a:avLst>
              <a:gd name="adj" fmla="val 10909"/>
            </a:avLst>
          </a:prstGeom>
          <a:solidFill>
            <a:srgbClr val="FCEBCF"/>
          </a:solidFill>
          <a:ln w="12700">
            <a:solidFill>
              <a:srgbClr val="F5A623"/>
            </a:solidFill>
            <a:prstDash val="solid"/>
          </a:ln>
        </p:spPr>
      </p:sp>
      <p:sp>
        <p:nvSpPr>
          <p:cNvPr id="30" name="Text 28"/>
          <p:cNvSpPr/>
          <p:nvPr/>
        </p:nvSpPr>
        <p:spPr>
          <a:xfrm>
            <a:off x="640080" y="5852160"/>
            <a:ext cx="10972800" cy="502920"/>
          </a:xfrm>
          <a:prstGeom prst="rect">
            <a:avLst/>
          </a:prstGeom>
          <a:noFill/>
          <a:ln/>
        </p:spPr>
        <p:txBody>
          <a:bodyPr wrap="square" lIns="0" tIns="0" rIns="0" bIns="0" rtlCol="0" anchor="ctr"/>
          <a:lstStyle/>
          <a:p>
            <a:pPr indent="0" marL="0">
              <a:buNone/>
            </a:pPr>
            <a:r>
              <a:rPr lang="en-US" sz="1100" i="1" dirty="0">
                <a:solidFill>
                  <a:srgbClr val="0B1F3A"/>
                </a:solidFill>
                <a:latin typeface="Calibri" pitchFamily="34" charset="0"/>
                <a:ea typeface="Calibri" pitchFamily="34" charset="-122"/>
                <a:cs typeface="Calibri" pitchFamily="34" charset="-120"/>
              </a:rPr>
              <a:t>Deep-dive slides (marked ★) are available as backup material for detailed technical discussion.</a:t>
            </a:r>
            <a:endParaRPr lang="en-US" sz="1100" dirty="0"/>
          </a:p>
        </p:txBody>
      </p:sp>
      <p:sp>
        <p:nvSpPr>
          <p:cNvPr id="31" name="Text 29"/>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32" name="Text 30"/>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01  HIGH-LEVEL SOLUTION DESIGN</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What does the Procurement Assistant do?</a:t>
            </a:r>
            <a:endParaRPr lang="en-US" sz="3200" dirty="0"/>
          </a:p>
        </p:txBody>
      </p:sp>
      <p:sp>
        <p:nvSpPr>
          <p:cNvPr id="5" name="Text 3"/>
          <p:cNvSpPr/>
          <p:nvPr/>
        </p:nvSpPr>
        <p:spPr>
          <a:xfrm>
            <a:off x="457200" y="1554480"/>
            <a:ext cx="11247120" cy="822960"/>
          </a:xfrm>
          <a:prstGeom prst="rect">
            <a:avLst/>
          </a:prstGeom>
          <a:noFill/>
          <a:ln/>
        </p:spPr>
        <p:txBody>
          <a:bodyPr wrap="square" lIns="0" tIns="0" rIns="0" bIns="0" rtlCol="0" anchor="ctr"/>
          <a:lstStyle/>
          <a:p>
            <a:pPr indent="0" marL="0">
              <a:buNone/>
            </a:pPr>
            <a:r>
              <a:rPr lang="en-US" sz="1400" dirty="0">
                <a:solidFill>
                  <a:srgbClr val="6B7B8C"/>
                </a:solidFill>
                <a:latin typeface="Calibri" pitchFamily="34" charset="0"/>
                <a:ea typeface="Calibri" pitchFamily="34" charset="-122"/>
                <a:cs typeface="Calibri" pitchFamily="34" charset="-120"/>
              </a:rPr>
              <a:t>A conversational AI agent embedded in Microsoft Teams, purpose-built for the procurement domain. Employees ask questions in natural language; the agent retrieves data from enterprise systems and responds — with the user's own permissions applied.</a:t>
            </a:r>
            <a:endParaRPr lang="en-US" sz="1400" dirty="0"/>
          </a:p>
        </p:txBody>
      </p:sp>
      <p:sp>
        <p:nvSpPr>
          <p:cNvPr id="6" name="Shape 4"/>
          <p:cNvSpPr/>
          <p:nvPr/>
        </p:nvSpPr>
        <p:spPr>
          <a:xfrm>
            <a:off x="457200" y="2743200"/>
            <a:ext cx="2651760" cy="2743200"/>
          </a:xfrm>
          <a:prstGeom prst="roundRect">
            <a:avLst>
              <a:gd name="adj" fmla="val 3448"/>
            </a:avLst>
          </a:prstGeom>
          <a:solidFill>
            <a:srgbClr val="F5F7FA"/>
          </a:solidFill>
          <a:ln w="12700">
            <a:solidFill>
              <a:srgbClr val="CADCFC"/>
            </a:solidFill>
            <a:prstDash val="solid"/>
          </a:ln>
          <a:effectLst>
            <a:outerShdw sx="100000" sy="100000" kx="0" ky="0" algn="bl" rotWithShape="0" blurRad="101600" dist="25400" dir="2700000">
              <a:srgbClr val="999999">
                <a:alpha val="15000"/>
              </a:srgbClr>
            </a:outerShdw>
          </a:effectLst>
        </p:spPr>
      </p:sp>
      <p:sp>
        <p:nvSpPr>
          <p:cNvPr id="7" name="Shape 5"/>
          <p:cNvSpPr/>
          <p:nvPr/>
        </p:nvSpPr>
        <p:spPr>
          <a:xfrm>
            <a:off x="731520" y="3017520"/>
            <a:ext cx="731520" cy="731520"/>
          </a:xfrm>
          <a:prstGeom prst="ellipse">
            <a:avLst/>
          </a:prstGeom>
          <a:solidFill>
            <a:srgbClr val="FCEBCF"/>
          </a:solidFill>
          <a:ln w="12700">
            <a:solidFill>
              <a:srgbClr val="F5A623"/>
            </a:solidFill>
            <a:prstDash val="solid"/>
          </a:ln>
        </p:spPr>
      </p:sp>
      <p:sp>
        <p:nvSpPr>
          <p:cNvPr id="8" name="Text 6"/>
          <p:cNvSpPr/>
          <p:nvPr/>
        </p:nvSpPr>
        <p:spPr>
          <a:xfrm>
            <a:off x="731520" y="3017520"/>
            <a:ext cx="731520" cy="7315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9" name="Text 7"/>
          <p:cNvSpPr/>
          <p:nvPr/>
        </p:nvSpPr>
        <p:spPr>
          <a:xfrm>
            <a:off x="640080" y="3886200"/>
            <a:ext cx="2286000" cy="45720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Check PO Status</a:t>
            </a:r>
            <a:endParaRPr lang="en-US" sz="1600" dirty="0"/>
          </a:p>
        </p:txBody>
      </p:sp>
      <p:sp>
        <p:nvSpPr>
          <p:cNvPr id="10" name="Text 8"/>
          <p:cNvSpPr/>
          <p:nvPr/>
        </p:nvSpPr>
        <p:spPr>
          <a:xfrm>
            <a:off x="640080" y="4434840"/>
            <a:ext cx="2286000" cy="914400"/>
          </a:xfrm>
          <a:prstGeom prst="rect">
            <a:avLst/>
          </a:prstGeom>
          <a:noFill/>
          <a:ln/>
        </p:spPr>
        <p:txBody>
          <a:bodyPr wrap="square" lIns="0" tIns="0" rIns="0" bIns="0" rtlCol="0" anchor="ctr"/>
          <a:lstStyle/>
          <a:p>
            <a:pPr indent="0" marL="0">
              <a:buNone/>
            </a:pPr>
            <a:r>
              <a:rPr lang="en-US" sz="1100" dirty="0">
                <a:solidFill>
                  <a:srgbClr val="6B7B8C"/>
                </a:solidFill>
                <a:latin typeface="Calibri" pitchFamily="34" charset="0"/>
                <a:ea typeface="Calibri" pitchFamily="34" charset="-122"/>
                <a:cs typeface="Calibri" pitchFamily="34" charset="-120"/>
              </a:rPr>
              <a:t>Real-time status of purchase orders from ERP (SAP / Oracle / D365)</a:t>
            </a:r>
            <a:endParaRPr lang="en-US" sz="1100" dirty="0"/>
          </a:p>
        </p:txBody>
      </p:sp>
      <p:sp>
        <p:nvSpPr>
          <p:cNvPr id="11" name="Shape 9"/>
          <p:cNvSpPr/>
          <p:nvPr/>
        </p:nvSpPr>
        <p:spPr>
          <a:xfrm>
            <a:off x="3383280" y="2743200"/>
            <a:ext cx="2651760" cy="2743200"/>
          </a:xfrm>
          <a:prstGeom prst="roundRect">
            <a:avLst>
              <a:gd name="adj" fmla="val 3448"/>
            </a:avLst>
          </a:prstGeom>
          <a:solidFill>
            <a:srgbClr val="F5F7FA"/>
          </a:solidFill>
          <a:ln w="12700">
            <a:solidFill>
              <a:srgbClr val="CADCFC"/>
            </a:solidFill>
            <a:prstDash val="solid"/>
          </a:ln>
          <a:effectLst>
            <a:outerShdw sx="100000" sy="100000" kx="0" ky="0" algn="bl" rotWithShape="0" blurRad="101600" dist="25400" dir="2700000">
              <a:srgbClr val="999999">
                <a:alpha val="15000"/>
              </a:srgbClr>
            </a:outerShdw>
          </a:effectLst>
        </p:spPr>
      </p:sp>
      <p:sp>
        <p:nvSpPr>
          <p:cNvPr id="12" name="Shape 10"/>
          <p:cNvSpPr/>
          <p:nvPr/>
        </p:nvSpPr>
        <p:spPr>
          <a:xfrm>
            <a:off x="3657600" y="3017520"/>
            <a:ext cx="731520" cy="731520"/>
          </a:xfrm>
          <a:prstGeom prst="ellipse">
            <a:avLst/>
          </a:prstGeom>
          <a:solidFill>
            <a:srgbClr val="FCEBCF"/>
          </a:solidFill>
          <a:ln w="12700">
            <a:solidFill>
              <a:srgbClr val="F5A623"/>
            </a:solidFill>
            <a:prstDash val="solid"/>
          </a:ln>
        </p:spPr>
      </p:sp>
      <p:sp>
        <p:nvSpPr>
          <p:cNvPr id="13" name="Text 11"/>
          <p:cNvSpPr/>
          <p:nvPr/>
        </p:nvSpPr>
        <p:spPr>
          <a:xfrm>
            <a:off x="3657600" y="3017520"/>
            <a:ext cx="731520" cy="7315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3566160" y="3886200"/>
            <a:ext cx="2286000" cy="45720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Vendor Information</a:t>
            </a:r>
            <a:endParaRPr lang="en-US" sz="1600" dirty="0"/>
          </a:p>
        </p:txBody>
      </p:sp>
      <p:sp>
        <p:nvSpPr>
          <p:cNvPr id="15" name="Text 13"/>
          <p:cNvSpPr/>
          <p:nvPr/>
        </p:nvSpPr>
        <p:spPr>
          <a:xfrm>
            <a:off x="3566160" y="4434840"/>
            <a:ext cx="2286000" cy="914400"/>
          </a:xfrm>
          <a:prstGeom prst="rect">
            <a:avLst/>
          </a:prstGeom>
          <a:noFill/>
          <a:ln/>
        </p:spPr>
        <p:txBody>
          <a:bodyPr wrap="square" lIns="0" tIns="0" rIns="0" bIns="0" rtlCol="0" anchor="ctr"/>
          <a:lstStyle/>
          <a:p>
            <a:pPr indent="0" marL="0">
              <a:buNone/>
            </a:pPr>
            <a:r>
              <a:rPr lang="en-US" sz="1100" dirty="0">
                <a:solidFill>
                  <a:srgbClr val="6B7B8C"/>
                </a:solidFill>
                <a:latin typeface="Calibri" pitchFamily="34" charset="0"/>
                <a:ea typeface="Calibri" pitchFamily="34" charset="-122"/>
                <a:cs typeface="Calibri" pitchFamily="34" charset="-120"/>
              </a:rPr>
              <a:t>Vendor master data, contracts, contact details, and past performance</a:t>
            </a:r>
            <a:endParaRPr lang="en-US" sz="1100" dirty="0"/>
          </a:p>
        </p:txBody>
      </p:sp>
      <p:sp>
        <p:nvSpPr>
          <p:cNvPr id="16" name="Shape 14"/>
          <p:cNvSpPr/>
          <p:nvPr/>
        </p:nvSpPr>
        <p:spPr>
          <a:xfrm>
            <a:off x="6309360" y="2743200"/>
            <a:ext cx="2651760" cy="2743200"/>
          </a:xfrm>
          <a:prstGeom prst="roundRect">
            <a:avLst>
              <a:gd name="adj" fmla="val 3448"/>
            </a:avLst>
          </a:prstGeom>
          <a:solidFill>
            <a:srgbClr val="F5F7FA"/>
          </a:solidFill>
          <a:ln w="12700">
            <a:solidFill>
              <a:srgbClr val="CADCFC"/>
            </a:solidFill>
            <a:prstDash val="solid"/>
          </a:ln>
          <a:effectLst>
            <a:outerShdw sx="100000" sy="100000" kx="0" ky="0" algn="bl" rotWithShape="0" blurRad="101600" dist="25400" dir="2700000">
              <a:srgbClr val="999999">
                <a:alpha val="15000"/>
              </a:srgbClr>
            </a:outerShdw>
          </a:effectLst>
        </p:spPr>
      </p:sp>
      <p:sp>
        <p:nvSpPr>
          <p:cNvPr id="17" name="Shape 15"/>
          <p:cNvSpPr/>
          <p:nvPr/>
        </p:nvSpPr>
        <p:spPr>
          <a:xfrm>
            <a:off x="6583680" y="3017520"/>
            <a:ext cx="731520" cy="731520"/>
          </a:xfrm>
          <a:prstGeom prst="ellipse">
            <a:avLst/>
          </a:prstGeom>
          <a:solidFill>
            <a:srgbClr val="FCEBCF"/>
          </a:solidFill>
          <a:ln w="12700">
            <a:solidFill>
              <a:srgbClr val="F5A623"/>
            </a:solidFill>
            <a:prstDash val="solid"/>
          </a:ln>
        </p:spPr>
      </p:sp>
      <p:sp>
        <p:nvSpPr>
          <p:cNvPr id="18" name="Text 16"/>
          <p:cNvSpPr/>
          <p:nvPr/>
        </p:nvSpPr>
        <p:spPr>
          <a:xfrm>
            <a:off x="6583680" y="3017520"/>
            <a:ext cx="731520" cy="7315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9" name="Text 17"/>
          <p:cNvSpPr/>
          <p:nvPr/>
        </p:nvSpPr>
        <p:spPr>
          <a:xfrm>
            <a:off x="6492240" y="3886200"/>
            <a:ext cx="2286000" cy="45720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Procurement Policies</a:t>
            </a:r>
            <a:endParaRPr lang="en-US" sz="1600" dirty="0"/>
          </a:p>
        </p:txBody>
      </p:sp>
      <p:sp>
        <p:nvSpPr>
          <p:cNvPr id="20" name="Text 18"/>
          <p:cNvSpPr/>
          <p:nvPr/>
        </p:nvSpPr>
        <p:spPr>
          <a:xfrm>
            <a:off x="6492240" y="4434840"/>
            <a:ext cx="2286000" cy="914400"/>
          </a:xfrm>
          <a:prstGeom prst="rect">
            <a:avLst/>
          </a:prstGeom>
          <a:noFill/>
          <a:ln/>
        </p:spPr>
        <p:txBody>
          <a:bodyPr wrap="square" lIns="0" tIns="0" rIns="0" bIns="0" rtlCol="0" anchor="ctr"/>
          <a:lstStyle/>
          <a:p>
            <a:pPr indent="0" marL="0">
              <a:buNone/>
            </a:pPr>
            <a:r>
              <a:rPr lang="en-US" sz="1100" dirty="0">
                <a:solidFill>
                  <a:srgbClr val="6B7B8C"/>
                </a:solidFill>
                <a:latin typeface="Calibri" pitchFamily="34" charset="0"/>
                <a:ea typeface="Calibri" pitchFamily="34" charset="-122"/>
                <a:cs typeface="Calibri" pitchFamily="34" charset="-120"/>
              </a:rPr>
              <a:t>Policy lookup from SharePoint using semantic search over policy docs</a:t>
            </a:r>
            <a:endParaRPr lang="en-US" sz="1100" dirty="0"/>
          </a:p>
        </p:txBody>
      </p:sp>
      <p:sp>
        <p:nvSpPr>
          <p:cNvPr id="21" name="Shape 19"/>
          <p:cNvSpPr/>
          <p:nvPr/>
        </p:nvSpPr>
        <p:spPr>
          <a:xfrm>
            <a:off x="9235440" y="2743200"/>
            <a:ext cx="2651760" cy="2743200"/>
          </a:xfrm>
          <a:prstGeom prst="roundRect">
            <a:avLst>
              <a:gd name="adj" fmla="val 3448"/>
            </a:avLst>
          </a:prstGeom>
          <a:solidFill>
            <a:srgbClr val="F5F7FA"/>
          </a:solidFill>
          <a:ln w="12700">
            <a:solidFill>
              <a:srgbClr val="CADCFC"/>
            </a:solidFill>
            <a:prstDash val="solid"/>
          </a:ln>
          <a:effectLst>
            <a:outerShdw sx="100000" sy="100000" kx="0" ky="0" algn="bl" rotWithShape="0" blurRad="101600" dist="25400" dir="2700000">
              <a:srgbClr val="999999">
                <a:alpha val="15000"/>
              </a:srgbClr>
            </a:outerShdw>
          </a:effectLst>
        </p:spPr>
      </p:sp>
      <p:sp>
        <p:nvSpPr>
          <p:cNvPr id="22" name="Shape 20"/>
          <p:cNvSpPr/>
          <p:nvPr/>
        </p:nvSpPr>
        <p:spPr>
          <a:xfrm>
            <a:off x="9509760" y="3017520"/>
            <a:ext cx="731520" cy="731520"/>
          </a:xfrm>
          <a:prstGeom prst="ellipse">
            <a:avLst/>
          </a:prstGeom>
          <a:solidFill>
            <a:srgbClr val="FCEBCF"/>
          </a:solidFill>
          <a:ln w="12700">
            <a:solidFill>
              <a:srgbClr val="F5A623"/>
            </a:solidFill>
            <a:prstDash val="solid"/>
          </a:ln>
        </p:spPr>
      </p:sp>
      <p:sp>
        <p:nvSpPr>
          <p:cNvPr id="23" name="Text 21"/>
          <p:cNvSpPr/>
          <p:nvPr/>
        </p:nvSpPr>
        <p:spPr>
          <a:xfrm>
            <a:off x="9509760" y="3017520"/>
            <a:ext cx="731520" cy="7315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4" name="Text 22"/>
          <p:cNvSpPr/>
          <p:nvPr/>
        </p:nvSpPr>
        <p:spPr>
          <a:xfrm>
            <a:off x="9418320" y="3886200"/>
            <a:ext cx="2286000" cy="45720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Employee Q&amp;A</a:t>
            </a:r>
            <a:endParaRPr lang="en-US" sz="1600" dirty="0"/>
          </a:p>
        </p:txBody>
      </p:sp>
      <p:sp>
        <p:nvSpPr>
          <p:cNvPr id="25" name="Text 23"/>
          <p:cNvSpPr/>
          <p:nvPr/>
        </p:nvSpPr>
        <p:spPr>
          <a:xfrm>
            <a:off x="9418320" y="4434840"/>
            <a:ext cx="2286000" cy="914400"/>
          </a:xfrm>
          <a:prstGeom prst="rect">
            <a:avLst/>
          </a:prstGeom>
          <a:noFill/>
          <a:ln/>
        </p:spPr>
        <p:txBody>
          <a:bodyPr wrap="square" lIns="0" tIns="0" rIns="0" bIns="0" rtlCol="0" anchor="ctr"/>
          <a:lstStyle/>
          <a:p>
            <a:pPr indent="0" marL="0">
              <a:buNone/>
            </a:pPr>
            <a:r>
              <a:rPr lang="en-US" sz="1100" dirty="0">
                <a:solidFill>
                  <a:srgbClr val="6B7B8C"/>
                </a:solidFill>
                <a:latin typeface="Calibri" pitchFamily="34" charset="0"/>
                <a:ea typeface="Calibri" pitchFamily="34" charset="-122"/>
                <a:cs typeface="Calibri" pitchFamily="34" charset="-120"/>
              </a:rPr>
              <a:t>Answers policy and process questions — no more emailing procurement</a:t>
            </a:r>
            <a:endParaRPr lang="en-US" sz="1100" dirty="0"/>
          </a:p>
        </p:txBody>
      </p:sp>
      <p:sp>
        <p:nvSpPr>
          <p:cNvPr id="26" name="Shape 24"/>
          <p:cNvSpPr/>
          <p:nvPr/>
        </p:nvSpPr>
        <p:spPr>
          <a:xfrm>
            <a:off x="457200" y="5760720"/>
            <a:ext cx="11247120" cy="594360"/>
          </a:xfrm>
          <a:prstGeom prst="roundRect">
            <a:avLst>
              <a:gd name="adj" fmla="val 12308"/>
            </a:avLst>
          </a:prstGeom>
          <a:solidFill>
            <a:srgbClr val="0B1F3A"/>
          </a:solidFill>
          <a:ln w="12700">
            <a:solidFill>
              <a:srgbClr val="0B1F3A"/>
            </a:solidFill>
            <a:prstDash val="solid"/>
          </a:ln>
        </p:spPr>
      </p:sp>
      <p:sp>
        <p:nvSpPr>
          <p:cNvPr id="27" name="Text 25"/>
          <p:cNvSpPr/>
          <p:nvPr/>
        </p:nvSpPr>
        <p:spPr>
          <a:xfrm>
            <a:off x="640080" y="5760720"/>
            <a:ext cx="10972800" cy="59436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Key insight — this agent doesn't just chat. It reads from four different enterprise systems, each with its own access controls.</a:t>
            </a:r>
            <a:endParaRPr lang="en-US" sz="1300" dirty="0"/>
          </a:p>
        </p:txBody>
      </p:sp>
      <p:sp>
        <p:nvSpPr>
          <p:cNvPr id="28" name="Text 26"/>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29" name="Text 27"/>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01  HIGH-LEVEL SOLUTION DESIGN</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User journey — what the employee actually sees</a:t>
            </a:r>
            <a:endParaRPr lang="en-US" sz="3200" dirty="0"/>
          </a:p>
        </p:txBody>
      </p:sp>
      <p:sp>
        <p:nvSpPr>
          <p:cNvPr id="5" name="Shape 3"/>
          <p:cNvSpPr/>
          <p:nvPr/>
        </p:nvSpPr>
        <p:spPr>
          <a:xfrm>
            <a:off x="457200" y="1600200"/>
            <a:ext cx="4114800" cy="4663440"/>
          </a:xfrm>
          <a:prstGeom prst="roundRect">
            <a:avLst>
              <a:gd name="adj" fmla="val 1778"/>
            </a:avLst>
          </a:prstGeom>
          <a:solidFill>
            <a:srgbClr val="FFFFFF"/>
          </a:solidFill>
          <a:ln w="12700">
            <a:solidFill>
              <a:srgbClr val="6B7B8C"/>
            </a:solidFill>
            <a:prstDash val="solid"/>
          </a:ln>
          <a:effectLst>
            <a:outerShdw sx="100000" sy="100000" kx="0" ky="0" algn="bl" rotWithShape="0" blurRad="101600" dist="38100" dir="2700000">
              <a:srgbClr val="999999">
                <a:alpha val="20000"/>
              </a:srgbClr>
            </a:outerShdw>
          </a:effectLst>
        </p:spPr>
      </p:sp>
      <p:sp>
        <p:nvSpPr>
          <p:cNvPr id="6" name="Shape 4"/>
          <p:cNvSpPr/>
          <p:nvPr/>
        </p:nvSpPr>
        <p:spPr>
          <a:xfrm>
            <a:off x="457200" y="1600200"/>
            <a:ext cx="4114800" cy="411480"/>
          </a:xfrm>
          <a:prstGeom prst="rect">
            <a:avLst/>
          </a:prstGeom>
          <a:solidFill>
            <a:srgbClr val="F3F2F1"/>
          </a:solidFill>
          <a:ln w="12700">
            <a:solidFill>
              <a:srgbClr val="F3F2F1"/>
            </a:solidFill>
            <a:prstDash val="solid"/>
          </a:ln>
        </p:spPr>
      </p:sp>
      <p:sp>
        <p:nvSpPr>
          <p:cNvPr id="7" name="Shape 5"/>
          <p:cNvSpPr/>
          <p:nvPr/>
        </p:nvSpPr>
        <p:spPr>
          <a:xfrm>
            <a:off x="594360" y="1719072"/>
            <a:ext cx="164592" cy="164592"/>
          </a:xfrm>
          <a:prstGeom prst="ellipse">
            <a:avLst/>
          </a:prstGeom>
          <a:solidFill>
            <a:srgbClr val="EE4A4A"/>
          </a:solidFill>
          <a:ln w="12700">
            <a:solidFill>
              <a:srgbClr val="EE4A4A"/>
            </a:solidFill>
            <a:prstDash val="solid"/>
          </a:ln>
        </p:spPr>
      </p:sp>
      <p:sp>
        <p:nvSpPr>
          <p:cNvPr id="8" name="Shape 6"/>
          <p:cNvSpPr/>
          <p:nvPr/>
        </p:nvSpPr>
        <p:spPr>
          <a:xfrm>
            <a:off x="795528" y="1719072"/>
            <a:ext cx="164592" cy="164592"/>
          </a:xfrm>
          <a:prstGeom prst="ellipse">
            <a:avLst/>
          </a:prstGeom>
          <a:solidFill>
            <a:srgbClr val="F5A623"/>
          </a:solidFill>
          <a:ln w="12700">
            <a:solidFill>
              <a:srgbClr val="F5A623"/>
            </a:solidFill>
            <a:prstDash val="solid"/>
          </a:ln>
        </p:spPr>
      </p:sp>
      <p:sp>
        <p:nvSpPr>
          <p:cNvPr id="9" name="Shape 7"/>
          <p:cNvSpPr/>
          <p:nvPr/>
        </p:nvSpPr>
        <p:spPr>
          <a:xfrm>
            <a:off x="996696" y="1719072"/>
            <a:ext cx="164592" cy="164592"/>
          </a:xfrm>
          <a:prstGeom prst="ellipse">
            <a:avLst/>
          </a:prstGeom>
          <a:solidFill>
            <a:srgbClr val="6EE7B7"/>
          </a:solidFill>
          <a:ln w="12700">
            <a:solidFill>
              <a:srgbClr val="6EE7B7"/>
            </a:solidFill>
            <a:prstDash val="solid"/>
          </a:ln>
        </p:spPr>
      </p:sp>
      <p:sp>
        <p:nvSpPr>
          <p:cNvPr id="10" name="Text 8"/>
          <p:cNvSpPr/>
          <p:nvPr/>
        </p:nvSpPr>
        <p:spPr>
          <a:xfrm>
            <a:off x="1371600" y="1645920"/>
            <a:ext cx="3017520" cy="32004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Microsoft Teams  —  Procurement Assistant</a:t>
            </a:r>
            <a:endParaRPr lang="en-US" sz="1000" dirty="0"/>
          </a:p>
        </p:txBody>
      </p:sp>
      <p:sp>
        <p:nvSpPr>
          <p:cNvPr id="11" name="Shape 9"/>
          <p:cNvSpPr/>
          <p:nvPr/>
        </p:nvSpPr>
        <p:spPr>
          <a:xfrm>
            <a:off x="640080" y="2148840"/>
            <a:ext cx="457200" cy="457200"/>
          </a:xfrm>
          <a:prstGeom prst="ellipse">
            <a:avLst/>
          </a:prstGeom>
          <a:solidFill>
            <a:srgbClr val="F5A623"/>
          </a:solidFill>
          <a:ln w="12700">
            <a:solidFill>
              <a:srgbClr val="F5A623"/>
            </a:solidFill>
            <a:prstDash val="solid"/>
          </a:ln>
        </p:spPr>
      </p:sp>
      <p:sp>
        <p:nvSpPr>
          <p:cNvPr id="12" name="Text 10"/>
          <p:cNvSpPr/>
          <p:nvPr/>
        </p:nvSpPr>
        <p:spPr>
          <a:xfrm>
            <a:off x="640080" y="214884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3" name="Text 11"/>
          <p:cNvSpPr/>
          <p:nvPr/>
        </p:nvSpPr>
        <p:spPr>
          <a:xfrm>
            <a:off x="1188720" y="2148840"/>
            <a:ext cx="3200400" cy="27432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Procurement Assistant</a:t>
            </a:r>
            <a:endParaRPr lang="en-US" sz="1200" dirty="0"/>
          </a:p>
        </p:txBody>
      </p:sp>
      <p:sp>
        <p:nvSpPr>
          <p:cNvPr id="14" name="Text 12"/>
          <p:cNvSpPr/>
          <p:nvPr/>
        </p:nvSpPr>
        <p:spPr>
          <a:xfrm>
            <a:off x="1188720" y="2377440"/>
            <a:ext cx="3200400" cy="228600"/>
          </a:xfrm>
          <a:prstGeom prst="rect">
            <a:avLst/>
          </a:prstGeom>
          <a:noFill/>
          <a:ln/>
        </p:spPr>
        <p:txBody>
          <a:bodyPr wrap="square" lIns="0" tIns="0" rIns="0" bIns="0" rtlCol="0" anchor="ctr"/>
          <a:lstStyle/>
          <a:p>
            <a:pPr indent="0" marL="0">
              <a:buNone/>
            </a:pPr>
            <a:r>
              <a:rPr lang="en-US" sz="900" dirty="0">
                <a:solidFill>
                  <a:srgbClr val="2C7A5F"/>
                </a:solidFill>
                <a:latin typeface="Calibri" pitchFamily="34" charset="0"/>
                <a:ea typeface="Calibri" pitchFamily="34" charset="-122"/>
                <a:cs typeface="Calibri" pitchFamily="34" charset="-120"/>
              </a:rPr>
              <a:t>● online  •  responds in seconds</a:t>
            </a:r>
            <a:endParaRPr lang="en-US" sz="900" dirty="0"/>
          </a:p>
        </p:txBody>
      </p:sp>
      <p:sp>
        <p:nvSpPr>
          <p:cNvPr id="15" name="Shape 13"/>
          <p:cNvSpPr/>
          <p:nvPr/>
        </p:nvSpPr>
        <p:spPr>
          <a:xfrm>
            <a:off x="1371600" y="2880360"/>
            <a:ext cx="3017520" cy="457200"/>
          </a:xfrm>
          <a:prstGeom prst="roundRect">
            <a:avLst>
              <a:gd name="adj" fmla="val 30000"/>
            </a:avLst>
          </a:prstGeom>
          <a:solidFill>
            <a:srgbClr val="13315C"/>
          </a:solidFill>
          <a:ln w="12700">
            <a:solidFill>
              <a:srgbClr val="13315C"/>
            </a:solidFill>
            <a:prstDash val="solid"/>
          </a:ln>
        </p:spPr>
      </p:sp>
      <p:sp>
        <p:nvSpPr>
          <p:cNvPr id="16" name="Text 14"/>
          <p:cNvSpPr/>
          <p:nvPr/>
        </p:nvSpPr>
        <p:spPr>
          <a:xfrm>
            <a:off x="1463040" y="2880360"/>
            <a:ext cx="2834640" cy="4572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What is the status of PO-12345?</a:t>
            </a:r>
            <a:endParaRPr lang="en-US" sz="1050" dirty="0"/>
          </a:p>
        </p:txBody>
      </p:sp>
      <p:sp>
        <p:nvSpPr>
          <p:cNvPr id="17" name="Text 15"/>
          <p:cNvSpPr/>
          <p:nvPr/>
        </p:nvSpPr>
        <p:spPr>
          <a:xfrm>
            <a:off x="1371600" y="3383280"/>
            <a:ext cx="3017520" cy="228600"/>
          </a:xfrm>
          <a:prstGeom prst="rect">
            <a:avLst/>
          </a:prstGeom>
          <a:noFill/>
          <a:ln/>
        </p:spPr>
        <p:txBody>
          <a:bodyPr wrap="square" lIns="0" tIns="0" rIns="0" bIns="0" rtlCol="0" anchor="ctr"/>
          <a:lstStyle/>
          <a:p>
            <a:pPr algn="r" indent="0" marL="0">
              <a:buNone/>
            </a:pPr>
            <a:r>
              <a:rPr lang="en-US" sz="800" i="1" dirty="0">
                <a:solidFill>
                  <a:srgbClr val="6B7B8C"/>
                </a:solidFill>
                <a:latin typeface="Calibri" pitchFamily="34" charset="0"/>
                <a:ea typeface="Calibri" pitchFamily="34" charset="-122"/>
                <a:cs typeface="Calibri" pitchFamily="34" charset="-120"/>
              </a:rPr>
              <a:t>Anjali  •  10:24</a:t>
            </a:r>
            <a:endParaRPr lang="en-US" sz="800" dirty="0"/>
          </a:p>
        </p:txBody>
      </p:sp>
      <p:sp>
        <p:nvSpPr>
          <p:cNvPr id="18" name="Shape 16"/>
          <p:cNvSpPr/>
          <p:nvPr/>
        </p:nvSpPr>
        <p:spPr>
          <a:xfrm>
            <a:off x="640080" y="3749040"/>
            <a:ext cx="3291840" cy="365760"/>
          </a:xfrm>
          <a:prstGeom prst="roundRect">
            <a:avLst>
              <a:gd name="adj" fmla="val 25000"/>
            </a:avLst>
          </a:prstGeom>
          <a:solidFill>
            <a:srgbClr val="FCEBCF"/>
          </a:solidFill>
          <a:ln w="6350">
            <a:solidFill>
              <a:srgbClr val="F5A623"/>
            </a:solidFill>
            <a:prstDash val="solid"/>
          </a:ln>
        </p:spPr>
      </p:sp>
      <p:sp>
        <p:nvSpPr>
          <p:cNvPr id="19" name="Text 17"/>
          <p:cNvSpPr/>
          <p:nvPr/>
        </p:nvSpPr>
        <p:spPr>
          <a:xfrm>
            <a:off x="731520" y="3749040"/>
            <a:ext cx="3108960" cy="365760"/>
          </a:xfrm>
          <a:prstGeom prst="rect">
            <a:avLst/>
          </a:prstGeom>
          <a:noFill/>
          <a:ln/>
        </p:spPr>
        <p:txBody>
          <a:bodyPr wrap="square" lIns="0" tIns="0" rIns="0" bIns="0" rtlCol="0" anchor="ctr"/>
          <a:lstStyle/>
          <a:p>
            <a:pPr indent="0" marL="0">
              <a:buNone/>
            </a:pPr>
            <a:r>
              <a:rPr lang="en-US" sz="1000" i="1" dirty="0">
                <a:solidFill>
                  <a:srgbClr val="0B1F3A"/>
                </a:solidFill>
                <a:latin typeface="Calibri" pitchFamily="34" charset="0"/>
                <a:ea typeface="Calibri" pitchFamily="34" charset="-122"/>
                <a:cs typeface="Calibri" pitchFamily="34" charset="-120"/>
              </a:rPr>
              <a:t>🔐  Authenticating via Entra Agent ID…</a:t>
            </a:r>
            <a:endParaRPr lang="en-US" sz="1000" dirty="0"/>
          </a:p>
        </p:txBody>
      </p:sp>
      <p:sp>
        <p:nvSpPr>
          <p:cNvPr id="20" name="Shape 18"/>
          <p:cNvSpPr/>
          <p:nvPr/>
        </p:nvSpPr>
        <p:spPr>
          <a:xfrm>
            <a:off x="640080" y="4251960"/>
            <a:ext cx="3657600" cy="1554480"/>
          </a:xfrm>
          <a:prstGeom prst="roundRect">
            <a:avLst>
              <a:gd name="adj" fmla="val 8824"/>
            </a:avLst>
          </a:prstGeom>
          <a:solidFill>
            <a:srgbClr val="F5F7FA"/>
          </a:solidFill>
          <a:ln w="12700">
            <a:solidFill>
              <a:srgbClr val="CADCFC"/>
            </a:solidFill>
            <a:prstDash val="solid"/>
          </a:ln>
        </p:spPr>
      </p:sp>
      <p:sp>
        <p:nvSpPr>
          <p:cNvPr id="21" name="Text 19"/>
          <p:cNvSpPr/>
          <p:nvPr/>
        </p:nvSpPr>
        <p:spPr>
          <a:xfrm>
            <a:off x="777240" y="4343400"/>
            <a:ext cx="3383280" cy="274320"/>
          </a:xfrm>
          <a:prstGeom prst="rect">
            <a:avLst/>
          </a:prstGeom>
          <a:noFill/>
          <a:ln/>
        </p:spPr>
        <p:txBody>
          <a:bodyPr wrap="square" lIns="0" tIns="0" rIns="0" bIns="0" rtlCol="0" anchor="ctr"/>
          <a:lstStyle/>
          <a:p>
            <a:pPr indent="0" marL="0">
              <a:buNone/>
            </a:pPr>
            <a:r>
              <a:rPr lang="en-US" sz="1200" b="1" dirty="0">
                <a:solidFill>
                  <a:srgbClr val="2C7A5F"/>
                </a:solidFill>
                <a:latin typeface="Calibri" pitchFamily="34" charset="0"/>
                <a:ea typeface="Calibri" pitchFamily="34" charset="-122"/>
                <a:cs typeface="Calibri" pitchFamily="34" charset="-120"/>
              </a:rPr>
              <a:t>PO-12345 is APPROVED ✓</a:t>
            </a:r>
            <a:endParaRPr lang="en-US" sz="1200" dirty="0"/>
          </a:p>
        </p:txBody>
      </p:sp>
      <p:sp>
        <p:nvSpPr>
          <p:cNvPr id="22" name="Text 20"/>
          <p:cNvSpPr/>
          <p:nvPr/>
        </p:nvSpPr>
        <p:spPr>
          <a:xfrm>
            <a:off x="777240" y="4617720"/>
            <a:ext cx="3383280" cy="1051560"/>
          </a:xfrm>
          <a:prstGeom prst="rect">
            <a:avLst/>
          </a:prstGeom>
          <a:noFill/>
          <a:ln/>
        </p:spPr>
        <p:txBody>
          <a:bodyPr wrap="square" lIns="0" tIns="0" rIns="0" bIns="0" rtlCol="0" anchor="ctr"/>
          <a:lstStyle/>
          <a:p>
            <a:pPr indent="0" marL="0">
              <a:lnSpc>
                <a:spcPct val="130000"/>
              </a:lnSpc>
              <a:buNone/>
            </a:pPr>
            <a:r>
              <a:rPr lang="en-US" sz="1000" dirty="0">
                <a:solidFill>
                  <a:srgbClr val="0F172A"/>
                </a:solidFill>
                <a:latin typeface="Calibri" pitchFamily="34" charset="0"/>
                <a:ea typeface="Calibri" pitchFamily="34" charset="-122"/>
                <a:cs typeface="Calibri" pitchFamily="34" charset="-120"/>
              </a:rPr>
              <a:t>Vendor: Acme Supplies Ltd</a:t>
            </a:r>
            <a:endParaRPr lang="en-US" sz="1000" dirty="0"/>
          </a:p>
          <a:p>
            <a:pPr indent="0" marL="0">
              <a:lnSpc>
                <a:spcPct val="130000"/>
              </a:lnSpc>
              <a:buNone/>
            </a:pPr>
            <a:r>
              <a:rPr lang="en-US" sz="1000" dirty="0">
                <a:solidFill>
                  <a:srgbClr val="0F172A"/>
                </a:solidFill>
                <a:latin typeface="Calibri" pitchFamily="34" charset="0"/>
                <a:ea typeface="Calibri" pitchFamily="34" charset="-122"/>
                <a:cs typeface="Calibri" pitchFamily="34" charset="-120"/>
              </a:rPr>
              <a:t>Amount: $48,200</a:t>
            </a:r>
            <a:endParaRPr lang="en-US" sz="1000" dirty="0"/>
          </a:p>
          <a:p>
            <a:pPr indent="0" marL="0">
              <a:lnSpc>
                <a:spcPct val="130000"/>
              </a:lnSpc>
              <a:buNone/>
            </a:pPr>
            <a:r>
              <a:rPr lang="en-US" sz="1000" dirty="0">
                <a:solidFill>
                  <a:srgbClr val="0F172A"/>
                </a:solidFill>
                <a:latin typeface="Calibri" pitchFamily="34" charset="0"/>
                <a:ea typeface="Calibri" pitchFamily="34" charset="-122"/>
                <a:cs typeface="Calibri" pitchFamily="34" charset="-120"/>
              </a:rPr>
              <a:t>Delivery: Aug 3, 2026</a:t>
            </a:r>
            <a:endParaRPr lang="en-US" sz="1000" dirty="0"/>
          </a:p>
          <a:p>
            <a:pPr indent="0" marL="0">
              <a:lnSpc>
                <a:spcPct val="130000"/>
              </a:lnSpc>
              <a:buNone/>
            </a:pPr>
            <a:r>
              <a:rPr lang="en-US" sz="1000" dirty="0">
                <a:solidFill>
                  <a:srgbClr val="0F172A"/>
                </a:solidFill>
                <a:latin typeface="Calibri" pitchFamily="34" charset="0"/>
                <a:ea typeface="Calibri" pitchFamily="34" charset="-122"/>
                <a:cs typeface="Calibri" pitchFamily="34" charset="-120"/>
              </a:rPr>
              <a:t>Approver: R. Chen (Procurement)</a:t>
            </a:r>
            <a:endParaRPr lang="en-US" sz="1000" dirty="0"/>
          </a:p>
        </p:txBody>
      </p:sp>
      <p:sp>
        <p:nvSpPr>
          <p:cNvPr id="23" name="Text 21"/>
          <p:cNvSpPr/>
          <p:nvPr/>
        </p:nvSpPr>
        <p:spPr>
          <a:xfrm>
            <a:off x="777240" y="5623560"/>
            <a:ext cx="3383280" cy="182880"/>
          </a:xfrm>
          <a:prstGeom prst="rect">
            <a:avLst/>
          </a:prstGeom>
          <a:noFill/>
          <a:ln/>
        </p:spPr>
        <p:txBody>
          <a:bodyPr wrap="square" lIns="0" tIns="0" rIns="0" bIns="0" rtlCol="0" anchor="ctr"/>
          <a:lstStyle/>
          <a:p>
            <a:pPr indent="0" marL="0">
              <a:buNone/>
            </a:pPr>
            <a:r>
              <a:rPr lang="en-US" sz="800" i="1" dirty="0">
                <a:solidFill>
                  <a:srgbClr val="1C7293"/>
                </a:solidFill>
                <a:latin typeface="Calibri" pitchFamily="34" charset="0"/>
                <a:ea typeface="Calibri" pitchFamily="34" charset="-122"/>
                <a:cs typeface="Calibri" pitchFamily="34" charset="-120"/>
              </a:rPr>
              <a:t>↗ View full PO  •  cited from ERP #48291</a:t>
            </a:r>
            <a:endParaRPr lang="en-US" sz="800" dirty="0"/>
          </a:p>
        </p:txBody>
      </p:sp>
      <p:sp>
        <p:nvSpPr>
          <p:cNvPr id="24" name="Shape 22"/>
          <p:cNvSpPr/>
          <p:nvPr/>
        </p:nvSpPr>
        <p:spPr>
          <a:xfrm>
            <a:off x="640080" y="5943600"/>
            <a:ext cx="3657600" cy="274320"/>
          </a:xfrm>
          <a:prstGeom prst="roundRect">
            <a:avLst>
              <a:gd name="adj" fmla="val 20000"/>
            </a:avLst>
          </a:prstGeom>
          <a:solidFill>
            <a:srgbClr val="FFFFFF"/>
          </a:solidFill>
          <a:ln w="6350">
            <a:solidFill>
              <a:srgbClr val="6B7B8C"/>
            </a:solidFill>
            <a:prstDash val="solid"/>
          </a:ln>
        </p:spPr>
      </p:sp>
      <p:sp>
        <p:nvSpPr>
          <p:cNvPr id="25" name="Text 23"/>
          <p:cNvSpPr/>
          <p:nvPr/>
        </p:nvSpPr>
        <p:spPr>
          <a:xfrm>
            <a:off x="777240" y="5943600"/>
            <a:ext cx="3383280" cy="274320"/>
          </a:xfrm>
          <a:prstGeom prst="rect">
            <a:avLst/>
          </a:prstGeom>
          <a:noFill/>
          <a:ln/>
        </p:spPr>
        <p:txBody>
          <a:bodyPr wrap="square" lIns="0" tIns="0" rIns="0" bIns="0" rtlCol="0" anchor="ctr"/>
          <a:lstStyle/>
          <a:p>
            <a:pPr indent="0" marL="0">
              <a:buNone/>
            </a:pPr>
            <a:r>
              <a:rPr lang="en-US" sz="900" i="1" dirty="0">
                <a:solidFill>
                  <a:srgbClr val="6B7B8C"/>
                </a:solidFill>
                <a:latin typeface="Calibri" pitchFamily="34" charset="0"/>
                <a:ea typeface="Calibri" pitchFamily="34" charset="-122"/>
                <a:cs typeface="Calibri" pitchFamily="34" charset="-120"/>
              </a:rPr>
              <a:t>Type a message…</a:t>
            </a:r>
            <a:endParaRPr lang="en-US" sz="900" dirty="0"/>
          </a:p>
        </p:txBody>
      </p:sp>
      <p:sp>
        <p:nvSpPr>
          <p:cNvPr id="26" name="Text 24"/>
          <p:cNvSpPr/>
          <p:nvPr/>
        </p:nvSpPr>
        <p:spPr>
          <a:xfrm>
            <a:off x="4937760" y="1600200"/>
            <a:ext cx="6766560" cy="36576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Behind the scenes</a:t>
            </a:r>
            <a:endParaRPr lang="en-US" sz="1600" dirty="0"/>
          </a:p>
        </p:txBody>
      </p:sp>
      <p:sp>
        <p:nvSpPr>
          <p:cNvPr id="27" name="Shape 25"/>
          <p:cNvSpPr/>
          <p:nvPr/>
        </p:nvSpPr>
        <p:spPr>
          <a:xfrm>
            <a:off x="4937760" y="2194560"/>
            <a:ext cx="502920" cy="502920"/>
          </a:xfrm>
          <a:prstGeom prst="ellipse">
            <a:avLst/>
          </a:prstGeom>
          <a:solidFill>
            <a:srgbClr val="F5A623"/>
          </a:solidFill>
          <a:ln w="12700">
            <a:solidFill>
              <a:srgbClr val="F5A623"/>
            </a:solidFill>
            <a:prstDash val="solid"/>
          </a:ln>
        </p:spPr>
      </p:sp>
      <p:sp>
        <p:nvSpPr>
          <p:cNvPr id="28" name="Text 26"/>
          <p:cNvSpPr/>
          <p:nvPr/>
        </p:nvSpPr>
        <p:spPr>
          <a:xfrm>
            <a:off x="4937760" y="2194560"/>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1</a:t>
            </a:r>
            <a:endParaRPr lang="en-US" sz="1600" dirty="0"/>
          </a:p>
        </p:txBody>
      </p:sp>
      <p:sp>
        <p:nvSpPr>
          <p:cNvPr id="29" name="Shape 27"/>
          <p:cNvSpPr/>
          <p:nvPr/>
        </p:nvSpPr>
        <p:spPr>
          <a:xfrm>
            <a:off x="5577840" y="2103120"/>
            <a:ext cx="6126480" cy="658368"/>
          </a:xfrm>
          <a:prstGeom prst="roundRect">
            <a:avLst>
              <a:gd name="adj" fmla="val 8333"/>
            </a:avLst>
          </a:prstGeom>
          <a:solidFill>
            <a:srgbClr val="F5F7FA"/>
          </a:solidFill>
          <a:ln w="12700">
            <a:solidFill>
              <a:srgbClr val="CADCFC"/>
            </a:solidFill>
            <a:prstDash val="solid"/>
          </a:ln>
        </p:spPr>
      </p:sp>
      <p:sp>
        <p:nvSpPr>
          <p:cNvPr id="30" name="Shape 28"/>
          <p:cNvSpPr/>
          <p:nvPr/>
        </p:nvSpPr>
        <p:spPr>
          <a:xfrm>
            <a:off x="5715000" y="2194560"/>
            <a:ext cx="777240" cy="256032"/>
          </a:xfrm>
          <a:prstGeom prst="roundRect">
            <a:avLst>
              <a:gd name="adj" fmla="val 21429"/>
            </a:avLst>
          </a:prstGeom>
          <a:solidFill>
            <a:srgbClr val="0B1F3A"/>
          </a:solidFill>
          <a:ln w="12700">
            <a:solidFill>
              <a:srgbClr val="0B1F3A"/>
            </a:solidFill>
            <a:prstDash val="solid"/>
          </a:ln>
        </p:spPr>
      </p:sp>
      <p:sp>
        <p:nvSpPr>
          <p:cNvPr id="31" name="Text 29"/>
          <p:cNvSpPr/>
          <p:nvPr/>
        </p:nvSpPr>
        <p:spPr>
          <a:xfrm>
            <a:off x="5715000" y="2194560"/>
            <a:ext cx="777240" cy="256032"/>
          </a:xfrm>
          <a:prstGeom prst="rect">
            <a:avLst/>
          </a:prstGeom>
          <a:noFill/>
          <a:ln/>
        </p:spPr>
        <p:txBody>
          <a:bodyPr wrap="square" lIns="0" tIns="0" rIns="0" bIns="0" rtlCol="0" anchor="ctr"/>
          <a:lstStyle/>
          <a:p>
            <a:pPr algn="ctr" indent="0" marL="0">
              <a:buNone/>
            </a:pPr>
            <a:r>
              <a:rPr lang="en-US" sz="800" b="1" spc="200" kern="0" dirty="0">
                <a:solidFill>
                  <a:srgbClr val="F5A623"/>
                </a:solidFill>
                <a:latin typeface="Calibri" pitchFamily="34" charset="0"/>
                <a:ea typeface="Calibri" pitchFamily="34" charset="-122"/>
                <a:cs typeface="Calibri" pitchFamily="34" charset="-120"/>
              </a:rPr>
              <a:t>USER</a:t>
            </a:r>
            <a:endParaRPr lang="en-US" sz="800" dirty="0"/>
          </a:p>
        </p:txBody>
      </p:sp>
      <p:sp>
        <p:nvSpPr>
          <p:cNvPr id="32" name="Text 30"/>
          <p:cNvSpPr/>
          <p:nvPr/>
        </p:nvSpPr>
        <p:spPr>
          <a:xfrm>
            <a:off x="6629400" y="2148840"/>
            <a:ext cx="493776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1.  Type message</a:t>
            </a:r>
            <a:endParaRPr lang="en-US" sz="1200" dirty="0"/>
          </a:p>
        </p:txBody>
      </p:sp>
      <p:sp>
        <p:nvSpPr>
          <p:cNvPr id="33" name="Text 31"/>
          <p:cNvSpPr/>
          <p:nvPr/>
        </p:nvSpPr>
        <p:spPr>
          <a:xfrm>
            <a:off x="6629400" y="2450592"/>
            <a:ext cx="4937760" cy="3200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Employee sends question in Teams client</a:t>
            </a:r>
            <a:endParaRPr lang="en-US" sz="1000" dirty="0"/>
          </a:p>
        </p:txBody>
      </p:sp>
      <p:sp>
        <p:nvSpPr>
          <p:cNvPr id="34" name="Shape 32"/>
          <p:cNvSpPr/>
          <p:nvPr/>
        </p:nvSpPr>
        <p:spPr>
          <a:xfrm>
            <a:off x="5189220" y="2807208"/>
            <a:ext cx="0" cy="45720"/>
          </a:xfrm>
          <a:prstGeom prst="line">
            <a:avLst/>
          </a:prstGeom>
          <a:noFill/>
          <a:ln w="15240">
            <a:solidFill>
              <a:srgbClr val="6B7B8C"/>
            </a:solidFill>
            <a:prstDash val="solid"/>
            <a:tailEnd type="triangle"/>
          </a:ln>
        </p:spPr>
      </p:sp>
      <p:sp>
        <p:nvSpPr>
          <p:cNvPr id="35" name="Shape 33"/>
          <p:cNvSpPr/>
          <p:nvPr/>
        </p:nvSpPr>
        <p:spPr>
          <a:xfrm>
            <a:off x="4937760" y="2907792"/>
            <a:ext cx="502920" cy="502920"/>
          </a:xfrm>
          <a:prstGeom prst="ellipse">
            <a:avLst/>
          </a:prstGeom>
          <a:solidFill>
            <a:srgbClr val="F5A623"/>
          </a:solidFill>
          <a:ln w="12700">
            <a:solidFill>
              <a:srgbClr val="F5A623"/>
            </a:solidFill>
            <a:prstDash val="solid"/>
          </a:ln>
        </p:spPr>
      </p:sp>
      <p:sp>
        <p:nvSpPr>
          <p:cNvPr id="36" name="Text 34"/>
          <p:cNvSpPr/>
          <p:nvPr/>
        </p:nvSpPr>
        <p:spPr>
          <a:xfrm>
            <a:off x="4937760" y="2907792"/>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2</a:t>
            </a:r>
            <a:endParaRPr lang="en-US" sz="1600" dirty="0"/>
          </a:p>
        </p:txBody>
      </p:sp>
      <p:sp>
        <p:nvSpPr>
          <p:cNvPr id="37" name="Shape 35"/>
          <p:cNvSpPr/>
          <p:nvPr/>
        </p:nvSpPr>
        <p:spPr>
          <a:xfrm>
            <a:off x="5577840" y="2816352"/>
            <a:ext cx="6126480" cy="658368"/>
          </a:xfrm>
          <a:prstGeom prst="roundRect">
            <a:avLst>
              <a:gd name="adj" fmla="val 8333"/>
            </a:avLst>
          </a:prstGeom>
          <a:solidFill>
            <a:srgbClr val="F5F7FA"/>
          </a:solidFill>
          <a:ln w="12700">
            <a:solidFill>
              <a:srgbClr val="CADCFC"/>
            </a:solidFill>
            <a:prstDash val="solid"/>
          </a:ln>
        </p:spPr>
      </p:sp>
      <p:sp>
        <p:nvSpPr>
          <p:cNvPr id="38" name="Shape 36"/>
          <p:cNvSpPr/>
          <p:nvPr/>
        </p:nvSpPr>
        <p:spPr>
          <a:xfrm>
            <a:off x="5715000" y="2907792"/>
            <a:ext cx="777240" cy="256032"/>
          </a:xfrm>
          <a:prstGeom prst="roundRect">
            <a:avLst>
              <a:gd name="adj" fmla="val 21429"/>
            </a:avLst>
          </a:prstGeom>
          <a:solidFill>
            <a:srgbClr val="0B1F3A"/>
          </a:solidFill>
          <a:ln w="12700">
            <a:solidFill>
              <a:srgbClr val="0B1F3A"/>
            </a:solidFill>
            <a:prstDash val="solid"/>
          </a:ln>
        </p:spPr>
      </p:sp>
      <p:sp>
        <p:nvSpPr>
          <p:cNvPr id="39" name="Text 37"/>
          <p:cNvSpPr/>
          <p:nvPr/>
        </p:nvSpPr>
        <p:spPr>
          <a:xfrm>
            <a:off x="5715000" y="2907792"/>
            <a:ext cx="777240" cy="256032"/>
          </a:xfrm>
          <a:prstGeom prst="rect">
            <a:avLst/>
          </a:prstGeom>
          <a:noFill/>
          <a:ln/>
        </p:spPr>
        <p:txBody>
          <a:bodyPr wrap="square" lIns="0" tIns="0" rIns="0" bIns="0" rtlCol="0" anchor="ctr"/>
          <a:lstStyle/>
          <a:p>
            <a:pPr algn="ctr" indent="0" marL="0">
              <a:buNone/>
            </a:pPr>
            <a:r>
              <a:rPr lang="en-US" sz="800" b="1" spc="200" kern="0" dirty="0">
                <a:solidFill>
                  <a:srgbClr val="F5A623"/>
                </a:solidFill>
                <a:latin typeface="Calibri" pitchFamily="34" charset="0"/>
                <a:ea typeface="Calibri" pitchFamily="34" charset="-122"/>
                <a:cs typeface="Calibri" pitchFamily="34" charset="-120"/>
              </a:rPr>
              <a:t>CLIENT</a:t>
            </a:r>
            <a:endParaRPr lang="en-US" sz="800" dirty="0"/>
          </a:p>
        </p:txBody>
      </p:sp>
      <p:sp>
        <p:nvSpPr>
          <p:cNvPr id="40" name="Text 38"/>
          <p:cNvSpPr/>
          <p:nvPr/>
        </p:nvSpPr>
        <p:spPr>
          <a:xfrm>
            <a:off x="6629400" y="2862072"/>
            <a:ext cx="493776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2.  Route to agent</a:t>
            </a:r>
            <a:endParaRPr lang="en-US" sz="1200" dirty="0"/>
          </a:p>
        </p:txBody>
      </p:sp>
      <p:sp>
        <p:nvSpPr>
          <p:cNvPr id="41" name="Text 39"/>
          <p:cNvSpPr/>
          <p:nvPr/>
        </p:nvSpPr>
        <p:spPr>
          <a:xfrm>
            <a:off x="6629400" y="3163824"/>
            <a:ext cx="4937760" cy="3200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Teams forwards to Copilot Studio agent endpoint</a:t>
            </a:r>
            <a:endParaRPr lang="en-US" sz="1000" dirty="0"/>
          </a:p>
        </p:txBody>
      </p:sp>
      <p:sp>
        <p:nvSpPr>
          <p:cNvPr id="42" name="Shape 40"/>
          <p:cNvSpPr/>
          <p:nvPr/>
        </p:nvSpPr>
        <p:spPr>
          <a:xfrm>
            <a:off x="5189220" y="3520440"/>
            <a:ext cx="0" cy="45720"/>
          </a:xfrm>
          <a:prstGeom prst="line">
            <a:avLst/>
          </a:prstGeom>
          <a:noFill/>
          <a:ln w="15240">
            <a:solidFill>
              <a:srgbClr val="6B7B8C"/>
            </a:solidFill>
            <a:prstDash val="solid"/>
            <a:tailEnd type="triangle"/>
          </a:ln>
        </p:spPr>
      </p:sp>
      <p:sp>
        <p:nvSpPr>
          <p:cNvPr id="43" name="Shape 41"/>
          <p:cNvSpPr/>
          <p:nvPr/>
        </p:nvSpPr>
        <p:spPr>
          <a:xfrm>
            <a:off x="4937760" y="3621024"/>
            <a:ext cx="502920" cy="502920"/>
          </a:xfrm>
          <a:prstGeom prst="ellipse">
            <a:avLst/>
          </a:prstGeom>
          <a:solidFill>
            <a:srgbClr val="F5A623"/>
          </a:solidFill>
          <a:ln w="12700">
            <a:solidFill>
              <a:srgbClr val="F5A623"/>
            </a:solidFill>
            <a:prstDash val="solid"/>
          </a:ln>
        </p:spPr>
      </p:sp>
      <p:sp>
        <p:nvSpPr>
          <p:cNvPr id="44" name="Text 42"/>
          <p:cNvSpPr/>
          <p:nvPr/>
        </p:nvSpPr>
        <p:spPr>
          <a:xfrm>
            <a:off x="4937760" y="3621024"/>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3</a:t>
            </a:r>
            <a:endParaRPr lang="en-US" sz="1600" dirty="0"/>
          </a:p>
        </p:txBody>
      </p:sp>
      <p:sp>
        <p:nvSpPr>
          <p:cNvPr id="45" name="Shape 43"/>
          <p:cNvSpPr/>
          <p:nvPr/>
        </p:nvSpPr>
        <p:spPr>
          <a:xfrm>
            <a:off x="5577840" y="3529584"/>
            <a:ext cx="6126480" cy="658368"/>
          </a:xfrm>
          <a:prstGeom prst="roundRect">
            <a:avLst>
              <a:gd name="adj" fmla="val 8333"/>
            </a:avLst>
          </a:prstGeom>
          <a:solidFill>
            <a:srgbClr val="F5F7FA"/>
          </a:solidFill>
          <a:ln w="12700">
            <a:solidFill>
              <a:srgbClr val="CADCFC"/>
            </a:solidFill>
            <a:prstDash val="solid"/>
          </a:ln>
        </p:spPr>
      </p:sp>
      <p:sp>
        <p:nvSpPr>
          <p:cNvPr id="46" name="Shape 44"/>
          <p:cNvSpPr/>
          <p:nvPr/>
        </p:nvSpPr>
        <p:spPr>
          <a:xfrm>
            <a:off x="5715000" y="3621024"/>
            <a:ext cx="777240" cy="256032"/>
          </a:xfrm>
          <a:prstGeom prst="roundRect">
            <a:avLst>
              <a:gd name="adj" fmla="val 21429"/>
            </a:avLst>
          </a:prstGeom>
          <a:solidFill>
            <a:srgbClr val="0B1F3A"/>
          </a:solidFill>
          <a:ln w="12700">
            <a:solidFill>
              <a:srgbClr val="0B1F3A"/>
            </a:solidFill>
            <a:prstDash val="solid"/>
          </a:ln>
        </p:spPr>
      </p:sp>
      <p:sp>
        <p:nvSpPr>
          <p:cNvPr id="47" name="Text 45"/>
          <p:cNvSpPr/>
          <p:nvPr/>
        </p:nvSpPr>
        <p:spPr>
          <a:xfrm>
            <a:off x="5715000" y="3621024"/>
            <a:ext cx="777240" cy="256032"/>
          </a:xfrm>
          <a:prstGeom prst="rect">
            <a:avLst/>
          </a:prstGeom>
          <a:noFill/>
          <a:ln/>
        </p:spPr>
        <p:txBody>
          <a:bodyPr wrap="square" lIns="0" tIns="0" rIns="0" bIns="0" rtlCol="0" anchor="ctr"/>
          <a:lstStyle/>
          <a:p>
            <a:pPr algn="ctr" indent="0" marL="0">
              <a:buNone/>
            </a:pPr>
            <a:r>
              <a:rPr lang="en-US" sz="800" b="1" spc="200" kern="0" dirty="0">
                <a:solidFill>
                  <a:srgbClr val="F5A623"/>
                </a:solidFill>
                <a:latin typeface="Calibri" pitchFamily="34" charset="0"/>
                <a:ea typeface="Calibri" pitchFamily="34" charset="-122"/>
                <a:cs typeface="Calibri" pitchFamily="34" charset="-120"/>
              </a:rPr>
              <a:t>AGENT</a:t>
            </a:r>
            <a:endParaRPr lang="en-US" sz="800" dirty="0"/>
          </a:p>
        </p:txBody>
      </p:sp>
      <p:sp>
        <p:nvSpPr>
          <p:cNvPr id="48" name="Text 46"/>
          <p:cNvSpPr/>
          <p:nvPr/>
        </p:nvSpPr>
        <p:spPr>
          <a:xfrm>
            <a:off x="6629400" y="3575304"/>
            <a:ext cx="493776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3.  Authenticate</a:t>
            </a:r>
            <a:endParaRPr lang="en-US" sz="1200" dirty="0"/>
          </a:p>
        </p:txBody>
      </p:sp>
      <p:sp>
        <p:nvSpPr>
          <p:cNvPr id="49" name="Text 47"/>
          <p:cNvSpPr/>
          <p:nvPr/>
        </p:nvSpPr>
        <p:spPr>
          <a:xfrm>
            <a:off x="6629400" y="3877056"/>
            <a:ext cx="4937760" cy="3200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Agent presents blueprint credential to Entra Agent ID</a:t>
            </a:r>
            <a:endParaRPr lang="en-US" sz="1000" dirty="0"/>
          </a:p>
        </p:txBody>
      </p:sp>
      <p:sp>
        <p:nvSpPr>
          <p:cNvPr id="50" name="Shape 48"/>
          <p:cNvSpPr/>
          <p:nvPr/>
        </p:nvSpPr>
        <p:spPr>
          <a:xfrm>
            <a:off x="5189220" y="4233672"/>
            <a:ext cx="0" cy="45720"/>
          </a:xfrm>
          <a:prstGeom prst="line">
            <a:avLst/>
          </a:prstGeom>
          <a:noFill/>
          <a:ln w="15240">
            <a:solidFill>
              <a:srgbClr val="6B7B8C"/>
            </a:solidFill>
            <a:prstDash val="solid"/>
            <a:tailEnd type="triangle"/>
          </a:ln>
        </p:spPr>
      </p:sp>
      <p:sp>
        <p:nvSpPr>
          <p:cNvPr id="51" name="Shape 49"/>
          <p:cNvSpPr/>
          <p:nvPr/>
        </p:nvSpPr>
        <p:spPr>
          <a:xfrm>
            <a:off x="4937760" y="4334256"/>
            <a:ext cx="502920" cy="502920"/>
          </a:xfrm>
          <a:prstGeom prst="ellipse">
            <a:avLst/>
          </a:prstGeom>
          <a:solidFill>
            <a:srgbClr val="F5A623"/>
          </a:solidFill>
          <a:ln w="12700">
            <a:solidFill>
              <a:srgbClr val="F5A623"/>
            </a:solidFill>
            <a:prstDash val="solid"/>
          </a:ln>
        </p:spPr>
      </p:sp>
      <p:sp>
        <p:nvSpPr>
          <p:cNvPr id="52" name="Text 50"/>
          <p:cNvSpPr/>
          <p:nvPr/>
        </p:nvSpPr>
        <p:spPr>
          <a:xfrm>
            <a:off x="4937760" y="4334256"/>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4</a:t>
            </a:r>
            <a:endParaRPr lang="en-US" sz="1600" dirty="0"/>
          </a:p>
        </p:txBody>
      </p:sp>
      <p:sp>
        <p:nvSpPr>
          <p:cNvPr id="53" name="Shape 51"/>
          <p:cNvSpPr/>
          <p:nvPr/>
        </p:nvSpPr>
        <p:spPr>
          <a:xfrm>
            <a:off x="5577840" y="4242816"/>
            <a:ext cx="6126480" cy="658368"/>
          </a:xfrm>
          <a:prstGeom prst="roundRect">
            <a:avLst>
              <a:gd name="adj" fmla="val 8333"/>
            </a:avLst>
          </a:prstGeom>
          <a:solidFill>
            <a:srgbClr val="F5F7FA"/>
          </a:solidFill>
          <a:ln w="12700">
            <a:solidFill>
              <a:srgbClr val="CADCFC"/>
            </a:solidFill>
            <a:prstDash val="solid"/>
          </a:ln>
        </p:spPr>
      </p:sp>
      <p:sp>
        <p:nvSpPr>
          <p:cNvPr id="54" name="Shape 52"/>
          <p:cNvSpPr/>
          <p:nvPr/>
        </p:nvSpPr>
        <p:spPr>
          <a:xfrm>
            <a:off x="5715000" y="4334256"/>
            <a:ext cx="777240" cy="256032"/>
          </a:xfrm>
          <a:prstGeom prst="roundRect">
            <a:avLst>
              <a:gd name="adj" fmla="val 21429"/>
            </a:avLst>
          </a:prstGeom>
          <a:solidFill>
            <a:srgbClr val="0B1F3A"/>
          </a:solidFill>
          <a:ln w="12700">
            <a:solidFill>
              <a:srgbClr val="0B1F3A"/>
            </a:solidFill>
            <a:prstDash val="solid"/>
          </a:ln>
        </p:spPr>
      </p:sp>
      <p:sp>
        <p:nvSpPr>
          <p:cNvPr id="55" name="Text 53"/>
          <p:cNvSpPr/>
          <p:nvPr/>
        </p:nvSpPr>
        <p:spPr>
          <a:xfrm>
            <a:off x="5715000" y="4334256"/>
            <a:ext cx="777240" cy="256032"/>
          </a:xfrm>
          <a:prstGeom prst="rect">
            <a:avLst/>
          </a:prstGeom>
          <a:noFill/>
          <a:ln/>
        </p:spPr>
        <p:txBody>
          <a:bodyPr wrap="square" lIns="0" tIns="0" rIns="0" bIns="0" rtlCol="0" anchor="ctr"/>
          <a:lstStyle/>
          <a:p>
            <a:pPr algn="ctr" indent="0" marL="0">
              <a:buNone/>
            </a:pPr>
            <a:r>
              <a:rPr lang="en-US" sz="800" b="1" spc="200" kern="0" dirty="0">
                <a:solidFill>
                  <a:srgbClr val="F5A623"/>
                </a:solidFill>
                <a:latin typeface="Calibri" pitchFamily="34" charset="0"/>
                <a:ea typeface="Calibri" pitchFamily="34" charset="-122"/>
                <a:cs typeface="Calibri" pitchFamily="34" charset="-120"/>
              </a:rPr>
              <a:t>ENTRA</a:t>
            </a:r>
            <a:endParaRPr lang="en-US" sz="800" dirty="0"/>
          </a:p>
        </p:txBody>
      </p:sp>
      <p:sp>
        <p:nvSpPr>
          <p:cNvPr id="56" name="Text 54"/>
          <p:cNvSpPr/>
          <p:nvPr/>
        </p:nvSpPr>
        <p:spPr>
          <a:xfrm>
            <a:off x="6629400" y="4288536"/>
            <a:ext cx="493776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4.  Get scoped token</a:t>
            </a:r>
            <a:endParaRPr lang="en-US" sz="1200" dirty="0"/>
          </a:p>
        </p:txBody>
      </p:sp>
      <p:sp>
        <p:nvSpPr>
          <p:cNvPr id="57" name="Text 55"/>
          <p:cNvSpPr/>
          <p:nvPr/>
        </p:nvSpPr>
        <p:spPr>
          <a:xfrm>
            <a:off x="6629400" y="4590288"/>
            <a:ext cx="4937760" cy="3200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Entra issues resource token bound to user + scope</a:t>
            </a:r>
            <a:endParaRPr lang="en-US" sz="1000" dirty="0"/>
          </a:p>
        </p:txBody>
      </p:sp>
      <p:sp>
        <p:nvSpPr>
          <p:cNvPr id="58" name="Shape 56"/>
          <p:cNvSpPr/>
          <p:nvPr/>
        </p:nvSpPr>
        <p:spPr>
          <a:xfrm>
            <a:off x="5189220" y="4946904"/>
            <a:ext cx="0" cy="45720"/>
          </a:xfrm>
          <a:prstGeom prst="line">
            <a:avLst/>
          </a:prstGeom>
          <a:noFill/>
          <a:ln w="15240">
            <a:solidFill>
              <a:srgbClr val="6B7B8C"/>
            </a:solidFill>
            <a:prstDash val="solid"/>
            <a:tailEnd type="triangle"/>
          </a:ln>
        </p:spPr>
      </p:sp>
      <p:sp>
        <p:nvSpPr>
          <p:cNvPr id="59" name="Shape 57"/>
          <p:cNvSpPr/>
          <p:nvPr/>
        </p:nvSpPr>
        <p:spPr>
          <a:xfrm>
            <a:off x="4937760" y="5047488"/>
            <a:ext cx="502920" cy="502920"/>
          </a:xfrm>
          <a:prstGeom prst="ellipse">
            <a:avLst/>
          </a:prstGeom>
          <a:solidFill>
            <a:srgbClr val="F5A623"/>
          </a:solidFill>
          <a:ln w="12700">
            <a:solidFill>
              <a:srgbClr val="F5A623"/>
            </a:solidFill>
            <a:prstDash val="solid"/>
          </a:ln>
        </p:spPr>
      </p:sp>
      <p:sp>
        <p:nvSpPr>
          <p:cNvPr id="60" name="Text 58"/>
          <p:cNvSpPr/>
          <p:nvPr/>
        </p:nvSpPr>
        <p:spPr>
          <a:xfrm>
            <a:off x="4937760" y="5047488"/>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5</a:t>
            </a:r>
            <a:endParaRPr lang="en-US" sz="1600" dirty="0"/>
          </a:p>
        </p:txBody>
      </p:sp>
      <p:sp>
        <p:nvSpPr>
          <p:cNvPr id="61" name="Shape 59"/>
          <p:cNvSpPr/>
          <p:nvPr/>
        </p:nvSpPr>
        <p:spPr>
          <a:xfrm>
            <a:off x="5577840" y="4956048"/>
            <a:ext cx="6126480" cy="658368"/>
          </a:xfrm>
          <a:prstGeom prst="roundRect">
            <a:avLst>
              <a:gd name="adj" fmla="val 8333"/>
            </a:avLst>
          </a:prstGeom>
          <a:solidFill>
            <a:srgbClr val="F5F7FA"/>
          </a:solidFill>
          <a:ln w="12700">
            <a:solidFill>
              <a:srgbClr val="CADCFC"/>
            </a:solidFill>
            <a:prstDash val="solid"/>
          </a:ln>
        </p:spPr>
      </p:sp>
      <p:sp>
        <p:nvSpPr>
          <p:cNvPr id="62" name="Shape 60"/>
          <p:cNvSpPr/>
          <p:nvPr/>
        </p:nvSpPr>
        <p:spPr>
          <a:xfrm>
            <a:off x="5715000" y="5047488"/>
            <a:ext cx="777240" cy="256032"/>
          </a:xfrm>
          <a:prstGeom prst="roundRect">
            <a:avLst>
              <a:gd name="adj" fmla="val 21429"/>
            </a:avLst>
          </a:prstGeom>
          <a:solidFill>
            <a:srgbClr val="0B1F3A"/>
          </a:solidFill>
          <a:ln w="12700">
            <a:solidFill>
              <a:srgbClr val="0B1F3A"/>
            </a:solidFill>
            <a:prstDash val="solid"/>
          </a:ln>
        </p:spPr>
      </p:sp>
      <p:sp>
        <p:nvSpPr>
          <p:cNvPr id="63" name="Text 61"/>
          <p:cNvSpPr/>
          <p:nvPr/>
        </p:nvSpPr>
        <p:spPr>
          <a:xfrm>
            <a:off x="5715000" y="5047488"/>
            <a:ext cx="777240" cy="256032"/>
          </a:xfrm>
          <a:prstGeom prst="rect">
            <a:avLst/>
          </a:prstGeom>
          <a:noFill/>
          <a:ln/>
        </p:spPr>
        <p:txBody>
          <a:bodyPr wrap="square" lIns="0" tIns="0" rIns="0" bIns="0" rtlCol="0" anchor="ctr"/>
          <a:lstStyle/>
          <a:p>
            <a:pPr algn="ctr" indent="0" marL="0">
              <a:buNone/>
            </a:pPr>
            <a:r>
              <a:rPr lang="en-US" sz="800" b="1" spc="200" kern="0" dirty="0">
                <a:solidFill>
                  <a:srgbClr val="F5A623"/>
                </a:solidFill>
                <a:latin typeface="Calibri" pitchFamily="34" charset="0"/>
                <a:ea typeface="Calibri" pitchFamily="34" charset="-122"/>
                <a:cs typeface="Calibri" pitchFamily="34" charset="-120"/>
              </a:rPr>
              <a:t>AGENT</a:t>
            </a:r>
            <a:endParaRPr lang="en-US" sz="800" dirty="0"/>
          </a:p>
        </p:txBody>
      </p:sp>
      <p:sp>
        <p:nvSpPr>
          <p:cNvPr id="64" name="Text 62"/>
          <p:cNvSpPr/>
          <p:nvPr/>
        </p:nvSpPr>
        <p:spPr>
          <a:xfrm>
            <a:off x="6629400" y="5001768"/>
            <a:ext cx="493776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5.  Call backend</a:t>
            </a:r>
            <a:endParaRPr lang="en-US" sz="1200" dirty="0"/>
          </a:p>
        </p:txBody>
      </p:sp>
      <p:sp>
        <p:nvSpPr>
          <p:cNvPr id="65" name="Text 63"/>
          <p:cNvSpPr/>
          <p:nvPr/>
        </p:nvSpPr>
        <p:spPr>
          <a:xfrm>
            <a:off x="6629400" y="5303520"/>
            <a:ext cx="4937760" cy="3200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Agent invokes ERP / SharePoint with bearer token</a:t>
            </a:r>
            <a:endParaRPr lang="en-US" sz="1000" dirty="0"/>
          </a:p>
        </p:txBody>
      </p:sp>
      <p:sp>
        <p:nvSpPr>
          <p:cNvPr id="66" name="Shape 64"/>
          <p:cNvSpPr/>
          <p:nvPr/>
        </p:nvSpPr>
        <p:spPr>
          <a:xfrm>
            <a:off x="5189220" y="5660136"/>
            <a:ext cx="0" cy="45720"/>
          </a:xfrm>
          <a:prstGeom prst="line">
            <a:avLst/>
          </a:prstGeom>
          <a:noFill/>
          <a:ln w="15240">
            <a:solidFill>
              <a:srgbClr val="6B7B8C"/>
            </a:solidFill>
            <a:prstDash val="solid"/>
            <a:tailEnd type="triangle"/>
          </a:ln>
        </p:spPr>
      </p:sp>
      <p:sp>
        <p:nvSpPr>
          <p:cNvPr id="67" name="Shape 65"/>
          <p:cNvSpPr/>
          <p:nvPr/>
        </p:nvSpPr>
        <p:spPr>
          <a:xfrm>
            <a:off x="4937760" y="5760720"/>
            <a:ext cx="502920" cy="502920"/>
          </a:xfrm>
          <a:prstGeom prst="ellipse">
            <a:avLst/>
          </a:prstGeom>
          <a:solidFill>
            <a:srgbClr val="F5A623"/>
          </a:solidFill>
          <a:ln w="12700">
            <a:solidFill>
              <a:srgbClr val="F5A623"/>
            </a:solidFill>
            <a:prstDash val="solid"/>
          </a:ln>
        </p:spPr>
      </p:sp>
      <p:sp>
        <p:nvSpPr>
          <p:cNvPr id="68" name="Text 66"/>
          <p:cNvSpPr/>
          <p:nvPr/>
        </p:nvSpPr>
        <p:spPr>
          <a:xfrm>
            <a:off x="4937760" y="5760720"/>
            <a:ext cx="502920" cy="50292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6</a:t>
            </a:r>
            <a:endParaRPr lang="en-US" sz="1600" dirty="0"/>
          </a:p>
        </p:txBody>
      </p:sp>
      <p:sp>
        <p:nvSpPr>
          <p:cNvPr id="69" name="Shape 67"/>
          <p:cNvSpPr/>
          <p:nvPr/>
        </p:nvSpPr>
        <p:spPr>
          <a:xfrm>
            <a:off x="5577840" y="5669280"/>
            <a:ext cx="6126480" cy="658368"/>
          </a:xfrm>
          <a:prstGeom prst="roundRect">
            <a:avLst>
              <a:gd name="adj" fmla="val 8333"/>
            </a:avLst>
          </a:prstGeom>
          <a:solidFill>
            <a:srgbClr val="F5F7FA"/>
          </a:solidFill>
          <a:ln w="12700">
            <a:solidFill>
              <a:srgbClr val="CADCFC"/>
            </a:solidFill>
            <a:prstDash val="solid"/>
          </a:ln>
        </p:spPr>
      </p:sp>
      <p:sp>
        <p:nvSpPr>
          <p:cNvPr id="70" name="Shape 68"/>
          <p:cNvSpPr/>
          <p:nvPr/>
        </p:nvSpPr>
        <p:spPr>
          <a:xfrm>
            <a:off x="5715000" y="5760720"/>
            <a:ext cx="777240" cy="256032"/>
          </a:xfrm>
          <a:prstGeom prst="roundRect">
            <a:avLst>
              <a:gd name="adj" fmla="val 21429"/>
            </a:avLst>
          </a:prstGeom>
          <a:solidFill>
            <a:srgbClr val="0B1F3A"/>
          </a:solidFill>
          <a:ln w="12700">
            <a:solidFill>
              <a:srgbClr val="0B1F3A"/>
            </a:solidFill>
            <a:prstDash val="solid"/>
          </a:ln>
        </p:spPr>
      </p:sp>
      <p:sp>
        <p:nvSpPr>
          <p:cNvPr id="71" name="Text 69"/>
          <p:cNvSpPr/>
          <p:nvPr/>
        </p:nvSpPr>
        <p:spPr>
          <a:xfrm>
            <a:off x="5715000" y="5760720"/>
            <a:ext cx="777240" cy="256032"/>
          </a:xfrm>
          <a:prstGeom prst="rect">
            <a:avLst/>
          </a:prstGeom>
          <a:noFill/>
          <a:ln/>
        </p:spPr>
        <p:txBody>
          <a:bodyPr wrap="square" lIns="0" tIns="0" rIns="0" bIns="0" rtlCol="0" anchor="ctr"/>
          <a:lstStyle/>
          <a:p>
            <a:pPr algn="ctr" indent="0" marL="0">
              <a:buNone/>
            </a:pPr>
            <a:r>
              <a:rPr lang="en-US" sz="800" b="1" spc="200" kern="0" dirty="0">
                <a:solidFill>
                  <a:srgbClr val="F5A623"/>
                </a:solidFill>
                <a:latin typeface="Calibri" pitchFamily="34" charset="0"/>
                <a:ea typeface="Calibri" pitchFamily="34" charset="-122"/>
                <a:cs typeface="Calibri" pitchFamily="34" charset="-120"/>
              </a:rPr>
              <a:t>AGENT</a:t>
            </a:r>
            <a:endParaRPr lang="en-US" sz="800" dirty="0"/>
          </a:p>
        </p:txBody>
      </p:sp>
      <p:sp>
        <p:nvSpPr>
          <p:cNvPr id="72" name="Text 70"/>
          <p:cNvSpPr/>
          <p:nvPr/>
        </p:nvSpPr>
        <p:spPr>
          <a:xfrm>
            <a:off x="6629400" y="5715000"/>
            <a:ext cx="493776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6.  Reason + respond</a:t>
            </a:r>
            <a:endParaRPr lang="en-US" sz="1200" dirty="0"/>
          </a:p>
        </p:txBody>
      </p:sp>
      <p:sp>
        <p:nvSpPr>
          <p:cNvPr id="73" name="Text 71"/>
          <p:cNvSpPr/>
          <p:nvPr/>
        </p:nvSpPr>
        <p:spPr>
          <a:xfrm>
            <a:off x="6629400" y="6016752"/>
            <a:ext cx="4937760" cy="3200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LLM composes answer, cites source, returns to Teams</a:t>
            </a:r>
            <a:endParaRPr lang="en-US" sz="1000" dirty="0"/>
          </a:p>
        </p:txBody>
      </p:sp>
      <p:sp>
        <p:nvSpPr>
          <p:cNvPr id="74" name="Text 72"/>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75" name="Text 73"/>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01  HIGH-LEVEL SOLUTION DESIGN</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Systems the agent needs to access</a:t>
            </a:r>
            <a:endParaRPr lang="en-US" sz="3200" dirty="0"/>
          </a:p>
        </p:txBody>
      </p:sp>
      <p:sp>
        <p:nvSpPr>
          <p:cNvPr id="5" name="Shape 3"/>
          <p:cNvSpPr/>
          <p:nvPr/>
        </p:nvSpPr>
        <p:spPr>
          <a:xfrm>
            <a:off x="457200" y="1737360"/>
            <a:ext cx="3657600" cy="1371600"/>
          </a:xfrm>
          <a:prstGeom prst="roundRect">
            <a:avLst>
              <a:gd name="adj" fmla="val 5333"/>
            </a:avLst>
          </a:prstGeom>
          <a:solidFill>
            <a:srgbClr val="FFFFFF"/>
          </a:solidFill>
          <a:ln w="12700">
            <a:solidFill>
              <a:srgbClr val="CADCFC"/>
            </a:solidFill>
            <a:prstDash val="solid"/>
          </a:ln>
          <a:effectLst>
            <a:outerShdw sx="100000" sy="100000" kx="0" ky="0" algn="bl" rotWithShape="0" blurRad="76200" dist="25400" dir="2700000">
              <a:srgbClr val="AAAAAA">
                <a:alpha val="12000"/>
              </a:srgbClr>
            </a:outerShdw>
          </a:effectLst>
        </p:spPr>
      </p:sp>
      <p:sp>
        <p:nvSpPr>
          <p:cNvPr id="6" name="Shape 4"/>
          <p:cNvSpPr/>
          <p:nvPr/>
        </p:nvSpPr>
        <p:spPr>
          <a:xfrm>
            <a:off x="640080" y="1965960"/>
            <a:ext cx="320040" cy="320040"/>
          </a:xfrm>
          <a:prstGeom prst="ellipse">
            <a:avLst/>
          </a:prstGeom>
          <a:solidFill>
            <a:srgbClr val="1C7293"/>
          </a:solidFill>
          <a:ln w="12700">
            <a:solidFill>
              <a:srgbClr val="1C7293"/>
            </a:solidFill>
            <a:prstDash val="solid"/>
          </a:ln>
        </p:spPr>
      </p:sp>
      <p:sp>
        <p:nvSpPr>
          <p:cNvPr id="7" name="Text 5"/>
          <p:cNvSpPr/>
          <p:nvPr/>
        </p:nvSpPr>
        <p:spPr>
          <a:xfrm>
            <a:off x="1097280" y="1874520"/>
            <a:ext cx="283464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ERP System</a:t>
            </a:r>
            <a:endParaRPr lang="en-US" sz="1500" dirty="0"/>
          </a:p>
        </p:txBody>
      </p:sp>
      <p:sp>
        <p:nvSpPr>
          <p:cNvPr id="8" name="Text 6"/>
          <p:cNvSpPr/>
          <p:nvPr/>
        </p:nvSpPr>
        <p:spPr>
          <a:xfrm>
            <a:off x="1097280" y="2194560"/>
            <a:ext cx="2834640" cy="320040"/>
          </a:xfrm>
          <a:prstGeom prst="rect">
            <a:avLst/>
          </a:prstGeom>
          <a:noFill/>
          <a:ln/>
        </p:spPr>
        <p:txBody>
          <a:bodyPr wrap="square" lIns="0" tIns="0" rIns="0" bIns="0" rtlCol="0" anchor="ctr"/>
          <a:lstStyle/>
          <a:p>
            <a:pPr indent="0" marL="0">
              <a:buNone/>
            </a:pPr>
            <a:r>
              <a:rPr lang="en-US" sz="1100" i="1" dirty="0">
                <a:solidFill>
                  <a:srgbClr val="1C7293"/>
                </a:solidFill>
                <a:latin typeface="Calibri" pitchFamily="34" charset="0"/>
                <a:ea typeface="Calibri" pitchFamily="34" charset="-122"/>
                <a:cs typeface="Calibri" pitchFamily="34" charset="-120"/>
              </a:rPr>
              <a:t>SAP / Oracle / Dynamics 365</a:t>
            </a:r>
            <a:endParaRPr lang="en-US" sz="1100" dirty="0"/>
          </a:p>
        </p:txBody>
      </p:sp>
      <p:sp>
        <p:nvSpPr>
          <p:cNvPr id="9" name="Text 7"/>
          <p:cNvSpPr/>
          <p:nvPr/>
        </p:nvSpPr>
        <p:spPr>
          <a:xfrm>
            <a:off x="640080" y="2606040"/>
            <a:ext cx="3291840" cy="457200"/>
          </a:xfrm>
          <a:prstGeom prst="rect">
            <a:avLst/>
          </a:prstGeom>
          <a:noFill/>
          <a:ln/>
        </p:spPr>
        <p:txBody>
          <a:bodyPr wrap="square" lIns="0" tIns="0" rIns="0" bIns="0" rtlCol="0" anchor="ctr"/>
          <a:lstStyle/>
          <a:p>
            <a:pPr indent="0" marL="0">
              <a:buNone/>
            </a:pPr>
            <a:r>
              <a:rPr lang="en-US" sz="1100" dirty="0">
                <a:solidFill>
                  <a:srgbClr val="6B7B8C"/>
                </a:solidFill>
                <a:latin typeface="Calibri" pitchFamily="34" charset="0"/>
                <a:ea typeface="Calibri" pitchFamily="34" charset="-122"/>
                <a:cs typeface="Calibri" pitchFamily="34" charset="-120"/>
              </a:rPr>
              <a:t>Purchase order status, line items, approvals</a:t>
            </a:r>
            <a:endParaRPr lang="en-US" sz="1100" dirty="0"/>
          </a:p>
        </p:txBody>
      </p:sp>
      <p:sp>
        <p:nvSpPr>
          <p:cNvPr id="10" name="Shape 8"/>
          <p:cNvSpPr/>
          <p:nvPr/>
        </p:nvSpPr>
        <p:spPr>
          <a:xfrm>
            <a:off x="4251960" y="1737360"/>
            <a:ext cx="3657600" cy="1371600"/>
          </a:xfrm>
          <a:prstGeom prst="roundRect">
            <a:avLst>
              <a:gd name="adj" fmla="val 5333"/>
            </a:avLst>
          </a:prstGeom>
          <a:solidFill>
            <a:srgbClr val="FFFFFF"/>
          </a:solidFill>
          <a:ln w="12700">
            <a:solidFill>
              <a:srgbClr val="CADCFC"/>
            </a:solidFill>
            <a:prstDash val="solid"/>
          </a:ln>
          <a:effectLst>
            <a:outerShdw sx="100000" sy="100000" kx="0" ky="0" algn="bl" rotWithShape="0" blurRad="76200" dist="25400" dir="2700000">
              <a:srgbClr val="AAAAAA">
                <a:alpha val="12000"/>
              </a:srgbClr>
            </a:outerShdw>
          </a:effectLst>
        </p:spPr>
      </p:sp>
      <p:sp>
        <p:nvSpPr>
          <p:cNvPr id="11" name="Shape 9"/>
          <p:cNvSpPr/>
          <p:nvPr/>
        </p:nvSpPr>
        <p:spPr>
          <a:xfrm>
            <a:off x="4434840" y="1965960"/>
            <a:ext cx="320040" cy="320040"/>
          </a:xfrm>
          <a:prstGeom prst="ellipse">
            <a:avLst/>
          </a:prstGeom>
          <a:solidFill>
            <a:srgbClr val="13315C"/>
          </a:solidFill>
          <a:ln w="12700">
            <a:solidFill>
              <a:srgbClr val="13315C"/>
            </a:solidFill>
            <a:prstDash val="solid"/>
          </a:ln>
        </p:spPr>
      </p:sp>
      <p:sp>
        <p:nvSpPr>
          <p:cNvPr id="12" name="Text 10"/>
          <p:cNvSpPr/>
          <p:nvPr/>
        </p:nvSpPr>
        <p:spPr>
          <a:xfrm>
            <a:off x="4892040" y="1874520"/>
            <a:ext cx="283464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Vendor Master DB</a:t>
            </a:r>
            <a:endParaRPr lang="en-US" sz="1500" dirty="0"/>
          </a:p>
        </p:txBody>
      </p:sp>
      <p:sp>
        <p:nvSpPr>
          <p:cNvPr id="13" name="Text 11"/>
          <p:cNvSpPr/>
          <p:nvPr/>
        </p:nvSpPr>
        <p:spPr>
          <a:xfrm>
            <a:off x="4892040" y="2194560"/>
            <a:ext cx="2834640" cy="320040"/>
          </a:xfrm>
          <a:prstGeom prst="rect">
            <a:avLst/>
          </a:prstGeom>
          <a:noFill/>
          <a:ln/>
        </p:spPr>
        <p:txBody>
          <a:bodyPr wrap="square" lIns="0" tIns="0" rIns="0" bIns="0" rtlCol="0" anchor="ctr"/>
          <a:lstStyle/>
          <a:p>
            <a:pPr indent="0" marL="0">
              <a:buNone/>
            </a:pPr>
            <a:r>
              <a:rPr lang="en-US" sz="1100" i="1" dirty="0">
                <a:solidFill>
                  <a:srgbClr val="13315C"/>
                </a:solidFill>
                <a:latin typeface="Calibri" pitchFamily="34" charset="0"/>
                <a:ea typeface="Calibri" pitchFamily="34" charset="-122"/>
                <a:cs typeface="Calibri" pitchFamily="34" charset="-120"/>
              </a:rPr>
              <a:t>SQL / Vendor Portal API</a:t>
            </a:r>
            <a:endParaRPr lang="en-US" sz="1100" dirty="0"/>
          </a:p>
        </p:txBody>
      </p:sp>
      <p:sp>
        <p:nvSpPr>
          <p:cNvPr id="14" name="Text 12"/>
          <p:cNvSpPr/>
          <p:nvPr/>
        </p:nvSpPr>
        <p:spPr>
          <a:xfrm>
            <a:off x="4434840" y="2606040"/>
            <a:ext cx="3291840" cy="457200"/>
          </a:xfrm>
          <a:prstGeom prst="rect">
            <a:avLst/>
          </a:prstGeom>
          <a:noFill/>
          <a:ln/>
        </p:spPr>
        <p:txBody>
          <a:bodyPr wrap="square" lIns="0" tIns="0" rIns="0" bIns="0" rtlCol="0" anchor="ctr"/>
          <a:lstStyle/>
          <a:p>
            <a:pPr indent="0" marL="0">
              <a:buNone/>
            </a:pPr>
            <a:r>
              <a:rPr lang="en-US" sz="1100" dirty="0">
                <a:solidFill>
                  <a:srgbClr val="6B7B8C"/>
                </a:solidFill>
                <a:latin typeface="Calibri" pitchFamily="34" charset="0"/>
                <a:ea typeface="Calibri" pitchFamily="34" charset="-122"/>
                <a:cs typeface="Calibri" pitchFamily="34" charset="-120"/>
              </a:rPr>
              <a:t>Vendor records, contracts, payment terms</a:t>
            </a:r>
            <a:endParaRPr lang="en-US" sz="1100" dirty="0"/>
          </a:p>
        </p:txBody>
      </p:sp>
      <p:sp>
        <p:nvSpPr>
          <p:cNvPr id="15" name="Shape 13"/>
          <p:cNvSpPr/>
          <p:nvPr/>
        </p:nvSpPr>
        <p:spPr>
          <a:xfrm>
            <a:off x="8046720" y="1737360"/>
            <a:ext cx="3657600" cy="1371600"/>
          </a:xfrm>
          <a:prstGeom prst="roundRect">
            <a:avLst>
              <a:gd name="adj" fmla="val 5333"/>
            </a:avLst>
          </a:prstGeom>
          <a:solidFill>
            <a:srgbClr val="FFFFFF"/>
          </a:solidFill>
          <a:ln w="12700">
            <a:solidFill>
              <a:srgbClr val="CADCFC"/>
            </a:solidFill>
            <a:prstDash val="solid"/>
          </a:ln>
          <a:effectLst>
            <a:outerShdw sx="100000" sy="100000" kx="0" ky="0" algn="bl" rotWithShape="0" blurRad="76200" dist="25400" dir="2700000">
              <a:srgbClr val="AAAAAA">
                <a:alpha val="12000"/>
              </a:srgbClr>
            </a:outerShdw>
          </a:effectLst>
        </p:spPr>
      </p:sp>
      <p:sp>
        <p:nvSpPr>
          <p:cNvPr id="16" name="Shape 14"/>
          <p:cNvSpPr/>
          <p:nvPr/>
        </p:nvSpPr>
        <p:spPr>
          <a:xfrm>
            <a:off x="8229600" y="1965960"/>
            <a:ext cx="320040" cy="320040"/>
          </a:xfrm>
          <a:prstGeom prst="ellipse">
            <a:avLst/>
          </a:prstGeom>
          <a:solidFill>
            <a:srgbClr val="0B1F3A"/>
          </a:solidFill>
          <a:ln w="12700">
            <a:solidFill>
              <a:srgbClr val="0B1F3A"/>
            </a:solidFill>
            <a:prstDash val="solid"/>
          </a:ln>
        </p:spPr>
      </p:sp>
      <p:sp>
        <p:nvSpPr>
          <p:cNvPr id="17" name="Text 15"/>
          <p:cNvSpPr/>
          <p:nvPr/>
        </p:nvSpPr>
        <p:spPr>
          <a:xfrm>
            <a:off x="8686800" y="1874520"/>
            <a:ext cx="283464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SharePoint Online</a:t>
            </a:r>
            <a:endParaRPr lang="en-US" sz="1500" dirty="0"/>
          </a:p>
        </p:txBody>
      </p:sp>
      <p:sp>
        <p:nvSpPr>
          <p:cNvPr id="18" name="Text 16"/>
          <p:cNvSpPr/>
          <p:nvPr/>
        </p:nvSpPr>
        <p:spPr>
          <a:xfrm>
            <a:off x="8686800" y="2194560"/>
            <a:ext cx="2834640" cy="320040"/>
          </a:xfrm>
          <a:prstGeom prst="rect">
            <a:avLst/>
          </a:prstGeom>
          <a:noFill/>
          <a:ln/>
        </p:spPr>
        <p:txBody>
          <a:bodyPr wrap="square" lIns="0" tIns="0" rIns="0" bIns="0" rtlCol="0" anchor="ctr"/>
          <a:lstStyle/>
          <a:p>
            <a:pPr indent="0" marL="0">
              <a:buNone/>
            </a:pPr>
            <a:r>
              <a:rPr lang="en-US" sz="1100" i="1" dirty="0">
                <a:solidFill>
                  <a:srgbClr val="0B1F3A"/>
                </a:solidFill>
                <a:latin typeface="Calibri" pitchFamily="34" charset="0"/>
                <a:ea typeface="Calibri" pitchFamily="34" charset="-122"/>
                <a:cs typeface="Calibri" pitchFamily="34" charset="-120"/>
              </a:rPr>
              <a:t>Policies document library</a:t>
            </a:r>
            <a:endParaRPr lang="en-US" sz="1100" dirty="0"/>
          </a:p>
        </p:txBody>
      </p:sp>
      <p:sp>
        <p:nvSpPr>
          <p:cNvPr id="19" name="Text 17"/>
          <p:cNvSpPr/>
          <p:nvPr/>
        </p:nvSpPr>
        <p:spPr>
          <a:xfrm>
            <a:off x="8229600" y="2606040"/>
            <a:ext cx="3291840" cy="457200"/>
          </a:xfrm>
          <a:prstGeom prst="rect">
            <a:avLst/>
          </a:prstGeom>
          <a:noFill/>
          <a:ln/>
        </p:spPr>
        <p:txBody>
          <a:bodyPr wrap="square" lIns="0" tIns="0" rIns="0" bIns="0" rtlCol="0" anchor="ctr"/>
          <a:lstStyle/>
          <a:p>
            <a:pPr indent="0" marL="0">
              <a:buNone/>
            </a:pPr>
            <a:r>
              <a:rPr lang="en-US" sz="1100" dirty="0">
                <a:solidFill>
                  <a:srgbClr val="6B7B8C"/>
                </a:solidFill>
                <a:latin typeface="Calibri" pitchFamily="34" charset="0"/>
                <a:ea typeface="Calibri" pitchFamily="34" charset="-122"/>
                <a:cs typeface="Calibri" pitchFamily="34" charset="-120"/>
              </a:rPr>
              <a:t>Procurement policies, thresholds, workflows</a:t>
            </a:r>
            <a:endParaRPr lang="en-US" sz="1100" dirty="0"/>
          </a:p>
        </p:txBody>
      </p:sp>
      <p:sp>
        <p:nvSpPr>
          <p:cNvPr id="20" name="Shape 18"/>
          <p:cNvSpPr/>
          <p:nvPr/>
        </p:nvSpPr>
        <p:spPr>
          <a:xfrm>
            <a:off x="457200" y="3337560"/>
            <a:ext cx="3657600" cy="1371600"/>
          </a:xfrm>
          <a:prstGeom prst="roundRect">
            <a:avLst>
              <a:gd name="adj" fmla="val 5333"/>
            </a:avLst>
          </a:prstGeom>
          <a:solidFill>
            <a:srgbClr val="FFFFFF"/>
          </a:solidFill>
          <a:ln w="12700">
            <a:solidFill>
              <a:srgbClr val="CADCFC"/>
            </a:solidFill>
            <a:prstDash val="solid"/>
          </a:ln>
          <a:effectLst>
            <a:outerShdw sx="100000" sy="100000" kx="0" ky="0" algn="bl" rotWithShape="0" blurRad="76200" dist="25400" dir="2700000">
              <a:srgbClr val="AAAAAA">
                <a:alpha val="12000"/>
              </a:srgbClr>
            </a:outerShdw>
          </a:effectLst>
        </p:spPr>
      </p:sp>
      <p:sp>
        <p:nvSpPr>
          <p:cNvPr id="21" name="Shape 19"/>
          <p:cNvSpPr/>
          <p:nvPr/>
        </p:nvSpPr>
        <p:spPr>
          <a:xfrm>
            <a:off x="640080" y="3566160"/>
            <a:ext cx="320040" cy="320040"/>
          </a:xfrm>
          <a:prstGeom prst="ellipse">
            <a:avLst/>
          </a:prstGeom>
          <a:solidFill>
            <a:srgbClr val="F5A623"/>
          </a:solidFill>
          <a:ln w="12700">
            <a:solidFill>
              <a:srgbClr val="F5A623"/>
            </a:solidFill>
            <a:prstDash val="solid"/>
          </a:ln>
        </p:spPr>
      </p:sp>
      <p:sp>
        <p:nvSpPr>
          <p:cNvPr id="22" name="Text 20"/>
          <p:cNvSpPr/>
          <p:nvPr/>
        </p:nvSpPr>
        <p:spPr>
          <a:xfrm>
            <a:off x="1097280" y="3474720"/>
            <a:ext cx="283464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Microsoft Graph</a:t>
            </a:r>
            <a:endParaRPr lang="en-US" sz="1500" dirty="0"/>
          </a:p>
        </p:txBody>
      </p:sp>
      <p:sp>
        <p:nvSpPr>
          <p:cNvPr id="23" name="Text 21"/>
          <p:cNvSpPr/>
          <p:nvPr/>
        </p:nvSpPr>
        <p:spPr>
          <a:xfrm>
            <a:off x="1097280" y="3794760"/>
            <a:ext cx="2834640" cy="320040"/>
          </a:xfrm>
          <a:prstGeom prst="rect">
            <a:avLst/>
          </a:prstGeom>
          <a:noFill/>
          <a:ln/>
        </p:spPr>
        <p:txBody>
          <a:bodyPr wrap="square" lIns="0" tIns="0" rIns="0" bIns="0" rtlCol="0" anchor="ctr"/>
          <a:lstStyle/>
          <a:p>
            <a:pPr indent="0" marL="0">
              <a:buNone/>
            </a:pPr>
            <a:r>
              <a:rPr lang="en-US" sz="1100" i="1" dirty="0">
                <a:solidFill>
                  <a:srgbClr val="F5A623"/>
                </a:solidFill>
                <a:latin typeface="Calibri" pitchFamily="34" charset="0"/>
                <a:ea typeface="Calibri" pitchFamily="34" charset="-122"/>
                <a:cs typeface="Calibri" pitchFamily="34" charset="-120"/>
              </a:rPr>
              <a:t>User + org context</a:t>
            </a:r>
            <a:endParaRPr lang="en-US" sz="1100" dirty="0"/>
          </a:p>
        </p:txBody>
      </p:sp>
      <p:sp>
        <p:nvSpPr>
          <p:cNvPr id="24" name="Text 22"/>
          <p:cNvSpPr/>
          <p:nvPr/>
        </p:nvSpPr>
        <p:spPr>
          <a:xfrm>
            <a:off x="640080" y="4206240"/>
            <a:ext cx="3291840" cy="457200"/>
          </a:xfrm>
          <a:prstGeom prst="rect">
            <a:avLst/>
          </a:prstGeom>
          <a:noFill/>
          <a:ln/>
        </p:spPr>
        <p:txBody>
          <a:bodyPr wrap="square" lIns="0" tIns="0" rIns="0" bIns="0" rtlCol="0" anchor="ctr"/>
          <a:lstStyle/>
          <a:p>
            <a:pPr indent="0" marL="0">
              <a:buNone/>
            </a:pPr>
            <a:r>
              <a:rPr lang="en-US" sz="1100" dirty="0">
                <a:solidFill>
                  <a:srgbClr val="6B7B8C"/>
                </a:solidFill>
                <a:latin typeface="Calibri" pitchFamily="34" charset="0"/>
                <a:ea typeface="Calibri" pitchFamily="34" charset="-122"/>
                <a:cs typeface="Calibri" pitchFamily="34" charset="-120"/>
              </a:rPr>
              <a:t>User profile, department, cost center, manager chain</a:t>
            </a:r>
            <a:endParaRPr lang="en-US" sz="1100" dirty="0"/>
          </a:p>
        </p:txBody>
      </p:sp>
      <p:sp>
        <p:nvSpPr>
          <p:cNvPr id="25" name="Shape 23"/>
          <p:cNvSpPr/>
          <p:nvPr/>
        </p:nvSpPr>
        <p:spPr>
          <a:xfrm>
            <a:off x="4251960" y="3337560"/>
            <a:ext cx="3657600" cy="1371600"/>
          </a:xfrm>
          <a:prstGeom prst="roundRect">
            <a:avLst>
              <a:gd name="adj" fmla="val 5333"/>
            </a:avLst>
          </a:prstGeom>
          <a:solidFill>
            <a:srgbClr val="FFFFFF"/>
          </a:solidFill>
          <a:ln w="12700">
            <a:solidFill>
              <a:srgbClr val="CADCFC"/>
            </a:solidFill>
            <a:prstDash val="solid"/>
          </a:ln>
          <a:effectLst>
            <a:outerShdw sx="100000" sy="100000" kx="0" ky="0" algn="bl" rotWithShape="0" blurRad="76200" dist="25400" dir="2700000">
              <a:srgbClr val="AAAAAA">
                <a:alpha val="12000"/>
              </a:srgbClr>
            </a:outerShdw>
          </a:effectLst>
        </p:spPr>
      </p:sp>
      <p:sp>
        <p:nvSpPr>
          <p:cNvPr id="26" name="Shape 24"/>
          <p:cNvSpPr/>
          <p:nvPr/>
        </p:nvSpPr>
        <p:spPr>
          <a:xfrm>
            <a:off x="4434840" y="3566160"/>
            <a:ext cx="320040" cy="320040"/>
          </a:xfrm>
          <a:prstGeom prst="ellipse">
            <a:avLst/>
          </a:prstGeom>
          <a:solidFill>
            <a:srgbClr val="1C7293"/>
          </a:solidFill>
          <a:ln w="12700">
            <a:solidFill>
              <a:srgbClr val="1C7293"/>
            </a:solidFill>
            <a:prstDash val="solid"/>
          </a:ln>
        </p:spPr>
      </p:sp>
      <p:sp>
        <p:nvSpPr>
          <p:cNvPr id="27" name="Text 25"/>
          <p:cNvSpPr/>
          <p:nvPr/>
        </p:nvSpPr>
        <p:spPr>
          <a:xfrm>
            <a:off x="4892040" y="3474720"/>
            <a:ext cx="283464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Azure AI Foundry</a:t>
            </a:r>
            <a:endParaRPr lang="en-US" sz="1500" dirty="0"/>
          </a:p>
        </p:txBody>
      </p:sp>
      <p:sp>
        <p:nvSpPr>
          <p:cNvPr id="28" name="Text 26"/>
          <p:cNvSpPr/>
          <p:nvPr/>
        </p:nvSpPr>
        <p:spPr>
          <a:xfrm>
            <a:off x="4892040" y="3794760"/>
            <a:ext cx="2834640" cy="320040"/>
          </a:xfrm>
          <a:prstGeom prst="rect">
            <a:avLst/>
          </a:prstGeom>
          <a:noFill/>
          <a:ln/>
        </p:spPr>
        <p:txBody>
          <a:bodyPr wrap="square" lIns="0" tIns="0" rIns="0" bIns="0" rtlCol="0" anchor="ctr"/>
          <a:lstStyle/>
          <a:p>
            <a:pPr indent="0" marL="0">
              <a:buNone/>
            </a:pPr>
            <a:r>
              <a:rPr lang="en-US" sz="1100" i="1" dirty="0">
                <a:solidFill>
                  <a:srgbClr val="1C7293"/>
                </a:solidFill>
                <a:latin typeface="Calibri" pitchFamily="34" charset="0"/>
                <a:ea typeface="Calibri" pitchFamily="34" charset="-122"/>
                <a:cs typeface="Calibri" pitchFamily="34" charset="-120"/>
              </a:rPr>
              <a:t>Model + orchestrator</a:t>
            </a:r>
            <a:endParaRPr lang="en-US" sz="1100" dirty="0"/>
          </a:p>
        </p:txBody>
      </p:sp>
      <p:sp>
        <p:nvSpPr>
          <p:cNvPr id="29" name="Text 27"/>
          <p:cNvSpPr/>
          <p:nvPr/>
        </p:nvSpPr>
        <p:spPr>
          <a:xfrm>
            <a:off x="4434840" y="4206240"/>
            <a:ext cx="3291840" cy="457200"/>
          </a:xfrm>
          <a:prstGeom prst="rect">
            <a:avLst/>
          </a:prstGeom>
          <a:noFill/>
          <a:ln/>
        </p:spPr>
        <p:txBody>
          <a:bodyPr wrap="square" lIns="0" tIns="0" rIns="0" bIns="0" rtlCol="0" anchor="ctr"/>
          <a:lstStyle/>
          <a:p>
            <a:pPr indent="0" marL="0">
              <a:buNone/>
            </a:pPr>
            <a:r>
              <a:rPr lang="en-US" sz="1100" dirty="0">
                <a:solidFill>
                  <a:srgbClr val="6B7B8C"/>
                </a:solidFill>
                <a:latin typeface="Calibri" pitchFamily="34" charset="0"/>
                <a:ea typeface="Calibri" pitchFamily="34" charset="-122"/>
                <a:cs typeface="Calibri" pitchFamily="34" charset="-120"/>
              </a:rPr>
              <a:t>LLM reasoning, tool selection, response generation</a:t>
            </a:r>
            <a:endParaRPr lang="en-US" sz="1100" dirty="0"/>
          </a:p>
        </p:txBody>
      </p:sp>
      <p:sp>
        <p:nvSpPr>
          <p:cNvPr id="30" name="Shape 28"/>
          <p:cNvSpPr/>
          <p:nvPr/>
        </p:nvSpPr>
        <p:spPr>
          <a:xfrm>
            <a:off x="8046720" y="3337560"/>
            <a:ext cx="3657600" cy="1371600"/>
          </a:xfrm>
          <a:prstGeom prst="roundRect">
            <a:avLst>
              <a:gd name="adj" fmla="val 5333"/>
            </a:avLst>
          </a:prstGeom>
          <a:solidFill>
            <a:srgbClr val="FFFFFF"/>
          </a:solidFill>
          <a:ln w="12700">
            <a:solidFill>
              <a:srgbClr val="CADCFC"/>
            </a:solidFill>
            <a:prstDash val="solid"/>
          </a:ln>
          <a:effectLst>
            <a:outerShdw sx="100000" sy="100000" kx="0" ky="0" algn="bl" rotWithShape="0" blurRad="76200" dist="25400" dir="2700000">
              <a:srgbClr val="AAAAAA">
                <a:alpha val="12000"/>
              </a:srgbClr>
            </a:outerShdw>
          </a:effectLst>
        </p:spPr>
      </p:sp>
      <p:sp>
        <p:nvSpPr>
          <p:cNvPr id="31" name="Shape 29"/>
          <p:cNvSpPr/>
          <p:nvPr/>
        </p:nvSpPr>
        <p:spPr>
          <a:xfrm>
            <a:off x="8229600" y="3566160"/>
            <a:ext cx="320040" cy="320040"/>
          </a:xfrm>
          <a:prstGeom prst="ellipse">
            <a:avLst/>
          </a:prstGeom>
          <a:solidFill>
            <a:srgbClr val="13315C"/>
          </a:solidFill>
          <a:ln w="12700">
            <a:solidFill>
              <a:srgbClr val="13315C"/>
            </a:solidFill>
            <a:prstDash val="solid"/>
          </a:ln>
        </p:spPr>
      </p:sp>
      <p:sp>
        <p:nvSpPr>
          <p:cNvPr id="32" name="Text 30"/>
          <p:cNvSpPr/>
          <p:nvPr/>
        </p:nvSpPr>
        <p:spPr>
          <a:xfrm>
            <a:off x="8686800" y="3474720"/>
            <a:ext cx="283464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Microsoft Entra</a:t>
            </a:r>
            <a:endParaRPr lang="en-US" sz="1500" dirty="0"/>
          </a:p>
        </p:txBody>
      </p:sp>
      <p:sp>
        <p:nvSpPr>
          <p:cNvPr id="33" name="Text 31"/>
          <p:cNvSpPr/>
          <p:nvPr/>
        </p:nvSpPr>
        <p:spPr>
          <a:xfrm>
            <a:off x="8686800" y="3794760"/>
            <a:ext cx="2834640" cy="320040"/>
          </a:xfrm>
          <a:prstGeom prst="rect">
            <a:avLst/>
          </a:prstGeom>
          <a:noFill/>
          <a:ln/>
        </p:spPr>
        <p:txBody>
          <a:bodyPr wrap="square" lIns="0" tIns="0" rIns="0" bIns="0" rtlCol="0" anchor="ctr"/>
          <a:lstStyle/>
          <a:p>
            <a:pPr indent="0" marL="0">
              <a:buNone/>
            </a:pPr>
            <a:r>
              <a:rPr lang="en-US" sz="1100" i="1" dirty="0">
                <a:solidFill>
                  <a:srgbClr val="13315C"/>
                </a:solidFill>
                <a:latin typeface="Calibri" pitchFamily="34" charset="0"/>
                <a:ea typeface="Calibri" pitchFamily="34" charset="-122"/>
                <a:cs typeface="Calibri" pitchFamily="34" charset="-120"/>
              </a:rPr>
              <a:t>Identity + Agent ID</a:t>
            </a:r>
            <a:endParaRPr lang="en-US" sz="1100" dirty="0"/>
          </a:p>
        </p:txBody>
      </p:sp>
      <p:sp>
        <p:nvSpPr>
          <p:cNvPr id="34" name="Text 32"/>
          <p:cNvSpPr/>
          <p:nvPr/>
        </p:nvSpPr>
        <p:spPr>
          <a:xfrm>
            <a:off x="8229600" y="4206240"/>
            <a:ext cx="3291840" cy="457200"/>
          </a:xfrm>
          <a:prstGeom prst="rect">
            <a:avLst/>
          </a:prstGeom>
          <a:noFill/>
          <a:ln/>
        </p:spPr>
        <p:txBody>
          <a:bodyPr wrap="square" lIns="0" tIns="0" rIns="0" bIns="0" rtlCol="0" anchor="ctr"/>
          <a:lstStyle/>
          <a:p>
            <a:pPr indent="0" marL="0">
              <a:buNone/>
            </a:pPr>
            <a:r>
              <a:rPr lang="en-US" sz="1100" dirty="0">
                <a:solidFill>
                  <a:srgbClr val="6B7B8C"/>
                </a:solidFill>
                <a:latin typeface="Calibri" pitchFamily="34" charset="0"/>
                <a:ea typeface="Calibri" pitchFamily="34" charset="-122"/>
                <a:cs typeface="Calibri" pitchFamily="34" charset="-120"/>
              </a:rPr>
              <a:t>Token issuance, authorization, sign-in logs</a:t>
            </a:r>
            <a:endParaRPr lang="en-US" sz="1100" dirty="0"/>
          </a:p>
        </p:txBody>
      </p:sp>
      <p:sp>
        <p:nvSpPr>
          <p:cNvPr id="35" name="Text 33"/>
          <p:cNvSpPr/>
          <p:nvPr/>
        </p:nvSpPr>
        <p:spPr>
          <a:xfrm>
            <a:off x="457200" y="4892040"/>
            <a:ext cx="11247120" cy="457200"/>
          </a:xfrm>
          <a:prstGeom prst="rect">
            <a:avLst/>
          </a:prstGeom>
          <a:noFill/>
          <a:ln/>
        </p:spPr>
        <p:txBody>
          <a:bodyPr wrap="square" lIns="0" tIns="0" rIns="0" bIns="0" rtlCol="0" anchor="ctr"/>
          <a:lstStyle/>
          <a:p>
            <a:pPr indent="0" marL="0">
              <a:buNone/>
            </a:pPr>
            <a:r>
              <a:rPr lang="en-US" sz="1300" i="1" dirty="0">
                <a:solidFill>
                  <a:srgbClr val="1C7293"/>
                </a:solidFill>
                <a:latin typeface="Calibri" pitchFamily="34" charset="0"/>
                <a:ea typeface="Calibri" pitchFamily="34" charset="-122"/>
                <a:cs typeface="Calibri" pitchFamily="34" charset="-120"/>
              </a:rPr>
              <a:t>Every system on this slide expects an identity to authenticate — a person, an app, or an agent. Never a shared password.</a:t>
            </a:r>
            <a:endParaRPr lang="en-US" sz="1300" dirty="0"/>
          </a:p>
        </p:txBody>
      </p:sp>
      <p:sp>
        <p:nvSpPr>
          <p:cNvPr id="36" name="Shape 34"/>
          <p:cNvSpPr/>
          <p:nvPr/>
        </p:nvSpPr>
        <p:spPr>
          <a:xfrm>
            <a:off x="457200" y="5577840"/>
            <a:ext cx="11247120" cy="777240"/>
          </a:xfrm>
          <a:prstGeom prst="roundRect">
            <a:avLst>
              <a:gd name="adj" fmla="val 9412"/>
            </a:avLst>
          </a:prstGeom>
          <a:solidFill>
            <a:srgbClr val="FCEBCF"/>
          </a:solidFill>
          <a:ln w="12700">
            <a:solidFill>
              <a:srgbClr val="F5A623"/>
            </a:solidFill>
            <a:prstDash val="solid"/>
          </a:ln>
        </p:spPr>
      </p:sp>
      <p:sp>
        <p:nvSpPr>
          <p:cNvPr id="37" name="Text 35"/>
          <p:cNvSpPr/>
          <p:nvPr/>
        </p:nvSpPr>
        <p:spPr>
          <a:xfrm>
            <a:off x="640080" y="5577840"/>
            <a:ext cx="10972800" cy="7772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The question this raises →  How does one AI agent authenticate to six different systems, safely, without shared secrets, and with a full audit trail?</a:t>
            </a:r>
            <a:endParaRPr lang="en-US" sz="1300" dirty="0"/>
          </a:p>
        </p:txBody>
      </p:sp>
      <p:sp>
        <p:nvSpPr>
          <p:cNvPr id="38" name="Text 36"/>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39" name="Text 37"/>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5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01  HIGH-LEVEL SOLUTION DESIGN</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Architecture at a glance</a:t>
            </a:r>
            <a:endParaRPr lang="en-US" sz="3200" dirty="0"/>
          </a:p>
        </p:txBody>
      </p:sp>
      <p:sp>
        <p:nvSpPr>
          <p:cNvPr id="5" name="Text 3"/>
          <p:cNvSpPr/>
          <p:nvPr/>
        </p:nvSpPr>
        <p:spPr>
          <a:xfrm>
            <a:off x="182880" y="1828800"/>
            <a:ext cx="731520" cy="365760"/>
          </a:xfrm>
          <a:prstGeom prst="rect">
            <a:avLst/>
          </a:prstGeom>
          <a:noFill/>
          <a:ln/>
        </p:spPr>
        <p:txBody>
          <a:bodyPr wrap="square" lIns="0" tIns="0" rIns="0" bIns="0" rtlCol="0" anchor="ctr"/>
          <a:lstStyle/>
          <a:p>
            <a:pPr indent="0" marL="0">
              <a:buNone/>
            </a:pPr>
            <a:r>
              <a:rPr lang="en-US" sz="900" b="1" spc="300" kern="0" dirty="0">
                <a:solidFill>
                  <a:srgbClr val="6B7B8C"/>
                </a:solidFill>
                <a:latin typeface="Calibri" pitchFamily="34" charset="0"/>
                <a:ea typeface="Calibri" pitchFamily="34" charset="-122"/>
                <a:cs typeface="Calibri" pitchFamily="34" charset="-120"/>
              </a:rPr>
              <a:t>USER</a:t>
            </a:r>
            <a:endParaRPr lang="en-US" sz="900" dirty="0"/>
          </a:p>
        </p:txBody>
      </p:sp>
      <p:sp>
        <p:nvSpPr>
          <p:cNvPr id="6" name="Text 4"/>
          <p:cNvSpPr/>
          <p:nvPr/>
        </p:nvSpPr>
        <p:spPr>
          <a:xfrm>
            <a:off x="182880" y="2834640"/>
            <a:ext cx="731520" cy="365760"/>
          </a:xfrm>
          <a:prstGeom prst="rect">
            <a:avLst/>
          </a:prstGeom>
          <a:noFill/>
          <a:ln/>
        </p:spPr>
        <p:txBody>
          <a:bodyPr wrap="square" lIns="0" tIns="0" rIns="0" bIns="0" rtlCol="0" anchor="ctr"/>
          <a:lstStyle/>
          <a:p>
            <a:pPr indent="0" marL="0">
              <a:buNone/>
            </a:pPr>
            <a:r>
              <a:rPr lang="en-US" sz="900" b="1" spc="300" kern="0" dirty="0">
                <a:solidFill>
                  <a:srgbClr val="6B7B8C"/>
                </a:solidFill>
                <a:latin typeface="Calibri" pitchFamily="34" charset="0"/>
                <a:ea typeface="Calibri" pitchFamily="34" charset="-122"/>
                <a:cs typeface="Calibri" pitchFamily="34" charset="-120"/>
              </a:rPr>
              <a:t>AGENT</a:t>
            </a:r>
            <a:endParaRPr lang="en-US" sz="900" dirty="0"/>
          </a:p>
        </p:txBody>
      </p:sp>
      <p:sp>
        <p:nvSpPr>
          <p:cNvPr id="7" name="Text 5"/>
          <p:cNvSpPr/>
          <p:nvPr/>
        </p:nvSpPr>
        <p:spPr>
          <a:xfrm>
            <a:off x="182880" y="4114800"/>
            <a:ext cx="731520" cy="365760"/>
          </a:xfrm>
          <a:prstGeom prst="rect">
            <a:avLst/>
          </a:prstGeom>
          <a:noFill/>
          <a:ln/>
        </p:spPr>
        <p:txBody>
          <a:bodyPr wrap="square" lIns="0" tIns="0" rIns="0" bIns="0" rtlCol="0" anchor="ctr"/>
          <a:lstStyle/>
          <a:p>
            <a:pPr indent="0" marL="0">
              <a:buNone/>
            </a:pPr>
            <a:r>
              <a:rPr lang="en-US" sz="900" b="1" spc="300" kern="0" dirty="0">
                <a:solidFill>
                  <a:srgbClr val="6B7B8C"/>
                </a:solidFill>
                <a:latin typeface="Calibri" pitchFamily="34" charset="0"/>
                <a:ea typeface="Calibri" pitchFamily="34" charset="-122"/>
                <a:cs typeface="Calibri" pitchFamily="34" charset="-120"/>
              </a:rPr>
              <a:t>IDENTITY</a:t>
            </a:r>
            <a:endParaRPr lang="en-US" sz="900" dirty="0"/>
          </a:p>
        </p:txBody>
      </p:sp>
      <p:sp>
        <p:nvSpPr>
          <p:cNvPr id="8" name="Text 6"/>
          <p:cNvSpPr/>
          <p:nvPr/>
        </p:nvSpPr>
        <p:spPr>
          <a:xfrm>
            <a:off x="182880" y="5394960"/>
            <a:ext cx="731520" cy="365760"/>
          </a:xfrm>
          <a:prstGeom prst="rect">
            <a:avLst/>
          </a:prstGeom>
          <a:noFill/>
          <a:ln/>
        </p:spPr>
        <p:txBody>
          <a:bodyPr wrap="square" lIns="0" tIns="0" rIns="0" bIns="0" rtlCol="0" anchor="ctr"/>
          <a:lstStyle/>
          <a:p>
            <a:pPr indent="0" marL="0">
              <a:buNone/>
            </a:pPr>
            <a:r>
              <a:rPr lang="en-US" sz="900" b="1" spc="300" kern="0" dirty="0">
                <a:solidFill>
                  <a:srgbClr val="6B7B8C"/>
                </a:solidFill>
                <a:latin typeface="Calibri" pitchFamily="34" charset="0"/>
                <a:ea typeface="Calibri" pitchFamily="34" charset="-122"/>
                <a:cs typeface="Calibri" pitchFamily="34" charset="-120"/>
              </a:rPr>
              <a:t>DATA</a:t>
            </a:r>
            <a:endParaRPr lang="en-US" sz="900" dirty="0"/>
          </a:p>
        </p:txBody>
      </p:sp>
      <p:sp>
        <p:nvSpPr>
          <p:cNvPr id="9" name="Shape 7"/>
          <p:cNvSpPr/>
          <p:nvPr/>
        </p:nvSpPr>
        <p:spPr>
          <a:xfrm>
            <a:off x="1097280" y="1737360"/>
            <a:ext cx="2286000" cy="685800"/>
          </a:xfrm>
          <a:prstGeom prst="roundRect">
            <a:avLst>
              <a:gd name="adj" fmla="val 10667"/>
            </a:avLst>
          </a:prstGeom>
          <a:solidFill>
            <a:srgbClr val="FFFFFF"/>
          </a:solidFill>
          <a:ln w="19050">
            <a:solidFill>
              <a:srgbClr val="0B1F3A"/>
            </a:solidFill>
            <a:prstDash val="solid"/>
          </a:ln>
        </p:spPr>
      </p:sp>
      <p:sp>
        <p:nvSpPr>
          <p:cNvPr id="10" name="Text 8"/>
          <p:cNvSpPr/>
          <p:nvPr/>
        </p:nvSpPr>
        <p:spPr>
          <a:xfrm>
            <a:off x="1097280" y="1737360"/>
            <a:ext cx="2286000" cy="68580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  Employee</a:t>
            </a:r>
            <a:endParaRPr lang="en-US" sz="1200" dirty="0"/>
          </a:p>
          <a:p>
            <a:pPr algn="ctr" indent="0" marL="0">
              <a:buNone/>
            </a:pPr>
            <a:r>
              <a:rPr lang="en-US" sz="1200" b="1" dirty="0">
                <a:solidFill>
                  <a:srgbClr val="0F172A"/>
                </a:solidFill>
                <a:latin typeface="Calibri" pitchFamily="34" charset="0"/>
                <a:ea typeface="Calibri" pitchFamily="34" charset="-122"/>
                <a:cs typeface="Calibri" pitchFamily="34" charset="-120"/>
              </a:rPr>
              <a:t>in Microsoft Teams</a:t>
            </a:r>
            <a:endParaRPr lang="en-US" sz="1200" dirty="0"/>
          </a:p>
        </p:txBody>
      </p:sp>
      <p:sp>
        <p:nvSpPr>
          <p:cNvPr id="11" name="Shape 9"/>
          <p:cNvSpPr/>
          <p:nvPr/>
        </p:nvSpPr>
        <p:spPr>
          <a:xfrm>
            <a:off x="2240280" y="2468880"/>
            <a:ext cx="0" cy="320040"/>
          </a:xfrm>
          <a:prstGeom prst="line">
            <a:avLst/>
          </a:prstGeom>
          <a:noFill/>
          <a:ln w="19050">
            <a:solidFill>
              <a:srgbClr val="6B7B8C"/>
            </a:solidFill>
            <a:prstDash val="solid"/>
            <a:tailEnd type="triangle"/>
          </a:ln>
        </p:spPr>
      </p:sp>
      <p:sp>
        <p:nvSpPr>
          <p:cNvPr id="12" name="Shape 10"/>
          <p:cNvSpPr/>
          <p:nvPr/>
        </p:nvSpPr>
        <p:spPr>
          <a:xfrm>
            <a:off x="1097280" y="2834640"/>
            <a:ext cx="2286000" cy="914400"/>
          </a:xfrm>
          <a:prstGeom prst="roundRect">
            <a:avLst>
              <a:gd name="adj" fmla="val 8000"/>
            </a:avLst>
          </a:prstGeom>
          <a:solidFill>
            <a:srgbClr val="13315C"/>
          </a:solidFill>
          <a:ln w="12700">
            <a:solidFill>
              <a:srgbClr val="13315C"/>
            </a:solidFill>
            <a:prstDash val="solid"/>
          </a:ln>
        </p:spPr>
      </p:sp>
      <p:sp>
        <p:nvSpPr>
          <p:cNvPr id="13" name="Text 11"/>
          <p:cNvSpPr/>
          <p:nvPr/>
        </p:nvSpPr>
        <p:spPr>
          <a:xfrm>
            <a:off x="1097280" y="2880360"/>
            <a:ext cx="22860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Procurement Agent</a:t>
            </a:r>
            <a:endParaRPr lang="en-US" sz="1300" dirty="0"/>
          </a:p>
        </p:txBody>
      </p:sp>
      <p:sp>
        <p:nvSpPr>
          <p:cNvPr id="14" name="Text 12"/>
          <p:cNvSpPr/>
          <p:nvPr/>
        </p:nvSpPr>
        <p:spPr>
          <a:xfrm>
            <a:off x="1097280" y="3200400"/>
            <a:ext cx="2286000" cy="54864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Copilot Studio  /</a:t>
            </a:r>
            <a:endParaRPr lang="en-US" sz="1000" dirty="0"/>
          </a:p>
          <a:p>
            <a:pPr algn="ctr" indent="0" marL="0">
              <a:buNone/>
            </a:pPr>
            <a:r>
              <a:rPr lang="en-US" sz="1000" dirty="0">
                <a:solidFill>
                  <a:srgbClr val="CADCFC"/>
                </a:solidFill>
                <a:latin typeface="Calibri" pitchFamily="34" charset="0"/>
                <a:ea typeface="Calibri" pitchFamily="34" charset="-122"/>
                <a:cs typeface="Calibri" pitchFamily="34" charset="-120"/>
              </a:rPr>
              <a:t>Azure AI Foundry</a:t>
            </a:r>
            <a:endParaRPr lang="en-US" sz="1000" dirty="0"/>
          </a:p>
        </p:txBody>
      </p:sp>
      <p:sp>
        <p:nvSpPr>
          <p:cNvPr id="15" name="Shape 13"/>
          <p:cNvSpPr/>
          <p:nvPr/>
        </p:nvSpPr>
        <p:spPr>
          <a:xfrm>
            <a:off x="3429000" y="3291840"/>
            <a:ext cx="1051560" cy="0"/>
          </a:xfrm>
          <a:prstGeom prst="line">
            <a:avLst/>
          </a:prstGeom>
          <a:noFill/>
          <a:ln w="25400">
            <a:solidFill>
              <a:srgbClr val="F5A623"/>
            </a:solidFill>
            <a:prstDash val="solid"/>
            <a:tailEnd type="triangle"/>
          </a:ln>
        </p:spPr>
      </p:sp>
      <p:sp>
        <p:nvSpPr>
          <p:cNvPr id="16" name="Text 14"/>
          <p:cNvSpPr/>
          <p:nvPr/>
        </p:nvSpPr>
        <p:spPr>
          <a:xfrm>
            <a:off x="3429000" y="2926080"/>
            <a:ext cx="1051560" cy="274320"/>
          </a:xfrm>
          <a:prstGeom prst="rect">
            <a:avLst/>
          </a:prstGeom>
          <a:noFill/>
          <a:ln/>
        </p:spPr>
        <p:txBody>
          <a:bodyPr wrap="square" lIns="0" tIns="0" rIns="0" bIns="0" rtlCol="0" anchor="ctr"/>
          <a:lstStyle/>
          <a:p>
            <a:pPr algn="ctr" indent="0" marL="0">
              <a:buNone/>
            </a:pPr>
            <a:r>
              <a:rPr lang="en-US" sz="900" i="1" dirty="0">
                <a:solidFill>
                  <a:srgbClr val="F5A623"/>
                </a:solidFill>
                <a:latin typeface="Calibri" pitchFamily="34" charset="0"/>
                <a:ea typeface="Calibri" pitchFamily="34" charset="-122"/>
                <a:cs typeface="Calibri" pitchFamily="34" charset="-120"/>
              </a:rPr>
              <a:t>authenticate</a:t>
            </a:r>
            <a:endParaRPr lang="en-US" sz="900" dirty="0"/>
          </a:p>
        </p:txBody>
      </p:sp>
      <p:sp>
        <p:nvSpPr>
          <p:cNvPr id="17" name="Shape 15"/>
          <p:cNvSpPr/>
          <p:nvPr/>
        </p:nvSpPr>
        <p:spPr>
          <a:xfrm>
            <a:off x="4480560" y="2834640"/>
            <a:ext cx="3200400" cy="914400"/>
          </a:xfrm>
          <a:prstGeom prst="roundRect">
            <a:avLst>
              <a:gd name="adj" fmla="val 8000"/>
            </a:avLst>
          </a:prstGeom>
          <a:solidFill>
            <a:srgbClr val="F5A623"/>
          </a:solidFill>
          <a:ln w="12700">
            <a:solidFill>
              <a:srgbClr val="F5A623"/>
            </a:solidFill>
            <a:prstDash val="solid"/>
          </a:ln>
        </p:spPr>
      </p:sp>
      <p:sp>
        <p:nvSpPr>
          <p:cNvPr id="18" name="Text 16"/>
          <p:cNvSpPr/>
          <p:nvPr/>
        </p:nvSpPr>
        <p:spPr>
          <a:xfrm>
            <a:off x="4480560" y="2880360"/>
            <a:ext cx="3200400" cy="32004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Microsoft Entra Agent ID</a:t>
            </a:r>
            <a:endParaRPr lang="en-US" sz="1400" dirty="0"/>
          </a:p>
        </p:txBody>
      </p:sp>
      <p:sp>
        <p:nvSpPr>
          <p:cNvPr id="19" name="Text 17"/>
          <p:cNvSpPr/>
          <p:nvPr/>
        </p:nvSpPr>
        <p:spPr>
          <a:xfrm>
            <a:off x="4480560" y="3246120"/>
            <a:ext cx="3200400" cy="457200"/>
          </a:xfrm>
          <a:prstGeom prst="rect">
            <a:avLst/>
          </a:prstGeom>
          <a:noFill/>
          <a:ln/>
        </p:spPr>
        <p:txBody>
          <a:bodyPr wrap="square" lIns="0" tIns="0" rIns="0" bIns="0" rtlCol="0" anchor="ctr"/>
          <a:lstStyle/>
          <a:p>
            <a:pPr algn="ctr" indent="0" marL="0">
              <a:buNone/>
            </a:pPr>
            <a:r>
              <a:rPr lang="en-US" sz="1000" i="1" dirty="0">
                <a:solidFill>
                  <a:srgbClr val="0B1F3A"/>
                </a:solidFill>
                <a:latin typeface="Calibri" pitchFamily="34" charset="0"/>
                <a:ea typeface="Calibri" pitchFamily="34" charset="-122"/>
                <a:cs typeface="Calibri" pitchFamily="34" charset="-120"/>
              </a:rPr>
              <a:t>Identity  •  Tokens  •  Consent  •  Policy</a:t>
            </a:r>
            <a:endParaRPr lang="en-US" sz="1000" dirty="0"/>
          </a:p>
        </p:txBody>
      </p:sp>
      <p:sp>
        <p:nvSpPr>
          <p:cNvPr id="20" name="Shape 18"/>
          <p:cNvSpPr/>
          <p:nvPr/>
        </p:nvSpPr>
        <p:spPr>
          <a:xfrm>
            <a:off x="7680960" y="3291840"/>
            <a:ext cx="914400" cy="0"/>
          </a:xfrm>
          <a:prstGeom prst="line">
            <a:avLst/>
          </a:prstGeom>
          <a:noFill/>
          <a:ln w="19050">
            <a:solidFill>
              <a:srgbClr val="6B7B8C"/>
            </a:solidFill>
            <a:prstDash val="solid"/>
            <a:tailEnd type="triangle"/>
          </a:ln>
        </p:spPr>
      </p:sp>
      <p:sp>
        <p:nvSpPr>
          <p:cNvPr id="21" name="Text 19"/>
          <p:cNvSpPr/>
          <p:nvPr/>
        </p:nvSpPr>
        <p:spPr>
          <a:xfrm>
            <a:off x="7680960" y="2926080"/>
            <a:ext cx="914400" cy="274320"/>
          </a:xfrm>
          <a:prstGeom prst="rect">
            <a:avLst/>
          </a:prstGeom>
          <a:noFill/>
          <a:ln/>
        </p:spPr>
        <p:txBody>
          <a:bodyPr wrap="square" lIns="0" tIns="0" rIns="0" bIns="0" rtlCol="0" anchor="ctr"/>
          <a:lstStyle/>
          <a:p>
            <a:pPr algn="ctr" indent="0" marL="0">
              <a:buNone/>
            </a:pPr>
            <a:r>
              <a:rPr lang="en-US" sz="900" i="1" dirty="0">
                <a:solidFill>
                  <a:srgbClr val="6B7B8C"/>
                </a:solidFill>
                <a:latin typeface="Calibri" pitchFamily="34" charset="0"/>
                <a:ea typeface="Calibri" pitchFamily="34" charset="-122"/>
                <a:cs typeface="Calibri" pitchFamily="34" charset="-120"/>
              </a:rPr>
              <a:t>token</a:t>
            </a:r>
            <a:endParaRPr lang="en-US" sz="900" dirty="0"/>
          </a:p>
        </p:txBody>
      </p:sp>
      <p:sp>
        <p:nvSpPr>
          <p:cNvPr id="22" name="Shape 20"/>
          <p:cNvSpPr/>
          <p:nvPr/>
        </p:nvSpPr>
        <p:spPr>
          <a:xfrm>
            <a:off x="8595360" y="2834640"/>
            <a:ext cx="3108960" cy="914400"/>
          </a:xfrm>
          <a:prstGeom prst="roundRect">
            <a:avLst>
              <a:gd name="adj" fmla="val 8000"/>
            </a:avLst>
          </a:prstGeom>
          <a:solidFill>
            <a:srgbClr val="13315C"/>
          </a:solidFill>
          <a:ln w="12700">
            <a:solidFill>
              <a:srgbClr val="13315C"/>
            </a:solidFill>
            <a:prstDash val="solid"/>
          </a:ln>
        </p:spPr>
      </p:sp>
      <p:sp>
        <p:nvSpPr>
          <p:cNvPr id="23" name="Text 21"/>
          <p:cNvSpPr/>
          <p:nvPr/>
        </p:nvSpPr>
        <p:spPr>
          <a:xfrm>
            <a:off x="8595360" y="2880360"/>
            <a:ext cx="310896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Tool / API Layer</a:t>
            </a:r>
            <a:endParaRPr lang="en-US" sz="1300" dirty="0"/>
          </a:p>
        </p:txBody>
      </p:sp>
      <p:sp>
        <p:nvSpPr>
          <p:cNvPr id="24" name="Text 22"/>
          <p:cNvSpPr/>
          <p:nvPr/>
        </p:nvSpPr>
        <p:spPr>
          <a:xfrm>
            <a:off x="8595360" y="3246120"/>
            <a:ext cx="3108960" cy="45720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MCP  •  Graph SDK  •  REST connectors</a:t>
            </a:r>
            <a:endParaRPr lang="en-US" sz="1000" dirty="0"/>
          </a:p>
        </p:txBody>
      </p:sp>
      <p:sp>
        <p:nvSpPr>
          <p:cNvPr id="25" name="Shape 23"/>
          <p:cNvSpPr/>
          <p:nvPr/>
        </p:nvSpPr>
        <p:spPr>
          <a:xfrm>
            <a:off x="4480560" y="3931920"/>
            <a:ext cx="3200400" cy="685800"/>
          </a:xfrm>
          <a:prstGeom prst="roundRect">
            <a:avLst>
              <a:gd name="adj" fmla="val 8000"/>
            </a:avLst>
          </a:prstGeom>
          <a:solidFill>
            <a:srgbClr val="FCEBCF"/>
          </a:solidFill>
          <a:ln w="12700">
            <a:solidFill>
              <a:srgbClr val="F5A623"/>
            </a:solidFill>
            <a:prstDash val="solid"/>
          </a:ln>
        </p:spPr>
      </p:sp>
      <p:sp>
        <p:nvSpPr>
          <p:cNvPr id="26" name="Text 24"/>
          <p:cNvSpPr/>
          <p:nvPr/>
        </p:nvSpPr>
        <p:spPr>
          <a:xfrm>
            <a:off x="4480560" y="3931920"/>
            <a:ext cx="3200400" cy="685800"/>
          </a:xfrm>
          <a:prstGeom prst="rect">
            <a:avLst/>
          </a:prstGeom>
          <a:no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Conditional Access  •  Purview  •  Defender for Cloud Apps</a:t>
            </a:r>
            <a:endParaRPr lang="en-US" sz="1000" dirty="0"/>
          </a:p>
        </p:txBody>
      </p:sp>
      <p:sp>
        <p:nvSpPr>
          <p:cNvPr id="27" name="Shape 25"/>
          <p:cNvSpPr/>
          <p:nvPr/>
        </p:nvSpPr>
        <p:spPr>
          <a:xfrm>
            <a:off x="10149840" y="3749040"/>
            <a:ext cx="0" cy="1280160"/>
          </a:xfrm>
          <a:prstGeom prst="line">
            <a:avLst/>
          </a:prstGeom>
          <a:noFill/>
          <a:ln w="19050">
            <a:solidFill>
              <a:srgbClr val="6B7B8C"/>
            </a:solidFill>
            <a:prstDash val="solid"/>
          </a:ln>
        </p:spPr>
      </p:sp>
      <p:sp>
        <p:nvSpPr>
          <p:cNvPr id="28" name="Shape 26"/>
          <p:cNvSpPr/>
          <p:nvPr/>
        </p:nvSpPr>
        <p:spPr>
          <a:xfrm>
            <a:off x="1645920" y="5029200"/>
            <a:ext cx="9052560" cy="0"/>
          </a:xfrm>
          <a:prstGeom prst="line">
            <a:avLst/>
          </a:prstGeom>
          <a:noFill/>
          <a:ln w="19050">
            <a:solidFill>
              <a:srgbClr val="6B7B8C"/>
            </a:solidFill>
            <a:prstDash val="solid"/>
          </a:ln>
        </p:spPr>
      </p:sp>
      <p:sp>
        <p:nvSpPr>
          <p:cNvPr id="29" name="Shape 27"/>
          <p:cNvSpPr/>
          <p:nvPr/>
        </p:nvSpPr>
        <p:spPr>
          <a:xfrm>
            <a:off x="1645920" y="5029200"/>
            <a:ext cx="0" cy="320040"/>
          </a:xfrm>
          <a:prstGeom prst="line">
            <a:avLst/>
          </a:prstGeom>
          <a:noFill/>
          <a:ln w="19050">
            <a:solidFill>
              <a:srgbClr val="6B7B8C"/>
            </a:solidFill>
            <a:prstDash val="solid"/>
            <a:tailEnd type="triangle"/>
          </a:ln>
        </p:spPr>
      </p:sp>
      <p:sp>
        <p:nvSpPr>
          <p:cNvPr id="30" name="Shape 28"/>
          <p:cNvSpPr/>
          <p:nvPr/>
        </p:nvSpPr>
        <p:spPr>
          <a:xfrm>
            <a:off x="457200" y="5394960"/>
            <a:ext cx="2377440" cy="822960"/>
          </a:xfrm>
          <a:prstGeom prst="roundRect">
            <a:avLst>
              <a:gd name="adj" fmla="val 6667"/>
            </a:avLst>
          </a:prstGeom>
          <a:solidFill>
            <a:srgbClr val="F5F7FA"/>
          </a:solidFill>
          <a:ln w="19050">
            <a:solidFill>
              <a:srgbClr val="1C7293"/>
            </a:solidFill>
            <a:prstDash val="solid"/>
          </a:ln>
        </p:spPr>
      </p:sp>
      <p:sp>
        <p:nvSpPr>
          <p:cNvPr id="31" name="Text 29"/>
          <p:cNvSpPr/>
          <p:nvPr/>
        </p:nvSpPr>
        <p:spPr>
          <a:xfrm>
            <a:off x="457200" y="5394960"/>
            <a:ext cx="2377440" cy="41148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ERP</a:t>
            </a:r>
            <a:endParaRPr lang="en-US" sz="1300" dirty="0"/>
          </a:p>
        </p:txBody>
      </p:sp>
      <p:sp>
        <p:nvSpPr>
          <p:cNvPr id="32" name="Text 30"/>
          <p:cNvSpPr/>
          <p:nvPr/>
        </p:nvSpPr>
        <p:spPr>
          <a:xfrm>
            <a:off x="457200" y="5760720"/>
            <a:ext cx="2377440" cy="365760"/>
          </a:xfrm>
          <a:prstGeom prst="rect">
            <a:avLst/>
          </a:prstGeom>
          <a:noFill/>
          <a:ln/>
        </p:spPr>
        <p:txBody>
          <a:bodyPr wrap="square" lIns="0" tIns="0" rIns="0" bIns="0" rtlCol="0" anchor="ctr"/>
          <a:lstStyle/>
          <a:p>
            <a:pPr algn="ctr" indent="0" marL="0">
              <a:buNone/>
            </a:pPr>
            <a:r>
              <a:rPr lang="en-US" sz="1000" i="1" dirty="0">
                <a:solidFill>
                  <a:srgbClr val="6B7B8C"/>
                </a:solidFill>
                <a:latin typeface="Calibri" pitchFamily="34" charset="0"/>
                <a:ea typeface="Calibri" pitchFamily="34" charset="-122"/>
                <a:cs typeface="Calibri" pitchFamily="34" charset="-120"/>
              </a:rPr>
              <a:t>SAP / D365</a:t>
            </a:r>
            <a:endParaRPr lang="en-US" sz="1000" dirty="0"/>
          </a:p>
        </p:txBody>
      </p:sp>
      <p:sp>
        <p:nvSpPr>
          <p:cNvPr id="33" name="Shape 31"/>
          <p:cNvSpPr/>
          <p:nvPr/>
        </p:nvSpPr>
        <p:spPr>
          <a:xfrm>
            <a:off x="4663440" y="5029200"/>
            <a:ext cx="0" cy="320040"/>
          </a:xfrm>
          <a:prstGeom prst="line">
            <a:avLst/>
          </a:prstGeom>
          <a:noFill/>
          <a:ln w="19050">
            <a:solidFill>
              <a:srgbClr val="6B7B8C"/>
            </a:solidFill>
            <a:prstDash val="solid"/>
            <a:tailEnd type="triangle"/>
          </a:ln>
        </p:spPr>
      </p:sp>
      <p:sp>
        <p:nvSpPr>
          <p:cNvPr id="34" name="Shape 32"/>
          <p:cNvSpPr/>
          <p:nvPr/>
        </p:nvSpPr>
        <p:spPr>
          <a:xfrm>
            <a:off x="3474720" y="5394960"/>
            <a:ext cx="2377440" cy="822960"/>
          </a:xfrm>
          <a:prstGeom prst="roundRect">
            <a:avLst>
              <a:gd name="adj" fmla="val 6667"/>
            </a:avLst>
          </a:prstGeom>
          <a:solidFill>
            <a:srgbClr val="F5F7FA"/>
          </a:solidFill>
          <a:ln w="19050">
            <a:solidFill>
              <a:srgbClr val="1C7293"/>
            </a:solidFill>
            <a:prstDash val="solid"/>
          </a:ln>
        </p:spPr>
      </p:sp>
      <p:sp>
        <p:nvSpPr>
          <p:cNvPr id="35" name="Text 33"/>
          <p:cNvSpPr/>
          <p:nvPr/>
        </p:nvSpPr>
        <p:spPr>
          <a:xfrm>
            <a:off x="3474720" y="5394960"/>
            <a:ext cx="2377440" cy="41148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Vendor DB</a:t>
            </a:r>
            <a:endParaRPr lang="en-US" sz="1300" dirty="0"/>
          </a:p>
        </p:txBody>
      </p:sp>
      <p:sp>
        <p:nvSpPr>
          <p:cNvPr id="36" name="Text 34"/>
          <p:cNvSpPr/>
          <p:nvPr/>
        </p:nvSpPr>
        <p:spPr>
          <a:xfrm>
            <a:off x="3474720" y="5760720"/>
            <a:ext cx="2377440" cy="365760"/>
          </a:xfrm>
          <a:prstGeom prst="rect">
            <a:avLst/>
          </a:prstGeom>
          <a:noFill/>
          <a:ln/>
        </p:spPr>
        <p:txBody>
          <a:bodyPr wrap="square" lIns="0" tIns="0" rIns="0" bIns="0" rtlCol="0" anchor="ctr"/>
          <a:lstStyle/>
          <a:p>
            <a:pPr algn="ctr" indent="0" marL="0">
              <a:buNone/>
            </a:pPr>
            <a:r>
              <a:rPr lang="en-US" sz="1000" i="1" dirty="0">
                <a:solidFill>
                  <a:srgbClr val="6B7B8C"/>
                </a:solidFill>
                <a:latin typeface="Calibri" pitchFamily="34" charset="0"/>
                <a:ea typeface="Calibri" pitchFamily="34" charset="-122"/>
                <a:cs typeface="Calibri" pitchFamily="34" charset="-120"/>
              </a:rPr>
              <a:t>SQL / API</a:t>
            </a:r>
            <a:endParaRPr lang="en-US" sz="1000" dirty="0"/>
          </a:p>
        </p:txBody>
      </p:sp>
      <p:sp>
        <p:nvSpPr>
          <p:cNvPr id="37" name="Shape 35"/>
          <p:cNvSpPr/>
          <p:nvPr/>
        </p:nvSpPr>
        <p:spPr>
          <a:xfrm>
            <a:off x="7680960" y="5029200"/>
            <a:ext cx="0" cy="320040"/>
          </a:xfrm>
          <a:prstGeom prst="line">
            <a:avLst/>
          </a:prstGeom>
          <a:noFill/>
          <a:ln w="19050">
            <a:solidFill>
              <a:srgbClr val="6B7B8C"/>
            </a:solidFill>
            <a:prstDash val="solid"/>
            <a:tailEnd type="triangle"/>
          </a:ln>
        </p:spPr>
      </p:sp>
      <p:sp>
        <p:nvSpPr>
          <p:cNvPr id="38" name="Shape 36"/>
          <p:cNvSpPr/>
          <p:nvPr/>
        </p:nvSpPr>
        <p:spPr>
          <a:xfrm>
            <a:off x="6492240" y="5394960"/>
            <a:ext cx="2377440" cy="822960"/>
          </a:xfrm>
          <a:prstGeom prst="roundRect">
            <a:avLst>
              <a:gd name="adj" fmla="val 6667"/>
            </a:avLst>
          </a:prstGeom>
          <a:solidFill>
            <a:srgbClr val="F5F7FA"/>
          </a:solidFill>
          <a:ln w="19050">
            <a:solidFill>
              <a:srgbClr val="1C7293"/>
            </a:solidFill>
            <a:prstDash val="solid"/>
          </a:ln>
        </p:spPr>
      </p:sp>
      <p:sp>
        <p:nvSpPr>
          <p:cNvPr id="39" name="Text 37"/>
          <p:cNvSpPr/>
          <p:nvPr/>
        </p:nvSpPr>
        <p:spPr>
          <a:xfrm>
            <a:off x="6492240" y="5394960"/>
            <a:ext cx="2377440" cy="41148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SharePoint</a:t>
            </a:r>
            <a:endParaRPr lang="en-US" sz="1300" dirty="0"/>
          </a:p>
        </p:txBody>
      </p:sp>
      <p:sp>
        <p:nvSpPr>
          <p:cNvPr id="40" name="Text 38"/>
          <p:cNvSpPr/>
          <p:nvPr/>
        </p:nvSpPr>
        <p:spPr>
          <a:xfrm>
            <a:off x="6492240" y="5760720"/>
            <a:ext cx="2377440" cy="365760"/>
          </a:xfrm>
          <a:prstGeom prst="rect">
            <a:avLst/>
          </a:prstGeom>
          <a:noFill/>
          <a:ln/>
        </p:spPr>
        <p:txBody>
          <a:bodyPr wrap="square" lIns="0" tIns="0" rIns="0" bIns="0" rtlCol="0" anchor="ctr"/>
          <a:lstStyle/>
          <a:p>
            <a:pPr algn="ctr" indent="0" marL="0">
              <a:buNone/>
            </a:pPr>
            <a:r>
              <a:rPr lang="en-US" sz="1000" i="1" dirty="0">
                <a:solidFill>
                  <a:srgbClr val="6B7B8C"/>
                </a:solidFill>
                <a:latin typeface="Calibri" pitchFamily="34" charset="0"/>
                <a:ea typeface="Calibri" pitchFamily="34" charset="-122"/>
                <a:cs typeface="Calibri" pitchFamily="34" charset="-120"/>
              </a:rPr>
              <a:t>Policies</a:t>
            </a:r>
            <a:endParaRPr lang="en-US" sz="1000" dirty="0"/>
          </a:p>
        </p:txBody>
      </p:sp>
      <p:sp>
        <p:nvSpPr>
          <p:cNvPr id="41" name="Shape 39"/>
          <p:cNvSpPr/>
          <p:nvPr/>
        </p:nvSpPr>
        <p:spPr>
          <a:xfrm>
            <a:off x="10698480" y="5029200"/>
            <a:ext cx="0" cy="320040"/>
          </a:xfrm>
          <a:prstGeom prst="line">
            <a:avLst/>
          </a:prstGeom>
          <a:noFill/>
          <a:ln w="19050">
            <a:solidFill>
              <a:srgbClr val="6B7B8C"/>
            </a:solidFill>
            <a:prstDash val="solid"/>
            <a:tailEnd type="triangle"/>
          </a:ln>
        </p:spPr>
      </p:sp>
      <p:sp>
        <p:nvSpPr>
          <p:cNvPr id="42" name="Shape 40"/>
          <p:cNvSpPr/>
          <p:nvPr/>
        </p:nvSpPr>
        <p:spPr>
          <a:xfrm>
            <a:off x="9509760" y="5394960"/>
            <a:ext cx="2377440" cy="822960"/>
          </a:xfrm>
          <a:prstGeom prst="roundRect">
            <a:avLst>
              <a:gd name="adj" fmla="val 6667"/>
            </a:avLst>
          </a:prstGeom>
          <a:solidFill>
            <a:srgbClr val="F5F7FA"/>
          </a:solidFill>
          <a:ln w="19050">
            <a:solidFill>
              <a:srgbClr val="1C7293"/>
            </a:solidFill>
            <a:prstDash val="solid"/>
          </a:ln>
        </p:spPr>
      </p:sp>
      <p:sp>
        <p:nvSpPr>
          <p:cNvPr id="43" name="Text 41"/>
          <p:cNvSpPr/>
          <p:nvPr/>
        </p:nvSpPr>
        <p:spPr>
          <a:xfrm>
            <a:off x="9509760" y="5394960"/>
            <a:ext cx="2377440" cy="41148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MS Graph</a:t>
            </a:r>
            <a:endParaRPr lang="en-US" sz="1300" dirty="0"/>
          </a:p>
        </p:txBody>
      </p:sp>
      <p:sp>
        <p:nvSpPr>
          <p:cNvPr id="44" name="Text 42"/>
          <p:cNvSpPr/>
          <p:nvPr/>
        </p:nvSpPr>
        <p:spPr>
          <a:xfrm>
            <a:off x="9509760" y="5760720"/>
            <a:ext cx="2377440" cy="365760"/>
          </a:xfrm>
          <a:prstGeom prst="rect">
            <a:avLst/>
          </a:prstGeom>
          <a:noFill/>
          <a:ln/>
        </p:spPr>
        <p:txBody>
          <a:bodyPr wrap="square" lIns="0" tIns="0" rIns="0" bIns="0" rtlCol="0" anchor="ctr"/>
          <a:lstStyle/>
          <a:p>
            <a:pPr algn="ctr" indent="0" marL="0">
              <a:buNone/>
            </a:pPr>
            <a:r>
              <a:rPr lang="en-US" sz="1000" i="1" dirty="0">
                <a:solidFill>
                  <a:srgbClr val="6B7B8C"/>
                </a:solidFill>
                <a:latin typeface="Calibri" pitchFamily="34" charset="0"/>
                <a:ea typeface="Calibri" pitchFamily="34" charset="-122"/>
                <a:cs typeface="Calibri" pitchFamily="34" charset="-120"/>
              </a:rPr>
              <a:t>User ctx</a:t>
            </a:r>
            <a:endParaRPr lang="en-US" sz="1000" dirty="0"/>
          </a:p>
        </p:txBody>
      </p:sp>
      <p:sp>
        <p:nvSpPr>
          <p:cNvPr id="45" name="Text 43"/>
          <p:cNvSpPr/>
          <p:nvPr/>
        </p:nvSpPr>
        <p:spPr>
          <a:xfrm>
            <a:off x="457200" y="6355080"/>
            <a:ext cx="11247120" cy="274320"/>
          </a:xfrm>
          <a:prstGeom prst="rect">
            <a:avLst/>
          </a:prstGeom>
          <a:noFill/>
          <a:ln/>
        </p:spPr>
        <p:txBody>
          <a:bodyPr wrap="square" lIns="0" tIns="0" rIns="0" bIns="0" rtlCol="0" anchor="ctr"/>
          <a:lstStyle/>
          <a:p>
            <a:pPr indent="0" marL="0">
              <a:buNone/>
            </a:pPr>
            <a:r>
              <a:rPr lang="en-US" sz="900" i="1" dirty="0">
                <a:solidFill>
                  <a:srgbClr val="6B7B8C"/>
                </a:solidFill>
                <a:latin typeface="Calibri" pitchFamily="34" charset="0"/>
                <a:ea typeface="Calibri" pitchFamily="34" charset="-122"/>
                <a:cs typeface="Calibri" pitchFamily="34" charset="-120"/>
              </a:rPr>
              <a:t>→ arrows show request/token flow      ★ amber = identity plane      █ deep = compute plane      █ teal = data plane</a:t>
            </a:r>
            <a:endParaRPr lang="en-US" sz="900" dirty="0"/>
          </a:p>
        </p:txBody>
      </p:sp>
      <p:sp>
        <p:nvSpPr>
          <p:cNvPr id="46" name="Text 4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47" name="Text 45"/>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02  WHY DOES THE AGENT NEED AN IDENTITY?</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What breaks without a proper agent identity</a:t>
            </a:r>
            <a:endParaRPr lang="en-US" sz="3200" dirty="0"/>
          </a:p>
        </p:txBody>
      </p:sp>
      <p:sp>
        <p:nvSpPr>
          <p:cNvPr id="5" name="Shape 3"/>
          <p:cNvSpPr/>
          <p:nvPr/>
        </p:nvSpPr>
        <p:spPr>
          <a:xfrm>
            <a:off x="457200" y="1600200"/>
            <a:ext cx="5486400" cy="4480560"/>
          </a:xfrm>
          <a:prstGeom prst="roundRect">
            <a:avLst>
              <a:gd name="adj" fmla="val 2041"/>
            </a:avLst>
          </a:prstGeom>
          <a:solidFill>
            <a:srgbClr val="FDF2F1"/>
          </a:solidFill>
          <a:ln w="19050">
            <a:solidFill>
              <a:srgbClr val="B85042"/>
            </a:solidFill>
            <a:prstDash val="solid"/>
          </a:ln>
        </p:spPr>
      </p:sp>
      <p:sp>
        <p:nvSpPr>
          <p:cNvPr id="6" name="Text 4"/>
          <p:cNvSpPr/>
          <p:nvPr/>
        </p:nvSpPr>
        <p:spPr>
          <a:xfrm>
            <a:off x="731520" y="1737360"/>
            <a:ext cx="4937760" cy="457200"/>
          </a:xfrm>
          <a:prstGeom prst="rect">
            <a:avLst/>
          </a:prstGeom>
          <a:noFill/>
          <a:ln/>
        </p:spPr>
        <p:txBody>
          <a:bodyPr wrap="square" lIns="0" tIns="0" rIns="0" bIns="0" rtlCol="0" anchor="ctr"/>
          <a:lstStyle/>
          <a:p>
            <a:pPr indent="0" marL="0">
              <a:buNone/>
            </a:pPr>
            <a:r>
              <a:rPr lang="en-US" sz="1800" b="1" dirty="0">
                <a:solidFill>
                  <a:srgbClr val="B85042"/>
                </a:solidFill>
                <a:latin typeface="Calibri" pitchFamily="34" charset="0"/>
                <a:ea typeface="Calibri" pitchFamily="34" charset="-122"/>
                <a:cs typeface="Calibri" pitchFamily="34" charset="-120"/>
              </a:rPr>
              <a:t>✗  Without an agent identity</a:t>
            </a:r>
            <a:endParaRPr lang="en-US" sz="1800" dirty="0"/>
          </a:p>
        </p:txBody>
      </p:sp>
      <p:sp>
        <p:nvSpPr>
          <p:cNvPr id="7" name="Text 5"/>
          <p:cNvSpPr/>
          <p:nvPr/>
        </p:nvSpPr>
        <p:spPr>
          <a:xfrm>
            <a:off x="731520" y="2331720"/>
            <a:ext cx="228600" cy="457200"/>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960120" y="2331720"/>
            <a:ext cx="4709160"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Shared service account</a:t>
            </a:r>
            <a:endParaRPr lang="en-US" sz="1250" dirty="0"/>
          </a:p>
        </p:txBody>
      </p:sp>
      <p:sp>
        <p:nvSpPr>
          <p:cNvPr id="9" name="Text 7"/>
          <p:cNvSpPr/>
          <p:nvPr/>
        </p:nvSpPr>
        <p:spPr>
          <a:xfrm>
            <a:off x="960120" y="2560320"/>
            <a:ext cx="4709160" cy="32004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One password, many callers. If it leaks you can't tell who used it.</a:t>
            </a:r>
            <a:endParaRPr lang="en-US" sz="1050" dirty="0"/>
          </a:p>
        </p:txBody>
      </p:sp>
      <p:sp>
        <p:nvSpPr>
          <p:cNvPr id="10" name="Text 8"/>
          <p:cNvSpPr/>
          <p:nvPr/>
        </p:nvSpPr>
        <p:spPr>
          <a:xfrm>
            <a:off x="731520" y="2880360"/>
            <a:ext cx="228600" cy="457200"/>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960120" y="2880360"/>
            <a:ext cx="4709160"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Everything as one user</a:t>
            </a:r>
            <a:endParaRPr lang="en-US" sz="1250" dirty="0"/>
          </a:p>
        </p:txBody>
      </p:sp>
      <p:sp>
        <p:nvSpPr>
          <p:cNvPr id="12" name="Text 10"/>
          <p:cNvSpPr/>
          <p:nvPr/>
        </p:nvSpPr>
        <p:spPr>
          <a:xfrm>
            <a:off x="960120" y="3108960"/>
            <a:ext cx="4709160" cy="32004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Agent runs as an admin service principal → over-privileged by default.</a:t>
            </a:r>
            <a:endParaRPr lang="en-US" sz="1050" dirty="0"/>
          </a:p>
        </p:txBody>
      </p:sp>
      <p:sp>
        <p:nvSpPr>
          <p:cNvPr id="13" name="Text 11"/>
          <p:cNvSpPr/>
          <p:nvPr/>
        </p:nvSpPr>
        <p:spPr>
          <a:xfrm>
            <a:off x="731520" y="3429000"/>
            <a:ext cx="228600" cy="457200"/>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960120" y="3429000"/>
            <a:ext cx="4709160"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No accountability</a:t>
            </a:r>
            <a:endParaRPr lang="en-US" sz="1250" dirty="0"/>
          </a:p>
        </p:txBody>
      </p:sp>
      <p:sp>
        <p:nvSpPr>
          <p:cNvPr id="15" name="Text 13"/>
          <p:cNvSpPr/>
          <p:nvPr/>
        </p:nvSpPr>
        <p:spPr>
          <a:xfrm>
            <a:off x="960120" y="3657600"/>
            <a:ext cx="4709160" cy="32004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You can't answer 'which agent read that PO?' — logs show only the app.</a:t>
            </a:r>
            <a:endParaRPr lang="en-US" sz="1050" dirty="0"/>
          </a:p>
        </p:txBody>
      </p:sp>
      <p:sp>
        <p:nvSpPr>
          <p:cNvPr id="16" name="Text 14"/>
          <p:cNvSpPr/>
          <p:nvPr/>
        </p:nvSpPr>
        <p:spPr>
          <a:xfrm>
            <a:off x="731520" y="3977640"/>
            <a:ext cx="228600" cy="457200"/>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960120" y="3977640"/>
            <a:ext cx="4709160"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No conditional access</a:t>
            </a:r>
            <a:endParaRPr lang="en-US" sz="1250" dirty="0"/>
          </a:p>
        </p:txBody>
      </p:sp>
      <p:sp>
        <p:nvSpPr>
          <p:cNvPr id="18" name="Text 16"/>
          <p:cNvSpPr/>
          <p:nvPr/>
        </p:nvSpPr>
        <p:spPr>
          <a:xfrm>
            <a:off x="960120" y="4206240"/>
            <a:ext cx="4709160" cy="32004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Location, risk, and device policies don't apply. Agent is invisible to Zero Trust.</a:t>
            </a:r>
            <a:endParaRPr lang="en-US" sz="1050" dirty="0"/>
          </a:p>
        </p:txBody>
      </p:sp>
      <p:sp>
        <p:nvSpPr>
          <p:cNvPr id="19" name="Text 17"/>
          <p:cNvSpPr/>
          <p:nvPr/>
        </p:nvSpPr>
        <p:spPr>
          <a:xfrm>
            <a:off x="731520" y="4526280"/>
            <a:ext cx="228600" cy="457200"/>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960120" y="4526280"/>
            <a:ext cx="4709160"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No lifecycle</a:t>
            </a:r>
            <a:endParaRPr lang="en-US" sz="1250" dirty="0"/>
          </a:p>
        </p:txBody>
      </p:sp>
      <p:sp>
        <p:nvSpPr>
          <p:cNvPr id="21" name="Text 19"/>
          <p:cNvSpPr/>
          <p:nvPr/>
        </p:nvSpPr>
        <p:spPr>
          <a:xfrm>
            <a:off x="960120" y="4754880"/>
            <a:ext cx="4709160" cy="32004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Decommissioning is a change ticket, not a policy. Orphaned agents pile up.</a:t>
            </a:r>
            <a:endParaRPr lang="en-US" sz="1050" dirty="0"/>
          </a:p>
        </p:txBody>
      </p:sp>
      <p:sp>
        <p:nvSpPr>
          <p:cNvPr id="22" name="Text 20"/>
          <p:cNvSpPr/>
          <p:nvPr/>
        </p:nvSpPr>
        <p:spPr>
          <a:xfrm>
            <a:off x="731520" y="5074920"/>
            <a:ext cx="228600" cy="457200"/>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960120" y="5074920"/>
            <a:ext cx="4709160"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Fails audit</a:t>
            </a:r>
            <a:endParaRPr lang="en-US" sz="1250" dirty="0"/>
          </a:p>
        </p:txBody>
      </p:sp>
      <p:sp>
        <p:nvSpPr>
          <p:cNvPr id="24" name="Text 22"/>
          <p:cNvSpPr/>
          <p:nvPr/>
        </p:nvSpPr>
        <p:spPr>
          <a:xfrm>
            <a:off x="960120" y="5303520"/>
            <a:ext cx="4709160" cy="32004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SOX, ISO 27001, internal audit — all expect a named identity per actor.</a:t>
            </a:r>
            <a:endParaRPr lang="en-US" sz="1050" dirty="0"/>
          </a:p>
        </p:txBody>
      </p:sp>
      <p:sp>
        <p:nvSpPr>
          <p:cNvPr id="25" name="Shape 23"/>
          <p:cNvSpPr/>
          <p:nvPr/>
        </p:nvSpPr>
        <p:spPr>
          <a:xfrm>
            <a:off x="6309360" y="1600200"/>
            <a:ext cx="5486400" cy="4480560"/>
          </a:xfrm>
          <a:prstGeom prst="roundRect">
            <a:avLst>
              <a:gd name="adj" fmla="val 2041"/>
            </a:avLst>
          </a:prstGeom>
          <a:solidFill>
            <a:srgbClr val="EFF7F2"/>
          </a:solidFill>
          <a:ln w="19050">
            <a:solidFill>
              <a:srgbClr val="2C7A5F"/>
            </a:solidFill>
            <a:prstDash val="solid"/>
          </a:ln>
        </p:spPr>
      </p:sp>
      <p:sp>
        <p:nvSpPr>
          <p:cNvPr id="26" name="Text 24"/>
          <p:cNvSpPr/>
          <p:nvPr/>
        </p:nvSpPr>
        <p:spPr>
          <a:xfrm>
            <a:off x="6583680" y="1737360"/>
            <a:ext cx="4937760" cy="457200"/>
          </a:xfrm>
          <a:prstGeom prst="rect">
            <a:avLst/>
          </a:prstGeom>
          <a:noFill/>
          <a:ln/>
        </p:spPr>
        <p:txBody>
          <a:bodyPr wrap="square" lIns="0" tIns="0" rIns="0" bIns="0" rtlCol="0" anchor="ctr"/>
          <a:lstStyle/>
          <a:p>
            <a:pPr indent="0" marL="0">
              <a:buNone/>
            </a:pPr>
            <a:r>
              <a:rPr lang="en-US" sz="1800" b="1" dirty="0">
                <a:solidFill>
                  <a:srgbClr val="2C7A5F"/>
                </a:solidFill>
                <a:latin typeface="Calibri" pitchFamily="34" charset="0"/>
                <a:ea typeface="Calibri" pitchFamily="34" charset="-122"/>
                <a:cs typeface="Calibri" pitchFamily="34" charset="-120"/>
              </a:rPr>
              <a:t>✓  With Entra Agent ID</a:t>
            </a:r>
            <a:endParaRPr lang="en-US" sz="1800" dirty="0"/>
          </a:p>
        </p:txBody>
      </p:sp>
      <p:sp>
        <p:nvSpPr>
          <p:cNvPr id="27" name="Text 25"/>
          <p:cNvSpPr/>
          <p:nvPr/>
        </p:nvSpPr>
        <p:spPr>
          <a:xfrm>
            <a:off x="6583680" y="2331720"/>
            <a:ext cx="228600" cy="457200"/>
          </a:xfrm>
          <a:prstGeom prst="rect">
            <a:avLst/>
          </a:prstGeom>
          <a:noFill/>
          <a:ln/>
        </p:spPr>
        <p:txBody>
          <a:bodyPr wrap="square" lIns="0" tIns="0" rIns="0" bIns="0" rtlCol="0" anchor="ctr"/>
          <a:lstStyle/>
          <a:p>
            <a:pPr indent="0" marL="0">
              <a:buNone/>
            </a:pPr>
            <a:r>
              <a:rPr lang="en-US" sz="1600" b="1" dirty="0">
                <a:solidFill>
                  <a:srgbClr val="2C7A5F"/>
                </a:solidFill>
                <a:latin typeface="Calibri" pitchFamily="34" charset="0"/>
                <a:ea typeface="Calibri" pitchFamily="34" charset="-122"/>
                <a:cs typeface="Calibri" pitchFamily="34" charset="-120"/>
              </a:rPr>
              <a:t>•</a:t>
            </a:r>
            <a:endParaRPr lang="en-US" sz="1600" dirty="0"/>
          </a:p>
        </p:txBody>
      </p:sp>
      <p:sp>
        <p:nvSpPr>
          <p:cNvPr id="28" name="Text 26"/>
          <p:cNvSpPr/>
          <p:nvPr/>
        </p:nvSpPr>
        <p:spPr>
          <a:xfrm>
            <a:off x="6812280" y="2331720"/>
            <a:ext cx="4709160"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Unique identity per agent</a:t>
            </a:r>
            <a:endParaRPr lang="en-US" sz="1250" dirty="0"/>
          </a:p>
        </p:txBody>
      </p:sp>
      <p:sp>
        <p:nvSpPr>
          <p:cNvPr id="29" name="Text 27"/>
          <p:cNvSpPr/>
          <p:nvPr/>
        </p:nvSpPr>
        <p:spPr>
          <a:xfrm>
            <a:off x="6812280" y="2560320"/>
            <a:ext cx="4709160" cy="32004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Each agent registered in Entra with its own object ID and credentials.</a:t>
            </a:r>
            <a:endParaRPr lang="en-US" sz="1050" dirty="0"/>
          </a:p>
        </p:txBody>
      </p:sp>
      <p:sp>
        <p:nvSpPr>
          <p:cNvPr id="30" name="Text 28"/>
          <p:cNvSpPr/>
          <p:nvPr/>
        </p:nvSpPr>
        <p:spPr>
          <a:xfrm>
            <a:off x="6583680" y="2880360"/>
            <a:ext cx="228600" cy="457200"/>
          </a:xfrm>
          <a:prstGeom prst="rect">
            <a:avLst/>
          </a:prstGeom>
          <a:noFill/>
          <a:ln/>
        </p:spPr>
        <p:txBody>
          <a:bodyPr wrap="square" lIns="0" tIns="0" rIns="0" bIns="0" rtlCol="0" anchor="ctr"/>
          <a:lstStyle/>
          <a:p>
            <a:pPr indent="0" marL="0">
              <a:buNone/>
            </a:pPr>
            <a:r>
              <a:rPr lang="en-US" sz="1600" b="1" dirty="0">
                <a:solidFill>
                  <a:srgbClr val="2C7A5F"/>
                </a:solidFill>
                <a:latin typeface="Calibri" pitchFamily="34" charset="0"/>
                <a:ea typeface="Calibri" pitchFamily="34" charset="-122"/>
                <a:cs typeface="Calibri" pitchFamily="34" charset="-120"/>
              </a:rPr>
              <a:t>•</a:t>
            </a:r>
            <a:endParaRPr lang="en-US" sz="1600" dirty="0"/>
          </a:p>
        </p:txBody>
      </p:sp>
      <p:sp>
        <p:nvSpPr>
          <p:cNvPr id="31" name="Text 29"/>
          <p:cNvSpPr/>
          <p:nvPr/>
        </p:nvSpPr>
        <p:spPr>
          <a:xfrm>
            <a:off x="6812280" y="2880360"/>
            <a:ext cx="4709160"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Scoped permissions</a:t>
            </a:r>
            <a:endParaRPr lang="en-US" sz="1250" dirty="0"/>
          </a:p>
        </p:txBody>
      </p:sp>
      <p:sp>
        <p:nvSpPr>
          <p:cNvPr id="32" name="Text 30"/>
          <p:cNvSpPr/>
          <p:nvPr/>
        </p:nvSpPr>
        <p:spPr>
          <a:xfrm>
            <a:off x="6812280" y="3108960"/>
            <a:ext cx="4709160" cy="32004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Only the exact Graph / SharePoint / ERP scopes the agent needs.</a:t>
            </a:r>
            <a:endParaRPr lang="en-US" sz="1050" dirty="0"/>
          </a:p>
        </p:txBody>
      </p:sp>
      <p:sp>
        <p:nvSpPr>
          <p:cNvPr id="33" name="Text 31"/>
          <p:cNvSpPr/>
          <p:nvPr/>
        </p:nvSpPr>
        <p:spPr>
          <a:xfrm>
            <a:off x="6583680" y="3429000"/>
            <a:ext cx="228600" cy="457200"/>
          </a:xfrm>
          <a:prstGeom prst="rect">
            <a:avLst/>
          </a:prstGeom>
          <a:noFill/>
          <a:ln/>
        </p:spPr>
        <p:txBody>
          <a:bodyPr wrap="square" lIns="0" tIns="0" rIns="0" bIns="0" rtlCol="0" anchor="ctr"/>
          <a:lstStyle/>
          <a:p>
            <a:pPr indent="0" marL="0">
              <a:buNone/>
            </a:pPr>
            <a:r>
              <a:rPr lang="en-US" sz="1600" b="1" dirty="0">
                <a:solidFill>
                  <a:srgbClr val="2C7A5F"/>
                </a:solidFill>
                <a:latin typeface="Calibri" pitchFamily="34" charset="0"/>
                <a:ea typeface="Calibri" pitchFamily="34" charset="-122"/>
                <a:cs typeface="Calibri" pitchFamily="34" charset="-120"/>
              </a:rPr>
              <a:t>•</a:t>
            </a:r>
            <a:endParaRPr lang="en-US" sz="1600" dirty="0"/>
          </a:p>
        </p:txBody>
      </p:sp>
      <p:sp>
        <p:nvSpPr>
          <p:cNvPr id="34" name="Text 32"/>
          <p:cNvSpPr/>
          <p:nvPr/>
        </p:nvSpPr>
        <p:spPr>
          <a:xfrm>
            <a:off x="6812280" y="3429000"/>
            <a:ext cx="4709160"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Full accountability</a:t>
            </a:r>
            <a:endParaRPr lang="en-US" sz="1250" dirty="0"/>
          </a:p>
        </p:txBody>
      </p:sp>
      <p:sp>
        <p:nvSpPr>
          <p:cNvPr id="35" name="Text 33"/>
          <p:cNvSpPr/>
          <p:nvPr/>
        </p:nvSpPr>
        <p:spPr>
          <a:xfrm>
            <a:off x="6812280" y="3657600"/>
            <a:ext cx="4709160" cy="32004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Every call carries the agent's identity — sign-in logs answer 'who did what'.</a:t>
            </a:r>
            <a:endParaRPr lang="en-US" sz="1050" dirty="0"/>
          </a:p>
        </p:txBody>
      </p:sp>
      <p:sp>
        <p:nvSpPr>
          <p:cNvPr id="36" name="Text 34"/>
          <p:cNvSpPr/>
          <p:nvPr/>
        </p:nvSpPr>
        <p:spPr>
          <a:xfrm>
            <a:off x="6583680" y="3977640"/>
            <a:ext cx="228600" cy="457200"/>
          </a:xfrm>
          <a:prstGeom prst="rect">
            <a:avLst/>
          </a:prstGeom>
          <a:noFill/>
          <a:ln/>
        </p:spPr>
        <p:txBody>
          <a:bodyPr wrap="square" lIns="0" tIns="0" rIns="0" bIns="0" rtlCol="0" anchor="ctr"/>
          <a:lstStyle/>
          <a:p>
            <a:pPr indent="0" marL="0">
              <a:buNone/>
            </a:pPr>
            <a:r>
              <a:rPr lang="en-US" sz="1600" b="1" dirty="0">
                <a:solidFill>
                  <a:srgbClr val="2C7A5F"/>
                </a:solidFill>
                <a:latin typeface="Calibri" pitchFamily="34" charset="0"/>
                <a:ea typeface="Calibri" pitchFamily="34" charset="-122"/>
                <a:cs typeface="Calibri" pitchFamily="34" charset="-120"/>
              </a:rPr>
              <a:t>•</a:t>
            </a:r>
            <a:endParaRPr lang="en-US" sz="1600" dirty="0"/>
          </a:p>
        </p:txBody>
      </p:sp>
      <p:sp>
        <p:nvSpPr>
          <p:cNvPr id="37" name="Text 35"/>
          <p:cNvSpPr/>
          <p:nvPr/>
        </p:nvSpPr>
        <p:spPr>
          <a:xfrm>
            <a:off x="6812280" y="3977640"/>
            <a:ext cx="4709160"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Conditional Access applies</a:t>
            </a:r>
            <a:endParaRPr lang="en-US" sz="1250" dirty="0"/>
          </a:p>
        </p:txBody>
      </p:sp>
      <p:sp>
        <p:nvSpPr>
          <p:cNvPr id="38" name="Text 36"/>
          <p:cNvSpPr/>
          <p:nvPr/>
        </p:nvSpPr>
        <p:spPr>
          <a:xfrm>
            <a:off x="6812280" y="4206240"/>
            <a:ext cx="4709160" cy="32004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Risk, location, and session policies enforce Zero Trust on agents too.</a:t>
            </a:r>
            <a:endParaRPr lang="en-US" sz="1050" dirty="0"/>
          </a:p>
        </p:txBody>
      </p:sp>
      <p:sp>
        <p:nvSpPr>
          <p:cNvPr id="39" name="Text 37"/>
          <p:cNvSpPr/>
          <p:nvPr/>
        </p:nvSpPr>
        <p:spPr>
          <a:xfrm>
            <a:off x="6583680" y="4526280"/>
            <a:ext cx="228600" cy="457200"/>
          </a:xfrm>
          <a:prstGeom prst="rect">
            <a:avLst/>
          </a:prstGeom>
          <a:noFill/>
          <a:ln/>
        </p:spPr>
        <p:txBody>
          <a:bodyPr wrap="square" lIns="0" tIns="0" rIns="0" bIns="0" rtlCol="0" anchor="ctr"/>
          <a:lstStyle/>
          <a:p>
            <a:pPr indent="0" marL="0">
              <a:buNone/>
            </a:pPr>
            <a:r>
              <a:rPr lang="en-US" sz="1600" b="1" dirty="0">
                <a:solidFill>
                  <a:srgbClr val="2C7A5F"/>
                </a:solidFill>
                <a:latin typeface="Calibri" pitchFamily="34" charset="0"/>
                <a:ea typeface="Calibri" pitchFamily="34" charset="-122"/>
                <a:cs typeface="Calibri" pitchFamily="34" charset="-120"/>
              </a:rPr>
              <a:t>•</a:t>
            </a:r>
            <a:endParaRPr lang="en-US" sz="1600" dirty="0"/>
          </a:p>
        </p:txBody>
      </p:sp>
      <p:sp>
        <p:nvSpPr>
          <p:cNvPr id="40" name="Text 38"/>
          <p:cNvSpPr/>
          <p:nvPr/>
        </p:nvSpPr>
        <p:spPr>
          <a:xfrm>
            <a:off x="6812280" y="4526280"/>
            <a:ext cx="4709160"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Managed lifecycle</a:t>
            </a:r>
            <a:endParaRPr lang="en-US" sz="1250" dirty="0"/>
          </a:p>
        </p:txBody>
      </p:sp>
      <p:sp>
        <p:nvSpPr>
          <p:cNvPr id="41" name="Text 39"/>
          <p:cNvSpPr/>
          <p:nvPr/>
        </p:nvSpPr>
        <p:spPr>
          <a:xfrm>
            <a:off x="6812280" y="4754880"/>
            <a:ext cx="4709160" cy="32004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Create, review, retire via Entra governance. Access packages expire access.</a:t>
            </a:r>
            <a:endParaRPr lang="en-US" sz="1050" dirty="0"/>
          </a:p>
        </p:txBody>
      </p:sp>
      <p:sp>
        <p:nvSpPr>
          <p:cNvPr id="42" name="Text 40"/>
          <p:cNvSpPr/>
          <p:nvPr/>
        </p:nvSpPr>
        <p:spPr>
          <a:xfrm>
            <a:off x="6583680" y="5074920"/>
            <a:ext cx="228600" cy="457200"/>
          </a:xfrm>
          <a:prstGeom prst="rect">
            <a:avLst/>
          </a:prstGeom>
          <a:noFill/>
          <a:ln/>
        </p:spPr>
        <p:txBody>
          <a:bodyPr wrap="square" lIns="0" tIns="0" rIns="0" bIns="0" rtlCol="0" anchor="ctr"/>
          <a:lstStyle/>
          <a:p>
            <a:pPr indent="0" marL="0">
              <a:buNone/>
            </a:pPr>
            <a:r>
              <a:rPr lang="en-US" sz="1600" b="1" dirty="0">
                <a:solidFill>
                  <a:srgbClr val="2C7A5F"/>
                </a:solidFill>
                <a:latin typeface="Calibri" pitchFamily="34" charset="0"/>
                <a:ea typeface="Calibri" pitchFamily="34" charset="-122"/>
                <a:cs typeface="Calibri" pitchFamily="34" charset="-120"/>
              </a:rPr>
              <a:t>•</a:t>
            </a:r>
            <a:endParaRPr lang="en-US" sz="1600" dirty="0"/>
          </a:p>
        </p:txBody>
      </p:sp>
      <p:sp>
        <p:nvSpPr>
          <p:cNvPr id="43" name="Text 41"/>
          <p:cNvSpPr/>
          <p:nvPr/>
        </p:nvSpPr>
        <p:spPr>
          <a:xfrm>
            <a:off x="6812280" y="5074920"/>
            <a:ext cx="4709160"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Audit-ready by default</a:t>
            </a:r>
            <a:endParaRPr lang="en-US" sz="1250" dirty="0"/>
          </a:p>
        </p:txBody>
      </p:sp>
      <p:sp>
        <p:nvSpPr>
          <p:cNvPr id="44" name="Text 42"/>
          <p:cNvSpPr/>
          <p:nvPr/>
        </p:nvSpPr>
        <p:spPr>
          <a:xfrm>
            <a:off x="6812280" y="5303520"/>
            <a:ext cx="4709160" cy="32004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Entra + Purview + Defender give compliance the trail they need.</a:t>
            </a:r>
            <a:endParaRPr lang="en-US" sz="1050" dirty="0"/>
          </a:p>
        </p:txBody>
      </p:sp>
      <p:sp>
        <p:nvSpPr>
          <p:cNvPr id="45" name="Text 43"/>
          <p:cNvSpPr/>
          <p:nvPr/>
        </p:nvSpPr>
        <p:spPr>
          <a:xfrm>
            <a:off x="457200" y="6217920"/>
            <a:ext cx="11247120" cy="365760"/>
          </a:xfrm>
          <a:prstGeom prst="rect">
            <a:avLst/>
          </a:prstGeom>
          <a:noFill/>
          <a:ln/>
        </p:spPr>
        <p:txBody>
          <a:bodyPr wrap="square" lIns="0" tIns="0" rIns="0" bIns="0" rtlCol="0" anchor="ctr"/>
          <a:lstStyle/>
          <a:p>
            <a:pPr algn="ctr" indent="0" marL="0">
              <a:buNone/>
            </a:pPr>
            <a:r>
              <a:rPr lang="en-US" sz="1200" b="1" i="1" dirty="0">
                <a:solidFill>
                  <a:srgbClr val="1C7293"/>
                </a:solidFill>
                <a:latin typeface="Calibri" pitchFamily="34" charset="0"/>
                <a:ea typeface="Calibri" pitchFamily="34" charset="-122"/>
                <a:cs typeface="Calibri" pitchFamily="34" charset="-120"/>
              </a:rPr>
              <a:t>Bottom line — an agent is a new type of actor in the enterprise. Zero Trust says every actor gets a verified, governed identity. No exceptions for AI.</a:t>
            </a:r>
            <a:endParaRPr lang="en-US" sz="1200" dirty="0"/>
          </a:p>
        </p:txBody>
      </p:sp>
      <p:sp>
        <p:nvSpPr>
          <p:cNvPr id="46" name="Text 4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47" name="Text 45"/>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7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02  WHY DOES THE AGENT NEED AN IDENTITY?</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Zero Trust doesn't stop at humans</a:t>
            </a:r>
            <a:endParaRPr lang="en-US" sz="3200" dirty="0"/>
          </a:p>
        </p:txBody>
      </p:sp>
      <p:sp>
        <p:nvSpPr>
          <p:cNvPr id="5" name="Text 3"/>
          <p:cNvSpPr/>
          <p:nvPr/>
        </p:nvSpPr>
        <p:spPr>
          <a:xfrm>
            <a:off x="457200" y="1737360"/>
            <a:ext cx="5486400" cy="36576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Zero Trust core principles</a:t>
            </a:r>
            <a:endParaRPr lang="en-US" sz="1600" dirty="0"/>
          </a:p>
        </p:txBody>
      </p:sp>
      <p:sp>
        <p:nvSpPr>
          <p:cNvPr id="6" name="Shape 4"/>
          <p:cNvSpPr/>
          <p:nvPr/>
        </p:nvSpPr>
        <p:spPr>
          <a:xfrm>
            <a:off x="457200" y="2286000"/>
            <a:ext cx="502920" cy="502920"/>
          </a:xfrm>
          <a:prstGeom prst="ellipse">
            <a:avLst/>
          </a:prstGeom>
          <a:solidFill>
            <a:srgbClr val="F5A623"/>
          </a:solidFill>
          <a:ln w="12700">
            <a:solidFill>
              <a:srgbClr val="F5A623"/>
            </a:solidFill>
            <a:prstDash val="solid"/>
          </a:ln>
        </p:spPr>
      </p:sp>
      <p:sp>
        <p:nvSpPr>
          <p:cNvPr id="7" name="Text 5"/>
          <p:cNvSpPr/>
          <p:nvPr/>
        </p:nvSpPr>
        <p:spPr>
          <a:xfrm>
            <a:off x="457200" y="2286000"/>
            <a:ext cx="502920" cy="502920"/>
          </a:xfrm>
          <a:prstGeom prst="rect">
            <a:avLst/>
          </a:prstGeom>
          <a:noFill/>
          <a:ln/>
        </p:spPr>
        <p:txBody>
          <a:bodyPr wrap="square" lIns="0" tIns="0" rIns="0" bIns="0" rtlCol="0" anchor="ctr"/>
          <a:lstStyle/>
          <a:p>
            <a:pPr algn="ctr" indent="0" marL="0">
              <a:buNone/>
            </a:pPr>
            <a:r>
              <a:rPr lang="en-US" sz="1800" b="1" dirty="0">
                <a:solidFill>
                  <a:srgbClr val="0B1F3A"/>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097280" y="2240280"/>
            <a:ext cx="475488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Verify explicitly</a:t>
            </a:r>
            <a:endParaRPr lang="en-US" sz="1500" dirty="0"/>
          </a:p>
        </p:txBody>
      </p:sp>
      <p:sp>
        <p:nvSpPr>
          <p:cNvPr id="9" name="Text 7"/>
          <p:cNvSpPr/>
          <p:nvPr/>
        </p:nvSpPr>
        <p:spPr>
          <a:xfrm>
            <a:off x="1097280" y="2606040"/>
            <a:ext cx="4754880" cy="640080"/>
          </a:xfrm>
          <a:prstGeom prst="rect">
            <a:avLst/>
          </a:prstGeom>
          <a:noFill/>
          <a:ln/>
        </p:spPr>
        <p:txBody>
          <a:bodyPr wrap="square" lIns="0" tIns="0" rIns="0" bIns="0" rtlCol="0" anchor="ctr"/>
          <a:lstStyle/>
          <a:p>
            <a:pPr indent="0" marL="0">
              <a:buNone/>
            </a:pPr>
            <a:r>
              <a:rPr lang="en-US" sz="1100" dirty="0">
                <a:solidFill>
                  <a:srgbClr val="6B7B8C"/>
                </a:solidFill>
                <a:latin typeface="Calibri" pitchFamily="34" charset="0"/>
                <a:ea typeface="Calibri" pitchFamily="34" charset="-122"/>
                <a:cs typeface="Calibri" pitchFamily="34" charset="-120"/>
              </a:rPr>
              <a:t>Every request authenticated and authorized against all available signals.</a:t>
            </a:r>
            <a:endParaRPr lang="en-US" sz="1100" dirty="0"/>
          </a:p>
        </p:txBody>
      </p:sp>
      <p:sp>
        <p:nvSpPr>
          <p:cNvPr id="10" name="Shape 8"/>
          <p:cNvSpPr/>
          <p:nvPr/>
        </p:nvSpPr>
        <p:spPr>
          <a:xfrm>
            <a:off x="457200" y="3383280"/>
            <a:ext cx="502920" cy="502920"/>
          </a:xfrm>
          <a:prstGeom prst="ellipse">
            <a:avLst/>
          </a:prstGeom>
          <a:solidFill>
            <a:srgbClr val="F5A623"/>
          </a:solidFill>
          <a:ln w="12700">
            <a:solidFill>
              <a:srgbClr val="F5A623"/>
            </a:solidFill>
            <a:prstDash val="solid"/>
          </a:ln>
        </p:spPr>
      </p:sp>
      <p:sp>
        <p:nvSpPr>
          <p:cNvPr id="11" name="Text 9"/>
          <p:cNvSpPr/>
          <p:nvPr/>
        </p:nvSpPr>
        <p:spPr>
          <a:xfrm>
            <a:off x="457200" y="3383280"/>
            <a:ext cx="502920" cy="502920"/>
          </a:xfrm>
          <a:prstGeom prst="rect">
            <a:avLst/>
          </a:prstGeom>
          <a:noFill/>
          <a:ln/>
        </p:spPr>
        <p:txBody>
          <a:bodyPr wrap="square" lIns="0" tIns="0" rIns="0" bIns="0" rtlCol="0" anchor="ctr"/>
          <a:lstStyle/>
          <a:p>
            <a:pPr algn="ctr" indent="0" marL="0">
              <a:buNone/>
            </a:pPr>
            <a:r>
              <a:rPr lang="en-US" sz="1800" b="1" dirty="0">
                <a:solidFill>
                  <a:srgbClr val="0B1F3A"/>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097280" y="3337560"/>
            <a:ext cx="475488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Least-privilege access</a:t>
            </a:r>
            <a:endParaRPr lang="en-US" sz="1500" dirty="0"/>
          </a:p>
        </p:txBody>
      </p:sp>
      <p:sp>
        <p:nvSpPr>
          <p:cNvPr id="13" name="Text 11"/>
          <p:cNvSpPr/>
          <p:nvPr/>
        </p:nvSpPr>
        <p:spPr>
          <a:xfrm>
            <a:off x="1097280" y="3703320"/>
            <a:ext cx="4754880" cy="640080"/>
          </a:xfrm>
          <a:prstGeom prst="rect">
            <a:avLst/>
          </a:prstGeom>
          <a:noFill/>
          <a:ln/>
        </p:spPr>
        <p:txBody>
          <a:bodyPr wrap="square" lIns="0" tIns="0" rIns="0" bIns="0" rtlCol="0" anchor="ctr"/>
          <a:lstStyle/>
          <a:p>
            <a:pPr indent="0" marL="0">
              <a:buNone/>
            </a:pPr>
            <a:r>
              <a:rPr lang="en-US" sz="1100" dirty="0">
                <a:solidFill>
                  <a:srgbClr val="6B7B8C"/>
                </a:solidFill>
                <a:latin typeface="Calibri" pitchFamily="34" charset="0"/>
                <a:ea typeface="Calibri" pitchFamily="34" charset="-122"/>
                <a:cs typeface="Calibri" pitchFamily="34" charset="-120"/>
              </a:rPr>
              <a:t>Just-enough, just-in-time access — for people AND for agents.</a:t>
            </a:r>
            <a:endParaRPr lang="en-US" sz="1100" dirty="0"/>
          </a:p>
        </p:txBody>
      </p:sp>
      <p:sp>
        <p:nvSpPr>
          <p:cNvPr id="14" name="Shape 12"/>
          <p:cNvSpPr/>
          <p:nvPr/>
        </p:nvSpPr>
        <p:spPr>
          <a:xfrm>
            <a:off x="457200" y="4480560"/>
            <a:ext cx="502920" cy="502920"/>
          </a:xfrm>
          <a:prstGeom prst="ellipse">
            <a:avLst/>
          </a:prstGeom>
          <a:solidFill>
            <a:srgbClr val="F5A623"/>
          </a:solidFill>
          <a:ln w="12700">
            <a:solidFill>
              <a:srgbClr val="F5A623"/>
            </a:solidFill>
            <a:prstDash val="solid"/>
          </a:ln>
        </p:spPr>
      </p:sp>
      <p:sp>
        <p:nvSpPr>
          <p:cNvPr id="15" name="Text 13"/>
          <p:cNvSpPr/>
          <p:nvPr/>
        </p:nvSpPr>
        <p:spPr>
          <a:xfrm>
            <a:off x="457200" y="4480560"/>
            <a:ext cx="502920" cy="502920"/>
          </a:xfrm>
          <a:prstGeom prst="rect">
            <a:avLst/>
          </a:prstGeom>
          <a:noFill/>
          <a:ln/>
        </p:spPr>
        <p:txBody>
          <a:bodyPr wrap="square" lIns="0" tIns="0" rIns="0" bIns="0" rtlCol="0" anchor="ctr"/>
          <a:lstStyle/>
          <a:p>
            <a:pPr algn="ctr" indent="0" marL="0">
              <a:buNone/>
            </a:pPr>
            <a:r>
              <a:rPr lang="en-US" sz="1800" b="1" dirty="0">
                <a:solidFill>
                  <a:srgbClr val="0B1F3A"/>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097280" y="4434840"/>
            <a:ext cx="475488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Assume breach</a:t>
            </a:r>
            <a:endParaRPr lang="en-US" sz="1500" dirty="0"/>
          </a:p>
        </p:txBody>
      </p:sp>
      <p:sp>
        <p:nvSpPr>
          <p:cNvPr id="17" name="Text 15"/>
          <p:cNvSpPr/>
          <p:nvPr/>
        </p:nvSpPr>
        <p:spPr>
          <a:xfrm>
            <a:off x="1097280" y="4800600"/>
            <a:ext cx="4754880" cy="640080"/>
          </a:xfrm>
          <a:prstGeom prst="rect">
            <a:avLst/>
          </a:prstGeom>
          <a:noFill/>
          <a:ln/>
        </p:spPr>
        <p:txBody>
          <a:bodyPr wrap="square" lIns="0" tIns="0" rIns="0" bIns="0" rtlCol="0" anchor="ctr"/>
          <a:lstStyle/>
          <a:p>
            <a:pPr indent="0" marL="0">
              <a:buNone/>
            </a:pPr>
            <a:r>
              <a:rPr lang="en-US" sz="1100" dirty="0">
                <a:solidFill>
                  <a:srgbClr val="6B7B8C"/>
                </a:solidFill>
                <a:latin typeface="Calibri" pitchFamily="34" charset="0"/>
                <a:ea typeface="Calibri" pitchFamily="34" charset="-122"/>
                <a:cs typeface="Calibri" pitchFamily="34" charset="-120"/>
              </a:rPr>
              <a:t>Segment access, log everything, minimize blast radius.</a:t>
            </a:r>
            <a:endParaRPr lang="en-US" sz="1100" dirty="0"/>
          </a:p>
        </p:txBody>
      </p:sp>
      <p:sp>
        <p:nvSpPr>
          <p:cNvPr id="18" name="Shape 16"/>
          <p:cNvSpPr/>
          <p:nvPr/>
        </p:nvSpPr>
        <p:spPr>
          <a:xfrm>
            <a:off x="6309360" y="1691640"/>
            <a:ext cx="5394960" cy="4434840"/>
          </a:xfrm>
          <a:prstGeom prst="roundRect">
            <a:avLst>
              <a:gd name="adj" fmla="val 2062"/>
            </a:avLst>
          </a:prstGeom>
          <a:solidFill>
            <a:srgbClr val="0B1F3A"/>
          </a:solidFill>
          <a:ln w="12700">
            <a:solidFill>
              <a:srgbClr val="0B1F3A"/>
            </a:solidFill>
            <a:prstDash val="solid"/>
          </a:ln>
        </p:spPr>
      </p:sp>
      <p:sp>
        <p:nvSpPr>
          <p:cNvPr id="19" name="Text 17"/>
          <p:cNvSpPr/>
          <p:nvPr/>
        </p:nvSpPr>
        <p:spPr>
          <a:xfrm>
            <a:off x="6492240" y="1828800"/>
            <a:ext cx="5029200" cy="457200"/>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What that means for our procurement agent</a:t>
            </a:r>
            <a:endParaRPr lang="en-US" sz="1500" dirty="0"/>
          </a:p>
        </p:txBody>
      </p:sp>
      <p:sp>
        <p:nvSpPr>
          <p:cNvPr id="20" name="Shape 18"/>
          <p:cNvSpPr/>
          <p:nvPr/>
        </p:nvSpPr>
        <p:spPr>
          <a:xfrm>
            <a:off x="6492240" y="2542032"/>
            <a:ext cx="91440" cy="320040"/>
          </a:xfrm>
          <a:prstGeom prst="rect">
            <a:avLst/>
          </a:prstGeom>
          <a:solidFill>
            <a:srgbClr val="F5A623"/>
          </a:solidFill>
          <a:ln w="12700">
            <a:solidFill>
              <a:srgbClr val="F5A623"/>
            </a:solidFill>
            <a:prstDash val="solid"/>
          </a:ln>
        </p:spPr>
      </p:sp>
      <p:sp>
        <p:nvSpPr>
          <p:cNvPr id="21" name="Text 19"/>
          <p:cNvSpPr/>
          <p:nvPr/>
        </p:nvSpPr>
        <p:spPr>
          <a:xfrm>
            <a:off x="6675120" y="2468880"/>
            <a:ext cx="1280160" cy="36576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Verify</a:t>
            </a:r>
            <a:endParaRPr lang="en-US" sz="1200" dirty="0"/>
          </a:p>
        </p:txBody>
      </p:sp>
      <p:sp>
        <p:nvSpPr>
          <p:cNvPr id="22" name="Text 20"/>
          <p:cNvSpPr/>
          <p:nvPr/>
        </p:nvSpPr>
        <p:spPr>
          <a:xfrm>
            <a:off x="7955280" y="2468880"/>
            <a:ext cx="365760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Agent presents Entra-issued token on every backend call. Nothing implicit.</a:t>
            </a:r>
            <a:endParaRPr lang="en-US" sz="1100" dirty="0"/>
          </a:p>
        </p:txBody>
      </p:sp>
      <p:sp>
        <p:nvSpPr>
          <p:cNvPr id="23" name="Shape 21"/>
          <p:cNvSpPr/>
          <p:nvPr/>
        </p:nvSpPr>
        <p:spPr>
          <a:xfrm>
            <a:off x="6492240" y="3090672"/>
            <a:ext cx="91440" cy="320040"/>
          </a:xfrm>
          <a:prstGeom prst="rect">
            <a:avLst/>
          </a:prstGeom>
          <a:solidFill>
            <a:srgbClr val="F5A623"/>
          </a:solidFill>
          <a:ln w="12700">
            <a:solidFill>
              <a:srgbClr val="F5A623"/>
            </a:solidFill>
            <a:prstDash val="solid"/>
          </a:ln>
        </p:spPr>
      </p:sp>
      <p:sp>
        <p:nvSpPr>
          <p:cNvPr id="24" name="Text 22"/>
          <p:cNvSpPr/>
          <p:nvPr/>
        </p:nvSpPr>
        <p:spPr>
          <a:xfrm>
            <a:off x="6675120" y="3017520"/>
            <a:ext cx="1280160" cy="36576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Scope</a:t>
            </a:r>
            <a:endParaRPr lang="en-US" sz="1200" dirty="0"/>
          </a:p>
        </p:txBody>
      </p:sp>
      <p:sp>
        <p:nvSpPr>
          <p:cNvPr id="25" name="Text 23"/>
          <p:cNvSpPr/>
          <p:nvPr/>
        </p:nvSpPr>
        <p:spPr>
          <a:xfrm>
            <a:off x="7955280" y="3017520"/>
            <a:ext cx="365760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Agent's blueprint permits only Sites.Selected on SharePoint and read-only PO scopes.</a:t>
            </a:r>
            <a:endParaRPr lang="en-US" sz="1100" dirty="0"/>
          </a:p>
        </p:txBody>
      </p:sp>
      <p:sp>
        <p:nvSpPr>
          <p:cNvPr id="26" name="Shape 24"/>
          <p:cNvSpPr/>
          <p:nvPr/>
        </p:nvSpPr>
        <p:spPr>
          <a:xfrm>
            <a:off x="6492240" y="3639312"/>
            <a:ext cx="91440" cy="320040"/>
          </a:xfrm>
          <a:prstGeom prst="rect">
            <a:avLst/>
          </a:prstGeom>
          <a:solidFill>
            <a:srgbClr val="F5A623"/>
          </a:solidFill>
          <a:ln w="12700">
            <a:solidFill>
              <a:srgbClr val="F5A623"/>
            </a:solidFill>
            <a:prstDash val="solid"/>
          </a:ln>
        </p:spPr>
      </p:sp>
      <p:sp>
        <p:nvSpPr>
          <p:cNvPr id="27" name="Text 25"/>
          <p:cNvSpPr/>
          <p:nvPr/>
        </p:nvSpPr>
        <p:spPr>
          <a:xfrm>
            <a:off x="6675120" y="3566160"/>
            <a:ext cx="1280160" cy="36576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Contextual</a:t>
            </a:r>
            <a:endParaRPr lang="en-US" sz="1200" dirty="0"/>
          </a:p>
        </p:txBody>
      </p:sp>
      <p:sp>
        <p:nvSpPr>
          <p:cNvPr id="28" name="Text 26"/>
          <p:cNvSpPr/>
          <p:nvPr/>
        </p:nvSpPr>
        <p:spPr>
          <a:xfrm>
            <a:off x="7955280" y="3566160"/>
            <a:ext cx="365760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Conditional Access blocks the agent if signals look risky (odd geo, sudden volume).</a:t>
            </a:r>
            <a:endParaRPr lang="en-US" sz="1100" dirty="0"/>
          </a:p>
        </p:txBody>
      </p:sp>
      <p:sp>
        <p:nvSpPr>
          <p:cNvPr id="29" name="Shape 27"/>
          <p:cNvSpPr/>
          <p:nvPr/>
        </p:nvSpPr>
        <p:spPr>
          <a:xfrm>
            <a:off x="6492240" y="4187952"/>
            <a:ext cx="91440" cy="320040"/>
          </a:xfrm>
          <a:prstGeom prst="rect">
            <a:avLst/>
          </a:prstGeom>
          <a:solidFill>
            <a:srgbClr val="F5A623"/>
          </a:solidFill>
          <a:ln w="12700">
            <a:solidFill>
              <a:srgbClr val="F5A623"/>
            </a:solidFill>
            <a:prstDash val="solid"/>
          </a:ln>
        </p:spPr>
      </p:sp>
      <p:sp>
        <p:nvSpPr>
          <p:cNvPr id="30" name="Text 28"/>
          <p:cNvSpPr/>
          <p:nvPr/>
        </p:nvSpPr>
        <p:spPr>
          <a:xfrm>
            <a:off x="6675120" y="4114800"/>
            <a:ext cx="1280160" cy="36576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Delegated</a:t>
            </a:r>
            <a:endParaRPr lang="en-US" sz="1200" dirty="0"/>
          </a:p>
        </p:txBody>
      </p:sp>
      <p:sp>
        <p:nvSpPr>
          <p:cNvPr id="31" name="Text 29"/>
          <p:cNvSpPr/>
          <p:nvPr/>
        </p:nvSpPr>
        <p:spPr>
          <a:xfrm>
            <a:off x="7955280" y="4114800"/>
            <a:ext cx="365760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For per-user queries, uses On-Behalf-Of — agent inherits user's ERP permissions.</a:t>
            </a:r>
            <a:endParaRPr lang="en-US" sz="1100" dirty="0"/>
          </a:p>
        </p:txBody>
      </p:sp>
      <p:sp>
        <p:nvSpPr>
          <p:cNvPr id="32" name="Shape 30"/>
          <p:cNvSpPr/>
          <p:nvPr/>
        </p:nvSpPr>
        <p:spPr>
          <a:xfrm>
            <a:off x="6492240" y="4736592"/>
            <a:ext cx="91440" cy="320040"/>
          </a:xfrm>
          <a:prstGeom prst="rect">
            <a:avLst/>
          </a:prstGeom>
          <a:solidFill>
            <a:srgbClr val="F5A623"/>
          </a:solidFill>
          <a:ln w="12700">
            <a:solidFill>
              <a:srgbClr val="F5A623"/>
            </a:solidFill>
            <a:prstDash val="solid"/>
          </a:ln>
        </p:spPr>
      </p:sp>
      <p:sp>
        <p:nvSpPr>
          <p:cNvPr id="33" name="Text 31"/>
          <p:cNvSpPr/>
          <p:nvPr/>
        </p:nvSpPr>
        <p:spPr>
          <a:xfrm>
            <a:off x="6675120" y="4663440"/>
            <a:ext cx="1280160" cy="36576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Logged</a:t>
            </a:r>
            <a:endParaRPr lang="en-US" sz="1200" dirty="0"/>
          </a:p>
        </p:txBody>
      </p:sp>
      <p:sp>
        <p:nvSpPr>
          <p:cNvPr id="34" name="Text 32"/>
          <p:cNvSpPr/>
          <p:nvPr/>
        </p:nvSpPr>
        <p:spPr>
          <a:xfrm>
            <a:off x="7955280" y="4663440"/>
            <a:ext cx="365760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Every token issue, every backend call, tied to a unique agent object ID.</a:t>
            </a:r>
            <a:endParaRPr lang="en-US" sz="1100" dirty="0"/>
          </a:p>
        </p:txBody>
      </p:sp>
      <p:sp>
        <p:nvSpPr>
          <p:cNvPr id="35" name="Shape 33"/>
          <p:cNvSpPr/>
          <p:nvPr/>
        </p:nvSpPr>
        <p:spPr>
          <a:xfrm>
            <a:off x="6492240" y="5285232"/>
            <a:ext cx="91440" cy="320040"/>
          </a:xfrm>
          <a:prstGeom prst="rect">
            <a:avLst/>
          </a:prstGeom>
          <a:solidFill>
            <a:srgbClr val="F5A623"/>
          </a:solidFill>
          <a:ln w="12700">
            <a:solidFill>
              <a:srgbClr val="F5A623"/>
            </a:solidFill>
            <a:prstDash val="solid"/>
          </a:ln>
        </p:spPr>
      </p:sp>
      <p:sp>
        <p:nvSpPr>
          <p:cNvPr id="36" name="Text 34"/>
          <p:cNvSpPr/>
          <p:nvPr/>
        </p:nvSpPr>
        <p:spPr>
          <a:xfrm>
            <a:off x="6675120" y="5212080"/>
            <a:ext cx="1280160" cy="36576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Reviewable</a:t>
            </a:r>
            <a:endParaRPr lang="en-US" sz="1200" dirty="0"/>
          </a:p>
        </p:txBody>
      </p:sp>
      <p:sp>
        <p:nvSpPr>
          <p:cNvPr id="37" name="Text 35"/>
          <p:cNvSpPr/>
          <p:nvPr/>
        </p:nvSpPr>
        <p:spPr>
          <a:xfrm>
            <a:off x="7955280" y="5212080"/>
            <a:ext cx="365760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Quarterly access review. Access packages give time-bound access, not forever.</a:t>
            </a:r>
            <a:endParaRPr lang="en-US" sz="1100" dirty="0"/>
          </a:p>
        </p:txBody>
      </p:sp>
      <p:sp>
        <p:nvSpPr>
          <p:cNvPr id="38" name="Text 36"/>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39" name="Text 37"/>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8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03  MICROSOFT ENTRA AGENT ID</a:t>
            </a:r>
            <a:endParaRPr lang="en-US" sz="1100" dirty="0"/>
          </a:p>
        </p:txBody>
      </p:sp>
      <p:sp>
        <p:nvSpPr>
          <p:cNvPr id="4" name="Text 2"/>
          <p:cNvSpPr/>
          <p:nvPr/>
        </p:nvSpPr>
        <p:spPr>
          <a:xfrm>
            <a:off x="457200" y="777240"/>
            <a:ext cx="112471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Microsoft Entra Agent ID</a:t>
            </a:r>
            <a:endParaRPr lang="en-US" sz="3400" dirty="0"/>
          </a:p>
        </p:txBody>
      </p:sp>
      <p:sp>
        <p:nvSpPr>
          <p:cNvPr id="5" name="Shape 3"/>
          <p:cNvSpPr/>
          <p:nvPr/>
        </p:nvSpPr>
        <p:spPr>
          <a:xfrm>
            <a:off x="457200" y="1600200"/>
            <a:ext cx="11247120" cy="1234440"/>
          </a:xfrm>
          <a:prstGeom prst="roundRect">
            <a:avLst>
              <a:gd name="adj" fmla="val 5926"/>
            </a:avLst>
          </a:prstGeom>
          <a:solidFill>
            <a:srgbClr val="13315C"/>
          </a:solidFill>
          <a:ln w="12700">
            <a:solidFill>
              <a:srgbClr val="13315C"/>
            </a:solidFill>
            <a:prstDash val="solid"/>
          </a:ln>
        </p:spPr>
      </p:sp>
      <p:sp>
        <p:nvSpPr>
          <p:cNvPr id="6" name="Text 4"/>
          <p:cNvSpPr/>
          <p:nvPr/>
        </p:nvSpPr>
        <p:spPr>
          <a:xfrm>
            <a:off x="731520" y="1691640"/>
            <a:ext cx="1828800" cy="320040"/>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Definition</a:t>
            </a:r>
            <a:endParaRPr lang="en-US" sz="1100" dirty="0"/>
          </a:p>
        </p:txBody>
      </p:sp>
      <p:sp>
        <p:nvSpPr>
          <p:cNvPr id="7" name="Text 5"/>
          <p:cNvSpPr/>
          <p:nvPr/>
        </p:nvSpPr>
        <p:spPr>
          <a:xfrm>
            <a:off x="731520" y="2011680"/>
            <a:ext cx="10698480" cy="777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An identity and authorization framework built specifically for AI agents in enterprise environments. It extends Zero Trust — authentication, authorization, governance, lifecycle, and threat protection — to non-human agents using standard protocols: OAuth 2.0, MCP, and A2A.</a:t>
            </a:r>
            <a:endParaRPr lang="en-US" sz="1400" dirty="0"/>
          </a:p>
        </p:txBody>
      </p:sp>
      <p:sp>
        <p:nvSpPr>
          <p:cNvPr id="8" name="Shape 6"/>
          <p:cNvSpPr/>
          <p:nvPr/>
        </p:nvSpPr>
        <p:spPr>
          <a:xfrm>
            <a:off x="457200" y="3063240"/>
            <a:ext cx="3703320" cy="1600200"/>
          </a:xfrm>
          <a:prstGeom prst="roundRect">
            <a:avLst>
              <a:gd name="adj" fmla="val 4571"/>
            </a:avLst>
          </a:prstGeom>
          <a:solidFill>
            <a:srgbClr val="17284A"/>
          </a:solidFill>
          <a:ln w="12700">
            <a:solidFill>
              <a:srgbClr val="1C7293"/>
            </a:solidFill>
            <a:prstDash val="solid"/>
          </a:ln>
        </p:spPr>
      </p:sp>
      <p:sp>
        <p:nvSpPr>
          <p:cNvPr id="9" name="Text 7"/>
          <p:cNvSpPr/>
          <p:nvPr/>
        </p:nvSpPr>
        <p:spPr>
          <a:xfrm>
            <a:off x="457200" y="3200400"/>
            <a:ext cx="3703320" cy="685800"/>
          </a:xfrm>
          <a:prstGeom prst="rect">
            <a:avLst/>
          </a:prstGeom>
          <a:noFill/>
          <a:ln/>
        </p:spPr>
        <p:txBody>
          <a:bodyPr wrap="square" lIns="0" tIns="0" rIns="0" bIns="0" rtlCol="0" anchor="ctr"/>
          <a:lstStyle/>
          <a:p>
            <a:pPr algn="ctr" indent="0" marL="0">
              <a:buNone/>
            </a:pPr>
            <a:r>
              <a:rPr lang="en-US" sz="3400" b="1" dirty="0">
                <a:solidFill>
                  <a:srgbClr val="F5A623"/>
                </a:solidFill>
                <a:latin typeface="Cambria" pitchFamily="34" charset="0"/>
                <a:ea typeface="Cambria" pitchFamily="34" charset="-122"/>
                <a:cs typeface="Cambria" pitchFamily="34" charset="-120"/>
              </a:rPr>
              <a:t>GA</a:t>
            </a:r>
            <a:endParaRPr lang="en-US" sz="3400" dirty="0"/>
          </a:p>
        </p:txBody>
      </p:sp>
      <p:sp>
        <p:nvSpPr>
          <p:cNvPr id="10" name="Text 8"/>
          <p:cNvSpPr/>
          <p:nvPr/>
        </p:nvSpPr>
        <p:spPr>
          <a:xfrm>
            <a:off x="640080" y="3931920"/>
            <a:ext cx="3337560" cy="64008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Generally available April 2026 after Public Preview at Build 2025</a:t>
            </a:r>
            <a:endParaRPr lang="en-US" sz="1100" dirty="0"/>
          </a:p>
        </p:txBody>
      </p:sp>
      <p:sp>
        <p:nvSpPr>
          <p:cNvPr id="11" name="Shape 9"/>
          <p:cNvSpPr/>
          <p:nvPr/>
        </p:nvSpPr>
        <p:spPr>
          <a:xfrm>
            <a:off x="4343400" y="3063240"/>
            <a:ext cx="3703320" cy="1600200"/>
          </a:xfrm>
          <a:prstGeom prst="roundRect">
            <a:avLst>
              <a:gd name="adj" fmla="val 4571"/>
            </a:avLst>
          </a:prstGeom>
          <a:solidFill>
            <a:srgbClr val="17284A"/>
          </a:solidFill>
          <a:ln w="12700">
            <a:solidFill>
              <a:srgbClr val="1C7293"/>
            </a:solidFill>
            <a:prstDash val="solid"/>
          </a:ln>
        </p:spPr>
      </p:sp>
      <p:sp>
        <p:nvSpPr>
          <p:cNvPr id="12" name="Text 10"/>
          <p:cNvSpPr/>
          <p:nvPr/>
        </p:nvSpPr>
        <p:spPr>
          <a:xfrm>
            <a:off x="4343400" y="3200400"/>
            <a:ext cx="3703320" cy="685800"/>
          </a:xfrm>
          <a:prstGeom prst="rect">
            <a:avLst/>
          </a:prstGeom>
          <a:noFill/>
          <a:ln/>
        </p:spPr>
        <p:txBody>
          <a:bodyPr wrap="square" lIns="0" tIns="0" rIns="0" bIns="0" rtlCol="0" anchor="ctr"/>
          <a:lstStyle/>
          <a:p>
            <a:pPr algn="ctr" indent="0" marL="0">
              <a:buNone/>
            </a:pPr>
            <a:r>
              <a:rPr lang="en-US" sz="3400" b="1" dirty="0">
                <a:solidFill>
                  <a:srgbClr val="F5A623"/>
                </a:solidFill>
                <a:latin typeface="Cambria" pitchFamily="34" charset="0"/>
                <a:ea typeface="Cambria" pitchFamily="34" charset="-122"/>
                <a:cs typeface="Cambria" pitchFamily="34" charset="-120"/>
              </a:rPr>
              <a:t>OAuth 2.0</a:t>
            </a:r>
            <a:endParaRPr lang="en-US" sz="3400" dirty="0"/>
          </a:p>
        </p:txBody>
      </p:sp>
      <p:sp>
        <p:nvSpPr>
          <p:cNvPr id="13" name="Text 11"/>
          <p:cNvSpPr/>
          <p:nvPr/>
        </p:nvSpPr>
        <p:spPr>
          <a:xfrm>
            <a:off x="4526280" y="3931920"/>
            <a:ext cx="3337560" cy="64008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Standards-based — client_credentials, jwt-bearer, refresh_token</a:t>
            </a:r>
            <a:endParaRPr lang="en-US" sz="1100" dirty="0"/>
          </a:p>
        </p:txBody>
      </p:sp>
      <p:sp>
        <p:nvSpPr>
          <p:cNvPr id="14" name="Shape 12"/>
          <p:cNvSpPr/>
          <p:nvPr/>
        </p:nvSpPr>
        <p:spPr>
          <a:xfrm>
            <a:off x="8229600" y="3063240"/>
            <a:ext cx="3703320" cy="1600200"/>
          </a:xfrm>
          <a:prstGeom prst="roundRect">
            <a:avLst>
              <a:gd name="adj" fmla="val 4571"/>
            </a:avLst>
          </a:prstGeom>
          <a:solidFill>
            <a:srgbClr val="17284A"/>
          </a:solidFill>
          <a:ln w="12700">
            <a:solidFill>
              <a:srgbClr val="1C7293"/>
            </a:solidFill>
            <a:prstDash val="solid"/>
          </a:ln>
        </p:spPr>
      </p:sp>
      <p:sp>
        <p:nvSpPr>
          <p:cNvPr id="15" name="Text 13"/>
          <p:cNvSpPr/>
          <p:nvPr/>
        </p:nvSpPr>
        <p:spPr>
          <a:xfrm>
            <a:off x="8229600" y="3200400"/>
            <a:ext cx="3703320" cy="685800"/>
          </a:xfrm>
          <a:prstGeom prst="rect">
            <a:avLst/>
          </a:prstGeom>
          <a:noFill/>
          <a:ln/>
        </p:spPr>
        <p:txBody>
          <a:bodyPr wrap="square" lIns="0" tIns="0" rIns="0" bIns="0" rtlCol="0" anchor="ctr"/>
          <a:lstStyle/>
          <a:p>
            <a:pPr algn="ctr" indent="0" marL="0">
              <a:buNone/>
            </a:pPr>
            <a:r>
              <a:rPr lang="en-US" sz="3400" b="1" dirty="0">
                <a:solidFill>
                  <a:srgbClr val="F5A623"/>
                </a:solidFill>
                <a:latin typeface="Cambria" pitchFamily="34" charset="0"/>
                <a:ea typeface="Cambria" pitchFamily="34" charset="-122"/>
                <a:cs typeface="Cambria" pitchFamily="34" charset="-120"/>
              </a:rPr>
              <a:t>Zero Trust</a:t>
            </a:r>
            <a:endParaRPr lang="en-US" sz="3400" dirty="0"/>
          </a:p>
        </p:txBody>
      </p:sp>
      <p:sp>
        <p:nvSpPr>
          <p:cNvPr id="16" name="Text 14"/>
          <p:cNvSpPr/>
          <p:nvPr/>
        </p:nvSpPr>
        <p:spPr>
          <a:xfrm>
            <a:off x="8412480" y="3931920"/>
            <a:ext cx="3337560" cy="64008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Same infrastructure that governs your workforce, extended to agents</a:t>
            </a:r>
            <a:endParaRPr lang="en-US" sz="1100" dirty="0"/>
          </a:p>
        </p:txBody>
      </p:sp>
      <p:sp>
        <p:nvSpPr>
          <p:cNvPr id="17" name="Text 15"/>
          <p:cNvSpPr/>
          <p:nvPr/>
        </p:nvSpPr>
        <p:spPr>
          <a:xfrm>
            <a:off x="457200" y="4937760"/>
            <a:ext cx="11247120" cy="365760"/>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Why we need it for the procurement agent</a:t>
            </a:r>
            <a:endParaRPr lang="en-US" sz="1500" dirty="0"/>
          </a:p>
        </p:txBody>
      </p:sp>
      <p:sp>
        <p:nvSpPr>
          <p:cNvPr id="18" name="Text 16"/>
          <p:cNvSpPr/>
          <p:nvPr/>
        </p:nvSpPr>
        <p:spPr>
          <a:xfrm>
            <a:off x="457200" y="5349240"/>
            <a:ext cx="274320" cy="27432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777240" y="5349240"/>
            <a:ext cx="1088136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Register the agent as a first-class identity in the Entra directory — visible, governable, revocable.</a:t>
            </a:r>
            <a:endParaRPr lang="en-US" sz="1150" dirty="0"/>
          </a:p>
        </p:txBody>
      </p:sp>
      <p:sp>
        <p:nvSpPr>
          <p:cNvPr id="20" name="Text 18"/>
          <p:cNvSpPr/>
          <p:nvPr/>
        </p:nvSpPr>
        <p:spPr>
          <a:xfrm>
            <a:off x="457200" y="5641848"/>
            <a:ext cx="274320" cy="27432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a:t>
            </a:r>
            <a:endParaRPr lang="en-US" sz="1200" dirty="0"/>
          </a:p>
        </p:txBody>
      </p:sp>
      <p:sp>
        <p:nvSpPr>
          <p:cNvPr id="21" name="Text 19"/>
          <p:cNvSpPr/>
          <p:nvPr/>
        </p:nvSpPr>
        <p:spPr>
          <a:xfrm>
            <a:off x="777240" y="5641848"/>
            <a:ext cx="1088136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Enforce least privilege across ERP, SharePoint, and Graph using inheritable permissions on the blueprint.</a:t>
            </a:r>
            <a:endParaRPr lang="en-US" sz="1150" dirty="0"/>
          </a:p>
        </p:txBody>
      </p:sp>
      <p:sp>
        <p:nvSpPr>
          <p:cNvPr id="22" name="Text 20"/>
          <p:cNvSpPr/>
          <p:nvPr/>
        </p:nvSpPr>
        <p:spPr>
          <a:xfrm>
            <a:off x="457200" y="5934456"/>
            <a:ext cx="274320" cy="27432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777240" y="5934456"/>
            <a:ext cx="1088136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Enable Conditional Access, sign-in logging, and access reviews just like we do for human employees.</a:t>
            </a:r>
            <a:endParaRPr lang="en-US" sz="1150" dirty="0"/>
          </a:p>
        </p:txBody>
      </p:sp>
      <p:sp>
        <p:nvSpPr>
          <p:cNvPr id="24" name="Text 22"/>
          <p:cNvSpPr/>
          <p:nvPr/>
        </p:nvSpPr>
        <p:spPr>
          <a:xfrm>
            <a:off x="457200" y="6227064"/>
            <a:ext cx="274320" cy="27432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a:t>
            </a:r>
            <a:endParaRPr lang="en-US" sz="1200" dirty="0"/>
          </a:p>
        </p:txBody>
      </p:sp>
      <p:sp>
        <p:nvSpPr>
          <p:cNvPr id="25" name="Text 23"/>
          <p:cNvSpPr/>
          <p:nvPr/>
        </p:nvSpPr>
        <p:spPr>
          <a:xfrm>
            <a:off x="777240" y="6227064"/>
            <a:ext cx="1088136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Native integration with Copilot Studio and Azure AI Foundry — the agent gets an Entra identity at creation.</a:t>
            </a:r>
            <a:endParaRPr lang="en-US" sz="1150" dirty="0"/>
          </a:p>
        </p:txBody>
      </p:sp>
      <p:sp>
        <p:nvSpPr>
          <p:cNvPr id="26" name="Text 2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Entra Agent ID  •  Procurement Assistant</a:t>
            </a:r>
            <a:endParaRPr lang="en-US" sz="900" dirty="0"/>
          </a:p>
        </p:txBody>
      </p:sp>
      <p:sp>
        <p:nvSpPr>
          <p:cNvPr id="27" name="Text 25"/>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9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03  MICROSOFT ENTRA AGENT ID  ★  DEEP-DIVE</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The Agent Identity Blueprint model</a:t>
            </a:r>
            <a:endParaRPr lang="en-US" sz="3200" dirty="0"/>
          </a:p>
        </p:txBody>
      </p:sp>
      <p:sp>
        <p:nvSpPr>
          <p:cNvPr id="5" name="Text 3"/>
          <p:cNvSpPr/>
          <p:nvPr/>
        </p:nvSpPr>
        <p:spPr>
          <a:xfrm>
            <a:off x="457200" y="1554480"/>
            <a:ext cx="11247120" cy="457200"/>
          </a:xfrm>
          <a:prstGeom prst="rect">
            <a:avLst/>
          </a:prstGeom>
          <a:noFill/>
          <a:ln/>
        </p:spPr>
        <p:txBody>
          <a:bodyPr wrap="square" lIns="0" tIns="0" rIns="0" bIns="0" rtlCol="0" anchor="ctr"/>
          <a:lstStyle/>
          <a:p>
            <a:pPr indent="0" marL="0">
              <a:buNone/>
            </a:pPr>
            <a:r>
              <a:rPr lang="en-US" sz="1200" i="1" dirty="0">
                <a:solidFill>
                  <a:srgbClr val="6B7B8C"/>
                </a:solidFill>
                <a:latin typeface="Calibri" pitchFamily="34" charset="0"/>
                <a:ea typeface="Calibri" pitchFamily="34" charset="-122"/>
                <a:cs typeface="Calibri" pitchFamily="34" charset="-120"/>
              </a:rPr>
              <a:t>The blueprint is the reusable template. Each agent gets its own identity, but permissions are defined once on the blueprint and inherited. This is the core mental model.</a:t>
            </a:r>
            <a:endParaRPr lang="en-US" sz="1200" dirty="0"/>
          </a:p>
        </p:txBody>
      </p:sp>
      <p:sp>
        <p:nvSpPr>
          <p:cNvPr id="6" name="Shape 4"/>
          <p:cNvSpPr/>
          <p:nvPr/>
        </p:nvSpPr>
        <p:spPr>
          <a:xfrm>
            <a:off x="4251960" y="2148840"/>
            <a:ext cx="3657600" cy="1417320"/>
          </a:xfrm>
          <a:prstGeom prst="roundRect">
            <a:avLst>
              <a:gd name="adj" fmla="val 5161"/>
            </a:avLst>
          </a:prstGeom>
          <a:solidFill>
            <a:srgbClr val="F5A623"/>
          </a:solidFill>
          <a:ln w="25400">
            <a:solidFill>
              <a:srgbClr val="F5A623"/>
            </a:solidFill>
            <a:prstDash val="solid"/>
          </a:ln>
          <a:effectLst>
            <a:outerShdw sx="100000" sy="100000" kx="0" ky="0" algn="bl" rotWithShape="0" blurRad="101600" dist="25400" dir="2700000">
              <a:srgbClr val="999999">
                <a:alpha val="20000"/>
              </a:srgbClr>
            </a:outerShdw>
          </a:effectLst>
        </p:spPr>
      </p:sp>
      <p:sp>
        <p:nvSpPr>
          <p:cNvPr id="7" name="Text 5"/>
          <p:cNvSpPr/>
          <p:nvPr/>
        </p:nvSpPr>
        <p:spPr>
          <a:xfrm>
            <a:off x="4251960" y="2221992"/>
            <a:ext cx="3657600" cy="274320"/>
          </a:xfrm>
          <a:prstGeom prst="rect">
            <a:avLst/>
          </a:prstGeom>
          <a:noFill/>
          <a:ln/>
        </p:spPr>
        <p:txBody>
          <a:bodyPr wrap="square" lIns="0" tIns="0" rIns="0" bIns="0" rtlCol="0" anchor="ctr"/>
          <a:lstStyle/>
          <a:p>
            <a:pPr algn="ctr" indent="0" marL="0">
              <a:buNone/>
            </a:pPr>
            <a:r>
              <a:rPr lang="en-US" sz="1000" b="1" spc="300" kern="0" dirty="0">
                <a:solidFill>
                  <a:srgbClr val="0B1F3A"/>
                </a:solidFill>
                <a:latin typeface="Calibri" pitchFamily="34" charset="0"/>
                <a:ea typeface="Calibri" pitchFamily="34" charset="-122"/>
                <a:cs typeface="Calibri" pitchFamily="34" charset="-120"/>
              </a:rPr>
              <a:t>AGENT IDENTITY BLUEPRINT</a:t>
            </a:r>
            <a:endParaRPr lang="en-US" sz="1000" dirty="0"/>
          </a:p>
        </p:txBody>
      </p:sp>
      <p:sp>
        <p:nvSpPr>
          <p:cNvPr id="8" name="Text 6"/>
          <p:cNvSpPr/>
          <p:nvPr/>
        </p:nvSpPr>
        <p:spPr>
          <a:xfrm>
            <a:off x="4251960" y="2496312"/>
            <a:ext cx="3657600" cy="320040"/>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Procurement Assistant  BP-v1</a:t>
            </a:r>
            <a:endParaRPr lang="en-US" sz="1400" dirty="0"/>
          </a:p>
        </p:txBody>
      </p:sp>
      <p:sp>
        <p:nvSpPr>
          <p:cNvPr id="9" name="Text 7"/>
          <p:cNvSpPr/>
          <p:nvPr/>
        </p:nvSpPr>
        <p:spPr>
          <a:xfrm>
            <a:off x="4251960" y="2834640"/>
            <a:ext cx="3657600" cy="256032"/>
          </a:xfrm>
          <a:prstGeom prst="rect">
            <a:avLst/>
          </a:prstGeom>
          <a:noFill/>
          <a:ln/>
        </p:spPr>
        <p:txBody>
          <a:bodyPr wrap="square" lIns="0" tIns="0" rIns="0" bIns="0" rtlCol="0" anchor="ctr"/>
          <a:lstStyle/>
          <a:p>
            <a:pPr algn="ctr" indent="0" marL="0">
              <a:buNone/>
            </a:pPr>
            <a:r>
              <a:rPr lang="en-US" sz="1000" i="1" dirty="0">
                <a:solidFill>
                  <a:srgbClr val="0B1F3A"/>
                </a:solidFill>
                <a:latin typeface="Calibri" pitchFamily="34" charset="0"/>
                <a:ea typeface="Calibri" pitchFamily="34" charset="-122"/>
                <a:cs typeface="Calibri" pitchFamily="34" charset="-120"/>
              </a:rPr>
              <a:t>client credential  •  inheritable permissions</a:t>
            </a:r>
            <a:endParaRPr lang="en-US" sz="1000" dirty="0"/>
          </a:p>
        </p:txBody>
      </p:sp>
      <p:sp>
        <p:nvSpPr>
          <p:cNvPr id="10" name="Text 8"/>
          <p:cNvSpPr/>
          <p:nvPr/>
        </p:nvSpPr>
        <p:spPr>
          <a:xfrm>
            <a:off x="4251960" y="3108960"/>
            <a:ext cx="3657600" cy="320040"/>
          </a:xfrm>
          <a:prstGeom prst="rect">
            <a:avLst/>
          </a:prstGeom>
          <a:noFill/>
          <a:ln/>
        </p:spPr>
        <p:txBody>
          <a:bodyPr wrap="square" lIns="0" tIns="0" rIns="0" bIns="0" rtlCol="0" anchor="ctr"/>
          <a:lstStyle/>
          <a:p>
            <a:pPr algn="ctr" indent="0" marL="0">
              <a:buNone/>
            </a:pPr>
            <a:r>
              <a:rPr lang="en-US" sz="900" dirty="0">
                <a:solidFill>
                  <a:srgbClr val="0B1F3A"/>
                </a:solidFill>
                <a:latin typeface="Courier New" pitchFamily="34" charset="0"/>
                <a:ea typeface="Courier New" pitchFamily="34" charset="-122"/>
                <a:cs typeface="Courier New" pitchFamily="34" charset="-120"/>
              </a:rPr>
              <a:t>Sites.Selected  ·  User.Read  ·  PO.Read  ·  Vendor.Read</a:t>
            </a:r>
            <a:endParaRPr lang="en-US" sz="900" dirty="0"/>
          </a:p>
        </p:txBody>
      </p:sp>
      <p:sp>
        <p:nvSpPr>
          <p:cNvPr id="11" name="Shape 9"/>
          <p:cNvSpPr/>
          <p:nvPr/>
        </p:nvSpPr>
        <p:spPr>
          <a:xfrm>
            <a:off x="6080760" y="3566160"/>
            <a:ext cx="0" cy="320040"/>
          </a:xfrm>
          <a:prstGeom prst="line">
            <a:avLst/>
          </a:prstGeom>
          <a:noFill/>
          <a:ln w="25400">
            <a:solidFill>
              <a:srgbClr val="0B1F3A"/>
            </a:solidFill>
            <a:prstDash val="solid"/>
          </a:ln>
        </p:spPr>
      </p:sp>
      <p:sp>
        <p:nvSpPr>
          <p:cNvPr id="12" name="Shape 10"/>
          <p:cNvSpPr/>
          <p:nvPr/>
        </p:nvSpPr>
        <p:spPr>
          <a:xfrm>
            <a:off x="2331720" y="3886200"/>
            <a:ext cx="8046720" cy="0"/>
          </a:xfrm>
          <a:prstGeom prst="line">
            <a:avLst/>
          </a:prstGeom>
          <a:noFill/>
          <a:ln w="25400">
            <a:solidFill>
              <a:srgbClr val="0B1F3A"/>
            </a:solidFill>
            <a:prstDash val="solid"/>
          </a:ln>
        </p:spPr>
      </p:sp>
      <p:sp>
        <p:nvSpPr>
          <p:cNvPr id="13" name="Shape 11"/>
          <p:cNvSpPr/>
          <p:nvPr/>
        </p:nvSpPr>
        <p:spPr>
          <a:xfrm>
            <a:off x="2331720" y="3886200"/>
            <a:ext cx="0" cy="274320"/>
          </a:xfrm>
          <a:prstGeom prst="line">
            <a:avLst/>
          </a:prstGeom>
          <a:noFill/>
          <a:ln w="25400">
            <a:solidFill>
              <a:srgbClr val="0B1F3A"/>
            </a:solidFill>
            <a:prstDash val="solid"/>
            <a:tailEnd type="triangle"/>
          </a:ln>
        </p:spPr>
      </p:sp>
      <p:sp>
        <p:nvSpPr>
          <p:cNvPr id="14" name="Text 12"/>
          <p:cNvSpPr/>
          <p:nvPr/>
        </p:nvSpPr>
        <p:spPr>
          <a:xfrm>
            <a:off x="914400" y="3931920"/>
            <a:ext cx="2834640" cy="182880"/>
          </a:xfrm>
          <a:prstGeom prst="rect">
            <a:avLst/>
          </a:prstGeom>
          <a:noFill/>
          <a:ln/>
        </p:spPr>
        <p:txBody>
          <a:bodyPr wrap="square" lIns="0" tIns="0" rIns="0" bIns="0" rtlCol="0" anchor="ctr"/>
          <a:lstStyle/>
          <a:p>
            <a:pPr algn="ctr" indent="0" marL="0">
              <a:buNone/>
            </a:pPr>
            <a:r>
              <a:rPr lang="en-US" sz="900" i="1" dirty="0">
                <a:solidFill>
                  <a:srgbClr val="6B7B8C"/>
                </a:solidFill>
                <a:latin typeface="Calibri" pitchFamily="34" charset="0"/>
                <a:ea typeface="Calibri" pitchFamily="34" charset="-122"/>
                <a:cs typeface="Calibri" pitchFamily="34" charset="-120"/>
              </a:rPr>
              <a:t>inherits →</a:t>
            </a:r>
            <a:endParaRPr lang="en-US" sz="900" dirty="0"/>
          </a:p>
        </p:txBody>
      </p:sp>
      <p:sp>
        <p:nvSpPr>
          <p:cNvPr id="15" name="Shape 13"/>
          <p:cNvSpPr/>
          <p:nvPr/>
        </p:nvSpPr>
        <p:spPr>
          <a:xfrm>
            <a:off x="6355080" y="3886200"/>
            <a:ext cx="0" cy="274320"/>
          </a:xfrm>
          <a:prstGeom prst="line">
            <a:avLst/>
          </a:prstGeom>
          <a:noFill/>
          <a:ln w="25400">
            <a:solidFill>
              <a:srgbClr val="0B1F3A"/>
            </a:solidFill>
            <a:prstDash val="solid"/>
            <a:tailEnd type="triangle"/>
          </a:ln>
        </p:spPr>
      </p:sp>
      <p:sp>
        <p:nvSpPr>
          <p:cNvPr id="16" name="Text 14"/>
          <p:cNvSpPr/>
          <p:nvPr/>
        </p:nvSpPr>
        <p:spPr>
          <a:xfrm>
            <a:off x="4937760" y="3931920"/>
            <a:ext cx="2834640" cy="182880"/>
          </a:xfrm>
          <a:prstGeom prst="rect">
            <a:avLst/>
          </a:prstGeom>
          <a:noFill/>
          <a:ln/>
        </p:spPr>
        <p:txBody>
          <a:bodyPr wrap="square" lIns="0" tIns="0" rIns="0" bIns="0" rtlCol="0" anchor="ctr"/>
          <a:lstStyle/>
          <a:p>
            <a:pPr algn="ctr" indent="0" marL="0">
              <a:buNone/>
            </a:pPr>
            <a:r>
              <a:rPr lang="en-US" sz="900" i="1" dirty="0">
                <a:solidFill>
                  <a:srgbClr val="6B7B8C"/>
                </a:solidFill>
                <a:latin typeface="Calibri" pitchFamily="34" charset="0"/>
                <a:ea typeface="Calibri" pitchFamily="34" charset="-122"/>
                <a:cs typeface="Calibri" pitchFamily="34" charset="-120"/>
              </a:rPr>
              <a:t>inherits →</a:t>
            </a:r>
            <a:endParaRPr lang="en-US" sz="900" dirty="0"/>
          </a:p>
        </p:txBody>
      </p:sp>
      <p:sp>
        <p:nvSpPr>
          <p:cNvPr id="17" name="Shape 15"/>
          <p:cNvSpPr/>
          <p:nvPr/>
        </p:nvSpPr>
        <p:spPr>
          <a:xfrm>
            <a:off x="10378440" y="3886200"/>
            <a:ext cx="0" cy="274320"/>
          </a:xfrm>
          <a:prstGeom prst="line">
            <a:avLst/>
          </a:prstGeom>
          <a:noFill/>
          <a:ln w="25400">
            <a:solidFill>
              <a:srgbClr val="0B1F3A"/>
            </a:solidFill>
            <a:prstDash val="solid"/>
            <a:tailEnd type="triangle"/>
          </a:ln>
        </p:spPr>
      </p:sp>
      <p:sp>
        <p:nvSpPr>
          <p:cNvPr id="18" name="Text 16"/>
          <p:cNvSpPr/>
          <p:nvPr/>
        </p:nvSpPr>
        <p:spPr>
          <a:xfrm>
            <a:off x="8961120" y="3931920"/>
            <a:ext cx="2834640" cy="182880"/>
          </a:xfrm>
          <a:prstGeom prst="rect">
            <a:avLst/>
          </a:prstGeom>
          <a:noFill/>
          <a:ln/>
        </p:spPr>
        <p:txBody>
          <a:bodyPr wrap="square" lIns="0" tIns="0" rIns="0" bIns="0" rtlCol="0" anchor="ctr"/>
          <a:lstStyle/>
          <a:p>
            <a:pPr algn="ctr" indent="0" marL="0">
              <a:buNone/>
            </a:pPr>
            <a:r>
              <a:rPr lang="en-US" sz="900" i="1" dirty="0">
                <a:solidFill>
                  <a:srgbClr val="6B7B8C"/>
                </a:solidFill>
                <a:latin typeface="Calibri" pitchFamily="34" charset="0"/>
                <a:ea typeface="Calibri" pitchFamily="34" charset="-122"/>
                <a:cs typeface="Calibri" pitchFamily="34" charset="-120"/>
              </a:rPr>
              <a:t>inherits →</a:t>
            </a:r>
            <a:endParaRPr lang="en-US" sz="900" dirty="0"/>
          </a:p>
        </p:txBody>
      </p:sp>
      <p:sp>
        <p:nvSpPr>
          <p:cNvPr id="19" name="Shape 17"/>
          <p:cNvSpPr/>
          <p:nvPr/>
        </p:nvSpPr>
        <p:spPr>
          <a:xfrm>
            <a:off x="914400" y="4572000"/>
            <a:ext cx="2834640" cy="1371600"/>
          </a:xfrm>
          <a:prstGeom prst="roundRect">
            <a:avLst>
              <a:gd name="adj" fmla="val 5333"/>
            </a:avLst>
          </a:prstGeom>
          <a:solidFill>
            <a:srgbClr val="13315C"/>
          </a:solidFill>
          <a:ln w="12700">
            <a:solidFill>
              <a:srgbClr val="13315C"/>
            </a:solidFill>
            <a:prstDash val="solid"/>
          </a:ln>
        </p:spPr>
      </p:sp>
      <p:sp>
        <p:nvSpPr>
          <p:cNvPr id="20" name="Text 18"/>
          <p:cNvSpPr/>
          <p:nvPr/>
        </p:nvSpPr>
        <p:spPr>
          <a:xfrm>
            <a:off x="914400" y="4663440"/>
            <a:ext cx="2834640" cy="228600"/>
          </a:xfrm>
          <a:prstGeom prst="rect">
            <a:avLst/>
          </a:prstGeom>
          <a:noFill/>
          <a:ln/>
        </p:spPr>
        <p:txBody>
          <a:bodyPr wrap="square" lIns="0" tIns="0" rIns="0" bIns="0" rtlCol="0" anchor="ctr"/>
          <a:lstStyle/>
          <a:p>
            <a:pPr algn="ctr" indent="0" marL="0">
              <a:buNone/>
            </a:pPr>
            <a:r>
              <a:rPr lang="en-US" sz="800" b="1" spc="300" kern="0" dirty="0">
                <a:solidFill>
                  <a:srgbClr val="F5A623"/>
                </a:solidFill>
                <a:latin typeface="Calibri" pitchFamily="34" charset="0"/>
                <a:ea typeface="Calibri" pitchFamily="34" charset="-122"/>
                <a:cs typeface="Calibri" pitchFamily="34" charset="-120"/>
              </a:rPr>
              <a:t>AGENT IDENTITY</a:t>
            </a:r>
            <a:endParaRPr lang="en-US" sz="800" dirty="0"/>
          </a:p>
        </p:txBody>
      </p:sp>
      <p:sp>
        <p:nvSpPr>
          <p:cNvPr id="21" name="Text 19"/>
          <p:cNvSpPr/>
          <p:nvPr/>
        </p:nvSpPr>
        <p:spPr>
          <a:xfrm>
            <a:off x="914400" y="4892040"/>
            <a:ext cx="28346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Agent Identity A</a:t>
            </a:r>
            <a:endParaRPr lang="en-US" sz="1300" dirty="0"/>
          </a:p>
        </p:txBody>
      </p:sp>
      <p:sp>
        <p:nvSpPr>
          <p:cNvPr id="22" name="Text 20"/>
          <p:cNvSpPr/>
          <p:nvPr/>
        </p:nvSpPr>
        <p:spPr>
          <a:xfrm>
            <a:off x="914400" y="5212080"/>
            <a:ext cx="2834640" cy="27432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Production tenant</a:t>
            </a:r>
            <a:endParaRPr lang="en-US" sz="1000" dirty="0"/>
          </a:p>
        </p:txBody>
      </p:sp>
      <p:sp>
        <p:nvSpPr>
          <p:cNvPr id="23" name="Text 21"/>
          <p:cNvSpPr/>
          <p:nvPr/>
        </p:nvSpPr>
        <p:spPr>
          <a:xfrm>
            <a:off x="914400" y="5468112"/>
            <a:ext cx="2834640" cy="256032"/>
          </a:xfrm>
          <a:prstGeom prst="rect">
            <a:avLst/>
          </a:prstGeom>
          <a:noFill/>
          <a:ln/>
        </p:spPr>
        <p:txBody>
          <a:bodyPr wrap="square" lIns="0" tIns="0" rIns="0" bIns="0" rtlCol="0" anchor="ctr"/>
          <a:lstStyle/>
          <a:p>
            <a:pPr algn="ctr" indent="0" marL="0">
              <a:buNone/>
            </a:pPr>
            <a:r>
              <a:rPr lang="en-US" sz="900" i="1" dirty="0">
                <a:solidFill>
                  <a:srgbClr val="CADCFC"/>
                </a:solidFill>
                <a:latin typeface="Calibri" pitchFamily="34" charset="0"/>
                <a:ea typeface="Calibri" pitchFamily="34" charset="-122"/>
                <a:cs typeface="Calibri" pitchFamily="34" charset="-120"/>
              </a:rPr>
              <a:t>Deployed Q3 2026</a:t>
            </a:r>
            <a:endParaRPr lang="en-US" sz="900" dirty="0"/>
          </a:p>
        </p:txBody>
      </p:sp>
      <p:sp>
        <p:nvSpPr>
          <p:cNvPr id="24" name="Text 22"/>
          <p:cNvSpPr/>
          <p:nvPr/>
        </p:nvSpPr>
        <p:spPr>
          <a:xfrm>
            <a:off x="914400" y="5687568"/>
            <a:ext cx="2834640" cy="228600"/>
          </a:xfrm>
          <a:prstGeom prst="rect">
            <a:avLst/>
          </a:prstGeom>
          <a:noFill/>
          <a:ln/>
        </p:spPr>
        <p:txBody>
          <a:bodyPr wrap="square" lIns="0" tIns="0" rIns="0" bIns="0" rtlCol="0" anchor="ctr"/>
          <a:lstStyle/>
          <a:p>
            <a:pPr algn="ctr" indent="0" marL="0">
              <a:buNone/>
            </a:pPr>
            <a:r>
              <a:rPr lang="en-US" sz="800" dirty="0">
                <a:solidFill>
                  <a:srgbClr val="F5A623"/>
                </a:solidFill>
                <a:latin typeface="Calibri" pitchFamily="34" charset="0"/>
                <a:ea typeface="Calibri" pitchFamily="34" charset="-122"/>
                <a:cs typeface="Calibri" pitchFamily="34" charset="-120"/>
              </a:rPr>
              <a:t>↓ own object ID  •  own logs  •  own CA scope</a:t>
            </a:r>
            <a:endParaRPr lang="en-US" sz="800" dirty="0"/>
          </a:p>
        </p:txBody>
      </p:sp>
      <p:sp>
        <p:nvSpPr>
          <p:cNvPr id="25" name="Shape 23"/>
          <p:cNvSpPr/>
          <p:nvPr/>
        </p:nvSpPr>
        <p:spPr>
          <a:xfrm>
            <a:off x="4937760" y="4572000"/>
            <a:ext cx="2834640" cy="1371600"/>
          </a:xfrm>
          <a:prstGeom prst="roundRect">
            <a:avLst>
              <a:gd name="adj" fmla="val 5333"/>
            </a:avLst>
          </a:prstGeom>
          <a:solidFill>
            <a:srgbClr val="13315C"/>
          </a:solidFill>
          <a:ln w="12700">
            <a:solidFill>
              <a:srgbClr val="13315C"/>
            </a:solidFill>
            <a:prstDash val="solid"/>
          </a:ln>
        </p:spPr>
      </p:sp>
      <p:sp>
        <p:nvSpPr>
          <p:cNvPr id="26" name="Text 24"/>
          <p:cNvSpPr/>
          <p:nvPr/>
        </p:nvSpPr>
        <p:spPr>
          <a:xfrm>
            <a:off x="4937760" y="4663440"/>
            <a:ext cx="2834640" cy="228600"/>
          </a:xfrm>
          <a:prstGeom prst="rect">
            <a:avLst/>
          </a:prstGeom>
          <a:noFill/>
          <a:ln/>
        </p:spPr>
        <p:txBody>
          <a:bodyPr wrap="square" lIns="0" tIns="0" rIns="0" bIns="0" rtlCol="0" anchor="ctr"/>
          <a:lstStyle/>
          <a:p>
            <a:pPr algn="ctr" indent="0" marL="0">
              <a:buNone/>
            </a:pPr>
            <a:r>
              <a:rPr lang="en-US" sz="800" b="1" spc="300" kern="0" dirty="0">
                <a:solidFill>
                  <a:srgbClr val="F5A623"/>
                </a:solidFill>
                <a:latin typeface="Calibri" pitchFamily="34" charset="0"/>
                <a:ea typeface="Calibri" pitchFamily="34" charset="-122"/>
                <a:cs typeface="Calibri" pitchFamily="34" charset="-120"/>
              </a:rPr>
              <a:t>AGENT IDENTITY</a:t>
            </a:r>
            <a:endParaRPr lang="en-US" sz="800" dirty="0"/>
          </a:p>
        </p:txBody>
      </p:sp>
      <p:sp>
        <p:nvSpPr>
          <p:cNvPr id="27" name="Text 25"/>
          <p:cNvSpPr/>
          <p:nvPr/>
        </p:nvSpPr>
        <p:spPr>
          <a:xfrm>
            <a:off x="4937760" y="4892040"/>
            <a:ext cx="28346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Agent Identity B</a:t>
            </a:r>
            <a:endParaRPr lang="en-US" sz="1300" dirty="0"/>
          </a:p>
        </p:txBody>
      </p:sp>
      <p:sp>
        <p:nvSpPr>
          <p:cNvPr id="28" name="Text 26"/>
          <p:cNvSpPr/>
          <p:nvPr/>
        </p:nvSpPr>
        <p:spPr>
          <a:xfrm>
            <a:off x="4937760" y="5212080"/>
            <a:ext cx="2834640" cy="27432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Dev / Test</a:t>
            </a:r>
            <a:endParaRPr lang="en-US" sz="1000" dirty="0"/>
          </a:p>
        </p:txBody>
      </p:sp>
      <p:sp>
        <p:nvSpPr>
          <p:cNvPr id="29" name="Text 27"/>
          <p:cNvSpPr/>
          <p:nvPr/>
        </p:nvSpPr>
        <p:spPr>
          <a:xfrm>
            <a:off x="4937760" y="5468112"/>
            <a:ext cx="2834640" cy="256032"/>
          </a:xfrm>
          <a:prstGeom prst="rect">
            <a:avLst/>
          </a:prstGeom>
          <a:noFill/>
          <a:ln/>
        </p:spPr>
        <p:txBody>
          <a:bodyPr wrap="square" lIns="0" tIns="0" rIns="0" bIns="0" rtlCol="0" anchor="ctr"/>
          <a:lstStyle/>
          <a:p>
            <a:pPr algn="ctr" indent="0" marL="0">
              <a:buNone/>
            </a:pPr>
            <a:r>
              <a:rPr lang="en-US" sz="900" i="1" dirty="0">
                <a:solidFill>
                  <a:srgbClr val="CADCFC"/>
                </a:solidFill>
                <a:latin typeface="Calibri" pitchFamily="34" charset="0"/>
                <a:ea typeface="Calibri" pitchFamily="34" charset="-122"/>
                <a:cs typeface="Calibri" pitchFamily="34" charset="-120"/>
              </a:rPr>
              <a:t>Deployed for QA</a:t>
            </a:r>
            <a:endParaRPr lang="en-US" sz="900" dirty="0"/>
          </a:p>
        </p:txBody>
      </p:sp>
      <p:sp>
        <p:nvSpPr>
          <p:cNvPr id="30" name="Text 28"/>
          <p:cNvSpPr/>
          <p:nvPr/>
        </p:nvSpPr>
        <p:spPr>
          <a:xfrm>
            <a:off x="4937760" y="5687568"/>
            <a:ext cx="2834640" cy="228600"/>
          </a:xfrm>
          <a:prstGeom prst="rect">
            <a:avLst/>
          </a:prstGeom>
          <a:noFill/>
          <a:ln/>
        </p:spPr>
        <p:txBody>
          <a:bodyPr wrap="square" lIns="0" tIns="0" rIns="0" bIns="0" rtlCol="0" anchor="ctr"/>
          <a:lstStyle/>
          <a:p>
            <a:pPr algn="ctr" indent="0" marL="0">
              <a:buNone/>
            </a:pPr>
            <a:r>
              <a:rPr lang="en-US" sz="800" dirty="0">
                <a:solidFill>
                  <a:srgbClr val="F5A623"/>
                </a:solidFill>
                <a:latin typeface="Calibri" pitchFamily="34" charset="0"/>
                <a:ea typeface="Calibri" pitchFamily="34" charset="-122"/>
                <a:cs typeface="Calibri" pitchFamily="34" charset="-120"/>
              </a:rPr>
              <a:t>↓ own object ID  •  own logs  •  own CA scope</a:t>
            </a:r>
            <a:endParaRPr lang="en-US" sz="800" dirty="0"/>
          </a:p>
        </p:txBody>
      </p:sp>
      <p:sp>
        <p:nvSpPr>
          <p:cNvPr id="31" name="Shape 29"/>
          <p:cNvSpPr/>
          <p:nvPr/>
        </p:nvSpPr>
        <p:spPr>
          <a:xfrm>
            <a:off x="8961120" y="4572000"/>
            <a:ext cx="2834640" cy="1371600"/>
          </a:xfrm>
          <a:prstGeom prst="roundRect">
            <a:avLst>
              <a:gd name="adj" fmla="val 5333"/>
            </a:avLst>
          </a:prstGeom>
          <a:solidFill>
            <a:srgbClr val="13315C"/>
          </a:solidFill>
          <a:ln w="12700">
            <a:solidFill>
              <a:srgbClr val="13315C"/>
            </a:solidFill>
            <a:prstDash val="solid"/>
          </a:ln>
        </p:spPr>
      </p:sp>
      <p:sp>
        <p:nvSpPr>
          <p:cNvPr id="32" name="Text 30"/>
          <p:cNvSpPr/>
          <p:nvPr/>
        </p:nvSpPr>
        <p:spPr>
          <a:xfrm>
            <a:off x="8961120" y="4663440"/>
            <a:ext cx="2834640" cy="228600"/>
          </a:xfrm>
          <a:prstGeom prst="rect">
            <a:avLst/>
          </a:prstGeom>
          <a:noFill/>
          <a:ln/>
        </p:spPr>
        <p:txBody>
          <a:bodyPr wrap="square" lIns="0" tIns="0" rIns="0" bIns="0" rtlCol="0" anchor="ctr"/>
          <a:lstStyle/>
          <a:p>
            <a:pPr algn="ctr" indent="0" marL="0">
              <a:buNone/>
            </a:pPr>
            <a:r>
              <a:rPr lang="en-US" sz="800" b="1" spc="300" kern="0" dirty="0">
                <a:solidFill>
                  <a:srgbClr val="F5A623"/>
                </a:solidFill>
                <a:latin typeface="Calibri" pitchFamily="34" charset="0"/>
                <a:ea typeface="Calibri" pitchFamily="34" charset="-122"/>
                <a:cs typeface="Calibri" pitchFamily="34" charset="-120"/>
              </a:rPr>
              <a:t>AGENT IDENTITY</a:t>
            </a:r>
            <a:endParaRPr lang="en-US" sz="800" dirty="0"/>
          </a:p>
        </p:txBody>
      </p:sp>
      <p:sp>
        <p:nvSpPr>
          <p:cNvPr id="33" name="Text 31"/>
          <p:cNvSpPr/>
          <p:nvPr/>
        </p:nvSpPr>
        <p:spPr>
          <a:xfrm>
            <a:off x="8961120" y="4892040"/>
            <a:ext cx="28346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Agent Identity C</a:t>
            </a:r>
            <a:endParaRPr lang="en-US" sz="1300" dirty="0"/>
          </a:p>
        </p:txBody>
      </p:sp>
      <p:sp>
        <p:nvSpPr>
          <p:cNvPr id="34" name="Text 32"/>
          <p:cNvSpPr/>
          <p:nvPr/>
        </p:nvSpPr>
        <p:spPr>
          <a:xfrm>
            <a:off x="8961120" y="5212080"/>
            <a:ext cx="2834640" cy="27432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Regional (EU)</a:t>
            </a:r>
            <a:endParaRPr lang="en-US" sz="1000" dirty="0"/>
          </a:p>
        </p:txBody>
      </p:sp>
      <p:sp>
        <p:nvSpPr>
          <p:cNvPr id="35" name="Text 33"/>
          <p:cNvSpPr/>
          <p:nvPr/>
        </p:nvSpPr>
        <p:spPr>
          <a:xfrm>
            <a:off x="8961120" y="5468112"/>
            <a:ext cx="2834640" cy="256032"/>
          </a:xfrm>
          <a:prstGeom prst="rect">
            <a:avLst/>
          </a:prstGeom>
          <a:noFill/>
          <a:ln/>
        </p:spPr>
        <p:txBody>
          <a:bodyPr wrap="square" lIns="0" tIns="0" rIns="0" bIns="0" rtlCol="0" anchor="ctr"/>
          <a:lstStyle/>
          <a:p>
            <a:pPr algn="ctr" indent="0" marL="0">
              <a:buNone/>
            </a:pPr>
            <a:r>
              <a:rPr lang="en-US" sz="900" i="1" dirty="0">
                <a:solidFill>
                  <a:srgbClr val="CADCFC"/>
                </a:solidFill>
                <a:latin typeface="Calibri" pitchFamily="34" charset="0"/>
                <a:ea typeface="Calibri" pitchFamily="34" charset="-122"/>
                <a:cs typeface="Calibri" pitchFamily="34" charset="-120"/>
              </a:rPr>
              <a:t>Data residency</a:t>
            </a:r>
            <a:endParaRPr lang="en-US" sz="900" dirty="0"/>
          </a:p>
        </p:txBody>
      </p:sp>
      <p:sp>
        <p:nvSpPr>
          <p:cNvPr id="36" name="Text 34"/>
          <p:cNvSpPr/>
          <p:nvPr/>
        </p:nvSpPr>
        <p:spPr>
          <a:xfrm>
            <a:off x="8961120" y="5687568"/>
            <a:ext cx="2834640" cy="228600"/>
          </a:xfrm>
          <a:prstGeom prst="rect">
            <a:avLst/>
          </a:prstGeom>
          <a:noFill/>
          <a:ln/>
        </p:spPr>
        <p:txBody>
          <a:bodyPr wrap="square" lIns="0" tIns="0" rIns="0" bIns="0" rtlCol="0" anchor="ctr"/>
          <a:lstStyle/>
          <a:p>
            <a:pPr algn="ctr" indent="0" marL="0">
              <a:buNone/>
            </a:pPr>
            <a:r>
              <a:rPr lang="en-US" sz="800" dirty="0">
                <a:solidFill>
                  <a:srgbClr val="F5A623"/>
                </a:solidFill>
                <a:latin typeface="Calibri" pitchFamily="34" charset="0"/>
                <a:ea typeface="Calibri" pitchFamily="34" charset="-122"/>
                <a:cs typeface="Calibri" pitchFamily="34" charset="-120"/>
              </a:rPr>
              <a:t>↓ own object ID  •  own logs  •  own CA scope</a:t>
            </a:r>
            <a:endParaRPr lang="en-US" sz="800" dirty="0"/>
          </a:p>
        </p:txBody>
      </p:sp>
      <p:sp>
        <p:nvSpPr>
          <p:cNvPr id="37" name="Shape 35"/>
          <p:cNvSpPr/>
          <p:nvPr/>
        </p:nvSpPr>
        <p:spPr>
          <a:xfrm>
            <a:off x="457200" y="6035040"/>
            <a:ext cx="11247120" cy="365760"/>
          </a:xfrm>
          <a:prstGeom prst="roundRect">
            <a:avLst>
              <a:gd name="adj" fmla="val 15000"/>
            </a:avLst>
          </a:prstGeom>
          <a:solidFill>
            <a:srgbClr val="FCEBCF"/>
          </a:solidFill>
          <a:ln w="12700">
            <a:solidFill>
              <a:srgbClr val="F5A623"/>
            </a:solidFill>
            <a:prstDash val="solid"/>
          </a:ln>
        </p:spPr>
      </p:sp>
      <p:sp>
        <p:nvSpPr>
          <p:cNvPr id="38" name="Text 36"/>
          <p:cNvSpPr/>
          <p:nvPr/>
        </p:nvSpPr>
        <p:spPr>
          <a:xfrm>
            <a:off x="640080" y="6035040"/>
            <a:ext cx="10972800" cy="365760"/>
          </a:xfrm>
          <a:prstGeom prst="rect">
            <a:avLst/>
          </a:prstGeom>
          <a:noFill/>
          <a:ln/>
        </p:spPr>
        <p:txBody>
          <a:bodyPr wrap="square" lIns="0" tIns="0" rIns="0" bIns="0" rtlCol="0" anchor="ctr"/>
          <a:lstStyle/>
          <a:p>
            <a:pPr indent="0" marL="0">
              <a:buNone/>
            </a:pPr>
            <a:r>
              <a:rPr lang="en-US" sz="1100" b="1" i="1" dirty="0">
                <a:solidFill>
                  <a:srgbClr val="0B1F3A"/>
                </a:solidFill>
                <a:latin typeface="Calibri" pitchFamily="34" charset="0"/>
                <a:ea typeface="Calibri" pitchFamily="34" charset="-122"/>
                <a:cs typeface="Calibri" pitchFamily="34" charset="-120"/>
              </a:rPr>
              <a:t>Analogy → the Blueprint is like a class; the Agent Identities are instances. Change permissions once on the blueprint, all agents inherit.</a:t>
            </a:r>
            <a:endParaRPr lang="en-US" sz="1100" dirty="0"/>
          </a:p>
        </p:txBody>
      </p:sp>
      <p:sp>
        <p:nvSpPr>
          <p:cNvPr id="39" name="Text 37"/>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40" name="Text 38"/>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03  MICROSOFT ENTRA AGENT ID</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How Agent ID differs from a user identity</a:t>
            </a:r>
            <a:endParaRPr lang="en-US" sz="3200" dirty="0"/>
          </a:p>
        </p:txBody>
      </p:sp>
      <p:sp>
        <p:nvSpPr>
          <p:cNvPr id="5" name="Shape 3"/>
          <p:cNvSpPr/>
          <p:nvPr/>
        </p:nvSpPr>
        <p:spPr>
          <a:xfrm>
            <a:off x="457200" y="1691640"/>
            <a:ext cx="11247120" cy="502920"/>
          </a:xfrm>
          <a:prstGeom prst="rect">
            <a:avLst/>
          </a:prstGeom>
          <a:solidFill>
            <a:srgbClr val="0B1F3A"/>
          </a:solidFill>
          <a:ln w="12700">
            <a:solidFill>
              <a:srgbClr val="0B1F3A"/>
            </a:solidFill>
            <a:prstDash val="solid"/>
          </a:ln>
        </p:spPr>
      </p:sp>
      <p:sp>
        <p:nvSpPr>
          <p:cNvPr id="6" name="Text 4"/>
          <p:cNvSpPr/>
          <p:nvPr/>
        </p:nvSpPr>
        <p:spPr>
          <a:xfrm>
            <a:off x="594360" y="1691640"/>
            <a:ext cx="2834640" cy="502920"/>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Attribute</a:t>
            </a:r>
            <a:endParaRPr lang="en-US" sz="1300" dirty="0"/>
          </a:p>
        </p:txBody>
      </p:sp>
      <p:sp>
        <p:nvSpPr>
          <p:cNvPr id="7" name="Text 5"/>
          <p:cNvSpPr/>
          <p:nvPr/>
        </p:nvSpPr>
        <p:spPr>
          <a:xfrm>
            <a:off x="3703320" y="1691640"/>
            <a:ext cx="3794760" cy="502920"/>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User Identity</a:t>
            </a:r>
            <a:endParaRPr lang="en-US" sz="1300" dirty="0"/>
          </a:p>
        </p:txBody>
      </p:sp>
      <p:sp>
        <p:nvSpPr>
          <p:cNvPr id="8" name="Text 6"/>
          <p:cNvSpPr/>
          <p:nvPr/>
        </p:nvSpPr>
        <p:spPr>
          <a:xfrm>
            <a:off x="7772400" y="1691640"/>
            <a:ext cx="3794760" cy="502920"/>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Agent Identity (Entra Agent ID)</a:t>
            </a:r>
            <a:endParaRPr lang="en-US" sz="1300" dirty="0"/>
          </a:p>
        </p:txBody>
      </p:sp>
      <p:sp>
        <p:nvSpPr>
          <p:cNvPr id="9" name="Text 7"/>
          <p:cNvSpPr/>
          <p:nvPr/>
        </p:nvSpPr>
        <p:spPr>
          <a:xfrm>
            <a:off x="594360" y="2194560"/>
            <a:ext cx="2834640" cy="457200"/>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Represents</a:t>
            </a:r>
            <a:endParaRPr lang="en-US" sz="1150" dirty="0"/>
          </a:p>
        </p:txBody>
      </p:sp>
      <p:sp>
        <p:nvSpPr>
          <p:cNvPr id="10" name="Text 8"/>
          <p:cNvSpPr/>
          <p:nvPr/>
        </p:nvSpPr>
        <p:spPr>
          <a:xfrm>
            <a:off x="3703320" y="21945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A human employee</a:t>
            </a:r>
            <a:endParaRPr lang="en-US" sz="1150" dirty="0"/>
          </a:p>
        </p:txBody>
      </p:sp>
      <p:sp>
        <p:nvSpPr>
          <p:cNvPr id="11" name="Text 9"/>
          <p:cNvSpPr/>
          <p:nvPr/>
        </p:nvSpPr>
        <p:spPr>
          <a:xfrm>
            <a:off x="7772400" y="21945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An AI agent (autonomous or interactive)</a:t>
            </a:r>
            <a:endParaRPr lang="en-US" sz="1150" dirty="0"/>
          </a:p>
        </p:txBody>
      </p:sp>
      <p:sp>
        <p:nvSpPr>
          <p:cNvPr id="12" name="Shape 10"/>
          <p:cNvSpPr/>
          <p:nvPr/>
        </p:nvSpPr>
        <p:spPr>
          <a:xfrm>
            <a:off x="457200" y="2651760"/>
            <a:ext cx="11247120" cy="0"/>
          </a:xfrm>
          <a:prstGeom prst="line">
            <a:avLst/>
          </a:prstGeom>
          <a:noFill/>
          <a:ln w="6350">
            <a:solidFill>
              <a:srgbClr val="CADCFC"/>
            </a:solidFill>
            <a:prstDash val="solid"/>
          </a:ln>
        </p:spPr>
      </p:sp>
      <p:sp>
        <p:nvSpPr>
          <p:cNvPr id="13" name="Shape 11"/>
          <p:cNvSpPr/>
          <p:nvPr/>
        </p:nvSpPr>
        <p:spPr>
          <a:xfrm>
            <a:off x="457200" y="2651760"/>
            <a:ext cx="11247120" cy="457200"/>
          </a:xfrm>
          <a:prstGeom prst="rect">
            <a:avLst/>
          </a:prstGeom>
          <a:solidFill>
            <a:srgbClr val="F5F7FA"/>
          </a:solidFill>
          <a:ln w="12700">
            <a:solidFill>
              <a:srgbClr val="F5F7FA"/>
            </a:solidFill>
            <a:prstDash val="solid"/>
          </a:ln>
        </p:spPr>
      </p:sp>
      <p:sp>
        <p:nvSpPr>
          <p:cNvPr id="14" name="Text 12"/>
          <p:cNvSpPr/>
          <p:nvPr/>
        </p:nvSpPr>
        <p:spPr>
          <a:xfrm>
            <a:off x="594360" y="2651760"/>
            <a:ext cx="2834640" cy="457200"/>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Sign-in mode</a:t>
            </a:r>
            <a:endParaRPr lang="en-US" sz="1150" dirty="0"/>
          </a:p>
        </p:txBody>
      </p:sp>
      <p:sp>
        <p:nvSpPr>
          <p:cNvPr id="15" name="Text 13"/>
          <p:cNvSpPr/>
          <p:nvPr/>
        </p:nvSpPr>
        <p:spPr>
          <a:xfrm>
            <a:off x="3703320" y="26517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Interactive (/authorize + password/MFA)</a:t>
            </a:r>
            <a:endParaRPr lang="en-US" sz="1150" dirty="0"/>
          </a:p>
        </p:txBody>
      </p:sp>
      <p:sp>
        <p:nvSpPr>
          <p:cNvPr id="16" name="Text 14"/>
          <p:cNvSpPr/>
          <p:nvPr/>
        </p:nvSpPr>
        <p:spPr>
          <a:xfrm>
            <a:off x="7772400" y="26517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Programmatic only — no interactive login</a:t>
            </a:r>
            <a:endParaRPr lang="en-US" sz="1150" dirty="0"/>
          </a:p>
        </p:txBody>
      </p:sp>
      <p:sp>
        <p:nvSpPr>
          <p:cNvPr id="17" name="Shape 15"/>
          <p:cNvSpPr/>
          <p:nvPr/>
        </p:nvSpPr>
        <p:spPr>
          <a:xfrm>
            <a:off x="457200" y="3108960"/>
            <a:ext cx="11247120" cy="0"/>
          </a:xfrm>
          <a:prstGeom prst="line">
            <a:avLst/>
          </a:prstGeom>
          <a:noFill/>
          <a:ln w="6350">
            <a:solidFill>
              <a:srgbClr val="CADCFC"/>
            </a:solidFill>
            <a:prstDash val="solid"/>
          </a:ln>
        </p:spPr>
      </p:sp>
      <p:sp>
        <p:nvSpPr>
          <p:cNvPr id="18" name="Text 16"/>
          <p:cNvSpPr/>
          <p:nvPr/>
        </p:nvSpPr>
        <p:spPr>
          <a:xfrm>
            <a:off x="594360" y="3108960"/>
            <a:ext cx="2834640" cy="457200"/>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Credentials</a:t>
            </a:r>
            <a:endParaRPr lang="en-US" sz="1150" dirty="0"/>
          </a:p>
        </p:txBody>
      </p:sp>
      <p:sp>
        <p:nvSpPr>
          <p:cNvPr id="19" name="Text 17"/>
          <p:cNvSpPr/>
          <p:nvPr/>
        </p:nvSpPr>
        <p:spPr>
          <a:xfrm>
            <a:off x="3703320" y="31089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Password + MFA + passkey</a:t>
            </a:r>
            <a:endParaRPr lang="en-US" sz="1150" dirty="0"/>
          </a:p>
        </p:txBody>
      </p:sp>
      <p:sp>
        <p:nvSpPr>
          <p:cNvPr id="20" name="Text 18"/>
          <p:cNvSpPr/>
          <p:nvPr/>
        </p:nvSpPr>
        <p:spPr>
          <a:xfrm>
            <a:off x="7772400" y="31089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Client secret, certificate, or Federated Identity</a:t>
            </a:r>
            <a:endParaRPr lang="en-US" sz="1150" dirty="0"/>
          </a:p>
        </p:txBody>
      </p:sp>
      <p:sp>
        <p:nvSpPr>
          <p:cNvPr id="21" name="Shape 19"/>
          <p:cNvSpPr/>
          <p:nvPr/>
        </p:nvSpPr>
        <p:spPr>
          <a:xfrm>
            <a:off x="457200" y="3566160"/>
            <a:ext cx="11247120" cy="0"/>
          </a:xfrm>
          <a:prstGeom prst="line">
            <a:avLst/>
          </a:prstGeom>
          <a:noFill/>
          <a:ln w="6350">
            <a:solidFill>
              <a:srgbClr val="CADCFC"/>
            </a:solidFill>
            <a:prstDash val="solid"/>
          </a:ln>
        </p:spPr>
      </p:sp>
      <p:sp>
        <p:nvSpPr>
          <p:cNvPr id="22" name="Shape 20"/>
          <p:cNvSpPr/>
          <p:nvPr/>
        </p:nvSpPr>
        <p:spPr>
          <a:xfrm>
            <a:off x="457200" y="3566160"/>
            <a:ext cx="11247120" cy="457200"/>
          </a:xfrm>
          <a:prstGeom prst="rect">
            <a:avLst/>
          </a:prstGeom>
          <a:solidFill>
            <a:srgbClr val="F5F7FA"/>
          </a:solidFill>
          <a:ln w="12700">
            <a:solidFill>
              <a:srgbClr val="F5F7FA"/>
            </a:solidFill>
            <a:prstDash val="solid"/>
          </a:ln>
        </p:spPr>
      </p:sp>
      <p:sp>
        <p:nvSpPr>
          <p:cNvPr id="23" name="Text 21"/>
          <p:cNvSpPr/>
          <p:nvPr/>
        </p:nvSpPr>
        <p:spPr>
          <a:xfrm>
            <a:off x="594360" y="3566160"/>
            <a:ext cx="2834640" cy="457200"/>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Grant types</a:t>
            </a:r>
            <a:endParaRPr lang="en-US" sz="1150" dirty="0"/>
          </a:p>
        </p:txBody>
      </p:sp>
      <p:sp>
        <p:nvSpPr>
          <p:cNvPr id="24" name="Text 22"/>
          <p:cNvSpPr/>
          <p:nvPr/>
        </p:nvSpPr>
        <p:spPr>
          <a:xfrm>
            <a:off x="3703320" y="35661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auth_code + refresh_token</a:t>
            </a:r>
            <a:endParaRPr lang="en-US" sz="1150" dirty="0"/>
          </a:p>
        </p:txBody>
      </p:sp>
      <p:sp>
        <p:nvSpPr>
          <p:cNvPr id="25" name="Text 23"/>
          <p:cNvSpPr/>
          <p:nvPr/>
        </p:nvSpPr>
        <p:spPr>
          <a:xfrm>
            <a:off x="7772400" y="35661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client_credentials, jwt-bearer, refresh_token</a:t>
            </a:r>
            <a:endParaRPr lang="en-US" sz="1150" dirty="0"/>
          </a:p>
        </p:txBody>
      </p:sp>
      <p:sp>
        <p:nvSpPr>
          <p:cNvPr id="26" name="Shape 24"/>
          <p:cNvSpPr/>
          <p:nvPr/>
        </p:nvSpPr>
        <p:spPr>
          <a:xfrm>
            <a:off x="457200" y="4023360"/>
            <a:ext cx="11247120" cy="0"/>
          </a:xfrm>
          <a:prstGeom prst="line">
            <a:avLst/>
          </a:prstGeom>
          <a:noFill/>
          <a:ln w="6350">
            <a:solidFill>
              <a:srgbClr val="CADCFC"/>
            </a:solidFill>
            <a:prstDash val="solid"/>
          </a:ln>
        </p:spPr>
      </p:sp>
      <p:sp>
        <p:nvSpPr>
          <p:cNvPr id="27" name="Text 25"/>
          <p:cNvSpPr/>
          <p:nvPr/>
        </p:nvSpPr>
        <p:spPr>
          <a:xfrm>
            <a:off x="594360" y="4023360"/>
            <a:ext cx="2834640" cy="457200"/>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Consent</a:t>
            </a:r>
            <a:endParaRPr lang="en-US" sz="1150" dirty="0"/>
          </a:p>
        </p:txBody>
      </p:sp>
      <p:sp>
        <p:nvSpPr>
          <p:cNvPr id="28" name="Text 26"/>
          <p:cNvSpPr/>
          <p:nvPr/>
        </p:nvSpPr>
        <p:spPr>
          <a:xfrm>
            <a:off x="3703320" y="40233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User grants during sign-in</a:t>
            </a:r>
            <a:endParaRPr lang="en-US" sz="1150" dirty="0"/>
          </a:p>
        </p:txBody>
      </p:sp>
      <p:sp>
        <p:nvSpPr>
          <p:cNvPr id="29" name="Text 27"/>
          <p:cNvSpPr/>
          <p:nvPr/>
        </p:nvSpPr>
        <p:spPr>
          <a:xfrm>
            <a:off x="7772400" y="40233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Admin consent on the Agent Identity Blueprint</a:t>
            </a:r>
            <a:endParaRPr lang="en-US" sz="1150" dirty="0"/>
          </a:p>
        </p:txBody>
      </p:sp>
      <p:sp>
        <p:nvSpPr>
          <p:cNvPr id="30" name="Shape 28"/>
          <p:cNvSpPr/>
          <p:nvPr/>
        </p:nvSpPr>
        <p:spPr>
          <a:xfrm>
            <a:off x="457200" y="4480560"/>
            <a:ext cx="11247120" cy="0"/>
          </a:xfrm>
          <a:prstGeom prst="line">
            <a:avLst/>
          </a:prstGeom>
          <a:noFill/>
          <a:ln w="6350">
            <a:solidFill>
              <a:srgbClr val="CADCFC"/>
            </a:solidFill>
            <a:prstDash val="solid"/>
          </a:ln>
        </p:spPr>
      </p:sp>
      <p:sp>
        <p:nvSpPr>
          <p:cNvPr id="31" name="Shape 29"/>
          <p:cNvSpPr/>
          <p:nvPr/>
        </p:nvSpPr>
        <p:spPr>
          <a:xfrm>
            <a:off x="457200" y="4480560"/>
            <a:ext cx="11247120" cy="457200"/>
          </a:xfrm>
          <a:prstGeom prst="rect">
            <a:avLst/>
          </a:prstGeom>
          <a:solidFill>
            <a:srgbClr val="F5F7FA"/>
          </a:solidFill>
          <a:ln w="12700">
            <a:solidFill>
              <a:srgbClr val="F5F7FA"/>
            </a:solidFill>
            <a:prstDash val="solid"/>
          </a:ln>
        </p:spPr>
      </p:sp>
      <p:sp>
        <p:nvSpPr>
          <p:cNvPr id="32" name="Text 30"/>
          <p:cNvSpPr/>
          <p:nvPr/>
        </p:nvSpPr>
        <p:spPr>
          <a:xfrm>
            <a:off x="594360" y="4480560"/>
            <a:ext cx="2834640" cy="457200"/>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Ownership</a:t>
            </a:r>
            <a:endParaRPr lang="en-US" sz="1150" dirty="0"/>
          </a:p>
        </p:txBody>
      </p:sp>
      <p:sp>
        <p:nvSpPr>
          <p:cNvPr id="33" name="Text 31"/>
          <p:cNvSpPr/>
          <p:nvPr/>
        </p:nvSpPr>
        <p:spPr>
          <a:xfrm>
            <a:off x="3703320" y="44805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The person</a:t>
            </a:r>
            <a:endParaRPr lang="en-US" sz="1150" dirty="0"/>
          </a:p>
        </p:txBody>
      </p:sp>
      <p:sp>
        <p:nvSpPr>
          <p:cNvPr id="34" name="Text 32"/>
          <p:cNvSpPr/>
          <p:nvPr/>
        </p:nvSpPr>
        <p:spPr>
          <a:xfrm>
            <a:off x="7772400" y="44805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Owner + sponsor + manager (accountability model)</a:t>
            </a:r>
            <a:endParaRPr lang="en-US" sz="1150" dirty="0"/>
          </a:p>
        </p:txBody>
      </p:sp>
      <p:sp>
        <p:nvSpPr>
          <p:cNvPr id="35" name="Shape 33"/>
          <p:cNvSpPr/>
          <p:nvPr/>
        </p:nvSpPr>
        <p:spPr>
          <a:xfrm>
            <a:off x="457200" y="4937760"/>
            <a:ext cx="11247120" cy="0"/>
          </a:xfrm>
          <a:prstGeom prst="line">
            <a:avLst/>
          </a:prstGeom>
          <a:noFill/>
          <a:ln w="6350">
            <a:solidFill>
              <a:srgbClr val="CADCFC"/>
            </a:solidFill>
            <a:prstDash val="solid"/>
          </a:ln>
        </p:spPr>
      </p:sp>
      <p:sp>
        <p:nvSpPr>
          <p:cNvPr id="36" name="Text 34"/>
          <p:cNvSpPr/>
          <p:nvPr/>
        </p:nvSpPr>
        <p:spPr>
          <a:xfrm>
            <a:off x="594360" y="4937760"/>
            <a:ext cx="2834640" cy="457200"/>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Lifecycle</a:t>
            </a:r>
            <a:endParaRPr lang="en-US" sz="1150" dirty="0"/>
          </a:p>
        </p:txBody>
      </p:sp>
      <p:sp>
        <p:nvSpPr>
          <p:cNvPr id="37" name="Text 35"/>
          <p:cNvSpPr/>
          <p:nvPr/>
        </p:nvSpPr>
        <p:spPr>
          <a:xfrm>
            <a:off x="3703320" y="49377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Joiner-Mover-Leaver via HR</a:t>
            </a:r>
            <a:endParaRPr lang="en-US" sz="1150" dirty="0"/>
          </a:p>
        </p:txBody>
      </p:sp>
      <p:sp>
        <p:nvSpPr>
          <p:cNvPr id="38" name="Text 36"/>
          <p:cNvSpPr/>
          <p:nvPr/>
        </p:nvSpPr>
        <p:spPr>
          <a:xfrm>
            <a:off x="7772400" y="49377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Blueprint-driven; retired via governance workflows</a:t>
            </a:r>
            <a:endParaRPr lang="en-US" sz="1150" dirty="0"/>
          </a:p>
        </p:txBody>
      </p:sp>
      <p:sp>
        <p:nvSpPr>
          <p:cNvPr id="39" name="Shape 37"/>
          <p:cNvSpPr/>
          <p:nvPr/>
        </p:nvSpPr>
        <p:spPr>
          <a:xfrm>
            <a:off x="457200" y="5394960"/>
            <a:ext cx="11247120" cy="0"/>
          </a:xfrm>
          <a:prstGeom prst="line">
            <a:avLst/>
          </a:prstGeom>
          <a:noFill/>
          <a:ln w="6350">
            <a:solidFill>
              <a:srgbClr val="CADCFC"/>
            </a:solidFill>
            <a:prstDash val="solid"/>
          </a:ln>
        </p:spPr>
      </p:sp>
      <p:sp>
        <p:nvSpPr>
          <p:cNvPr id="40" name="Shape 38"/>
          <p:cNvSpPr/>
          <p:nvPr/>
        </p:nvSpPr>
        <p:spPr>
          <a:xfrm>
            <a:off x="457200" y="5394960"/>
            <a:ext cx="11247120" cy="457200"/>
          </a:xfrm>
          <a:prstGeom prst="rect">
            <a:avLst/>
          </a:prstGeom>
          <a:solidFill>
            <a:srgbClr val="F5F7FA"/>
          </a:solidFill>
          <a:ln w="12700">
            <a:solidFill>
              <a:srgbClr val="F5F7FA"/>
            </a:solidFill>
            <a:prstDash val="solid"/>
          </a:ln>
        </p:spPr>
      </p:sp>
      <p:sp>
        <p:nvSpPr>
          <p:cNvPr id="41" name="Text 39"/>
          <p:cNvSpPr/>
          <p:nvPr/>
        </p:nvSpPr>
        <p:spPr>
          <a:xfrm>
            <a:off x="594360" y="5394960"/>
            <a:ext cx="2834640" cy="457200"/>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Where visible</a:t>
            </a:r>
            <a:endParaRPr lang="en-US" sz="1150" dirty="0"/>
          </a:p>
        </p:txBody>
      </p:sp>
      <p:sp>
        <p:nvSpPr>
          <p:cNvPr id="42" name="Text 40"/>
          <p:cNvSpPr/>
          <p:nvPr/>
        </p:nvSpPr>
        <p:spPr>
          <a:xfrm>
            <a:off x="3703320" y="53949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Users blade in Entra admin center</a:t>
            </a:r>
            <a:endParaRPr lang="en-US" sz="1150" dirty="0"/>
          </a:p>
        </p:txBody>
      </p:sp>
      <p:sp>
        <p:nvSpPr>
          <p:cNvPr id="43" name="Text 41"/>
          <p:cNvSpPr/>
          <p:nvPr/>
        </p:nvSpPr>
        <p:spPr>
          <a:xfrm>
            <a:off x="7772400" y="5394960"/>
            <a:ext cx="3794760" cy="45720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Enterprise apps → 'Agent ID' application type</a:t>
            </a:r>
            <a:endParaRPr lang="en-US" sz="1150" dirty="0"/>
          </a:p>
        </p:txBody>
      </p:sp>
      <p:sp>
        <p:nvSpPr>
          <p:cNvPr id="44" name="Shape 42"/>
          <p:cNvSpPr/>
          <p:nvPr/>
        </p:nvSpPr>
        <p:spPr>
          <a:xfrm>
            <a:off x="457200" y="5852160"/>
            <a:ext cx="11247120" cy="0"/>
          </a:xfrm>
          <a:prstGeom prst="line">
            <a:avLst/>
          </a:prstGeom>
          <a:noFill/>
          <a:ln w="6350">
            <a:solidFill>
              <a:srgbClr val="CADCFC"/>
            </a:solidFill>
            <a:prstDash val="solid"/>
          </a:ln>
        </p:spPr>
      </p:sp>
      <p:sp>
        <p:nvSpPr>
          <p:cNvPr id="45" name="Shape 43"/>
          <p:cNvSpPr/>
          <p:nvPr/>
        </p:nvSpPr>
        <p:spPr>
          <a:xfrm>
            <a:off x="457200" y="5989320"/>
            <a:ext cx="11247120" cy="594360"/>
          </a:xfrm>
          <a:prstGeom prst="roundRect">
            <a:avLst>
              <a:gd name="adj" fmla="val 9231"/>
            </a:avLst>
          </a:prstGeom>
          <a:solidFill>
            <a:srgbClr val="FCEBCF"/>
          </a:solidFill>
          <a:ln w="12700">
            <a:solidFill>
              <a:srgbClr val="F5A623"/>
            </a:solidFill>
            <a:prstDash val="solid"/>
          </a:ln>
        </p:spPr>
      </p:sp>
      <p:sp>
        <p:nvSpPr>
          <p:cNvPr id="46" name="Text 44"/>
          <p:cNvSpPr/>
          <p:nvPr/>
        </p:nvSpPr>
        <p:spPr>
          <a:xfrm>
            <a:off x="640080" y="5989320"/>
            <a:ext cx="10972800" cy="594360"/>
          </a:xfrm>
          <a:prstGeom prst="rect">
            <a:avLst/>
          </a:prstGeom>
          <a:noFill/>
          <a:ln/>
        </p:spPr>
        <p:txBody>
          <a:bodyPr wrap="square" lIns="0" tIns="0" rIns="0" bIns="0" rtlCol="0" anchor="ctr"/>
          <a:lstStyle/>
          <a:p>
            <a:pPr indent="0" marL="0">
              <a:buNone/>
            </a:pPr>
            <a:r>
              <a:rPr lang="en-US" sz="1200" i="1" dirty="0">
                <a:solidFill>
                  <a:srgbClr val="0B1F3A"/>
                </a:solidFill>
                <a:latin typeface="Calibri" pitchFamily="34" charset="0"/>
                <a:ea typeface="Calibri" pitchFamily="34" charset="-122"/>
                <a:cs typeface="Calibri" pitchFamily="34" charset="-120"/>
              </a:rPr>
              <a:t>Critical detail — agents cannot use the interactive /authorize endpoint. All auth is programmatic. This is by design: an AI agent should never see a human's password.</a:t>
            </a:r>
            <a:endParaRPr lang="en-US" sz="1200" dirty="0"/>
          </a:p>
        </p:txBody>
      </p:sp>
      <p:sp>
        <p:nvSpPr>
          <p:cNvPr id="47" name="Text 45"/>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48" name="Text 46"/>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11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03  MICROSOFT ENTRA AGENT ID</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Key benefits &amp; how we apply them here</a:t>
            </a:r>
            <a:endParaRPr lang="en-US" sz="3200" dirty="0"/>
          </a:p>
        </p:txBody>
      </p:sp>
      <p:sp>
        <p:nvSpPr>
          <p:cNvPr id="5" name="Shape 3"/>
          <p:cNvSpPr/>
          <p:nvPr/>
        </p:nvSpPr>
        <p:spPr>
          <a:xfrm>
            <a:off x="457200" y="1691640"/>
            <a:ext cx="2743200" cy="1828800"/>
          </a:xfrm>
          <a:prstGeom prst="roundRect">
            <a:avLst>
              <a:gd name="adj" fmla="val 4000"/>
            </a:avLst>
          </a:prstGeom>
          <a:solidFill>
            <a:srgbClr val="FFFFFF"/>
          </a:solidFill>
          <a:ln w="12700">
            <a:solidFill>
              <a:srgbClr val="CADCFC"/>
            </a:solidFill>
            <a:prstDash val="solid"/>
          </a:ln>
          <a:effectLst>
            <a:outerShdw sx="100000" sy="100000" kx="0" ky="0" algn="bl" rotWithShape="0" blurRad="76200" dist="25400" dir="2700000">
              <a:srgbClr val="AAAAAA">
                <a:alpha val="12000"/>
              </a:srgbClr>
            </a:outerShdw>
          </a:effectLst>
        </p:spPr>
      </p:sp>
      <p:sp>
        <p:nvSpPr>
          <p:cNvPr id="6" name="Shape 4"/>
          <p:cNvSpPr/>
          <p:nvPr/>
        </p:nvSpPr>
        <p:spPr>
          <a:xfrm>
            <a:off x="731520" y="1874520"/>
            <a:ext cx="548640" cy="548640"/>
          </a:xfrm>
          <a:prstGeom prst="ellipse">
            <a:avLst/>
          </a:prstGeom>
          <a:solidFill>
            <a:srgbClr val="F5A623"/>
          </a:solidFill>
          <a:ln w="12700">
            <a:solidFill>
              <a:srgbClr val="F5A623"/>
            </a:solidFill>
            <a:prstDash val="solid"/>
          </a:ln>
        </p:spPr>
      </p:sp>
      <p:sp>
        <p:nvSpPr>
          <p:cNvPr id="7" name="Text 5"/>
          <p:cNvSpPr/>
          <p:nvPr/>
        </p:nvSpPr>
        <p:spPr>
          <a:xfrm>
            <a:off x="731520" y="187452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640080" y="2514600"/>
            <a:ext cx="237744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First-class identity</a:t>
            </a:r>
            <a:endParaRPr lang="en-US" sz="1400" dirty="0"/>
          </a:p>
        </p:txBody>
      </p:sp>
      <p:sp>
        <p:nvSpPr>
          <p:cNvPr id="9" name="Text 7"/>
          <p:cNvSpPr/>
          <p:nvPr/>
        </p:nvSpPr>
        <p:spPr>
          <a:xfrm>
            <a:off x="640080" y="2880360"/>
            <a:ext cx="2377440" cy="64008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Unique object ID per agent, visible in the Entra admin center</a:t>
            </a:r>
            <a:endParaRPr lang="en-US" sz="1050" dirty="0"/>
          </a:p>
        </p:txBody>
      </p:sp>
      <p:sp>
        <p:nvSpPr>
          <p:cNvPr id="10" name="Shape 8"/>
          <p:cNvSpPr/>
          <p:nvPr/>
        </p:nvSpPr>
        <p:spPr>
          <a:xfrm>
            <a:off x="3337560" y="1691640"/>
            <a:ext cx="2743200" cy="1828800"/>
          </a:xfrm>
          <a:prstGeom prst="roundRect">
            <a:avLst>
              <a:gd name="adj" fmla="val 4000"/>
            </a:avLst>
          </a:prstGeom>
          <a:solidFill>
            <a:srgbClr val="FFFFFF"/>
          </a:solidFill>
          <a:ln w="12700">
            <a:solidFill>
              <a:srgbClr val="CADCFC"/>
            </a:solidFill>
            <a:prstDash val="solid"/>
          </a:ln>
          <a:effectLst>
            <a:outerShdw sx="100000" sy="100000" kx="0" ky="0" algn="bl" rotWithShape="0" blurRad="76200" dist="25400" dir="2700000">
              <a:srgbClr val="AAAAAA">
                <a:alpha val="12000"/>
              </a:srgbClr>
            </a:outerShdw>
          </a:effectLst>
        </p:spPr>
      </p:sp>
      <p:sp>
        <p:nvSpPr>
          <p:cNvPr id="11" name="Shape 9"/>
          <p:cNvSpPr/>
          <p:nvPr/>
        </p:nvSpPr>
        <p:spPr>
          <a:xfrm>
            <a:off x="3611880" y="1874520"/>
            <a:ext cx="548640" cy="548640"/>
          </a:xfrm>
          <a:prstGeom prst="ellipse">
            <a:avLst/>
          </a:prstGeom>
          <a:solidFill>
            <a:srgbClr val="F5A623"/>
          </a:solidFill>
          <a:ln w="12700">
            <a:solidFill>
              <a:srgbClr val="F5A623"/>
            </a:solidFill>
            <a:prstDash val="solid"/>
          </a:ln>
        </p:spPr>
      </p:sp>
      <p:sp>
        <p:nvSpPr>
          <p:cNvPr id="12" name="Text 10"/>
          <p:cNvSpPr/>
          <p:nvPr/>
        </p:nvSpPr>
        <p:spPr>
          <a:xfrm>
            <a:off x="3611880" y="187452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11"/>
          <p:cNvSpPr/>
          <p:nvPr/>
        </p:nvSpPr>
        <p:spPr>
          <a:xfrm>
            <a:off x="3520440" y="2514600"/>
            <a:ext cx="237744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Least-privilege access</a:t>
            </a:r>
            <a:endParaRPr lang="en-US" sz="1400" dirty="0"/>
          </a:p>
        </p:txBody>
      </p:sp>
      <p:sp>
        <p:nvSpPr>
          <p:cNvPr id="14" name="Text 12"/>
          <p:cNvSpPr/>
          <p:nvPr/>
        </p:nvSpPr>
        <p:spPr>
          <a:xfrm>
            <a:off x="3520440" y="2880360"/>
            <a:ext cx="2377440" cy="64008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Blueprint holds inheritable, scoped permissions — no over-privilege</a:t>
            </a:r>
            <a:endParaRPr lang="en-US" sz="1050" dirty="0"/>
          </a:p>
        </p:txBody>
      </p:sp>
      <p:sp>
        <p:nvSpPr>
          <p:cNvPr id="15" name="Shape 13"/>
          <p:cNvSpPr/>
          <p:nvPr/>
        </p:nvSpPr>
        <p:spPr>
          <a:xfrm>
            <a:off x="6217920" y="1691640"/>
            <a:ext cx="2743200" cy="1828800"/>
          </a:xfrm>
          <a:prstGeom prst="roundRect">
            <a:avLst>
              <a:gd name="adj" fmla="val 4000"/>
            </a:avLst>
          </a:prstGeom>
          <a:solidFill>
            <a:srgbClr val="FFFFFF"/>
          </a:solidFill>
          <a:ln w="12700">
            <a:solidFill>
              <a:srgbClr val="CADCFC"/>
            </a:solidFill>
            <a:prstDash val="solid"/>
          </a:ln>
          <a:effectLst>
            <a:outerShdw sx="100000" sy="100000" kx="0" ky="0" algn="bl" rotWithShape="0" blurRad="76200" dist="25400" dir="2700000">
              <a:srgbClr val="AAAAAA">
                <a:alpha val="12000"/>
              </a:srgbClr>
            </a:outerShdw>
          </a:effectLst>
        </p:spPr>
      </p:sp>
      <p:sp>
        <p:nvSpPr>
          <p:cNvPr id="16" name="Shape 14"/>
          <p:cNvSpPr/>
          <p:nvPr/>
        </p:nvSpPr>
        <p:spPr>
          <a:xfrm>
            <a:off x="6492240" y="1874520"/>
            <a:ext cx="548640" cy="548640"/>
          </a:xfrm>
          <a:prstGeom prst="ellipse">
            <a:avLst/>
          </a:prstGeom>
          <a:solidFill>
            <a:srgbClr val="F5A623"/>
          </a:solidFill>
          <a:ln w="12700">
            <a:solidFill>
              <a:srgbClr val="F5A623"/>
            </a:solidFill>
            <a:prstDash val="solid"/>
          </a:ln>
        </p:spPr>
      </p:sp>
      <p:sp>
        <p:nvSpPr>
          <p:cNvPr id="17" name="Text 15"/>
          <p:cNvSpPr/>
          <p:nvPr/>
        </p:nvSpPr>
        <p:spPr>
          <a:xfrm>
            <a:off x="6492240" y="187452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6"/>
          <p:cNvSpPr/>
          <p:nvPr/>
        </p:nvSpPr>
        <p:spPr>
          <a:xfrm>
            <a:off x="6400800" y="2514600"/>
            <a:ext cx="237744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Full auditability</a:t>
            </a:r>
            <a:endParaRPr lang="en-US" sz="1400" dirty="0"/>
          </a:p>
        </p:txBody>
      </p:sp>
      <p:sp>
        <p:nvSpPr>
          <p:cNvPr id="19" name="Text 17"/>
          <p:cNvSpPr/>
          <p:nvPr/>
        </p:nvSpPr>
        <p:spPr>
          <a:xfrm>
            <a:off x="6400800" y="2880360"/>
            <a:ext cx="2377440" cy="64008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Every action logged with the agent's identity — Entra + Purview</a:t>
            </a:r>
            <a:endParaRPr lang="en-US" sz="1050" dirty="0"/>
          </a:p>
        </p:txBody>
      </p:sp>
      <p:sp>
        <p:nvSpPr>
          <p:cNvPr id="20" name="Shape 18"/>
          <p:cNvSpPr/>
          <p:nvPr/>
        </p:nvSpPr>
        <p:spPr>
          <a:xfrm>
            <a:off x="9098280" y="1691640"/>
            <a:ext cx="2743200" cy="1828800"/>
          </a:xfrm>
          <a:prstGeom prst="roundRect">
            <a:avLst>
              <a:gd name="adj" fmla="val 4000"/>
            </a:avLst>
          </a:prstGeom>
          <a:solidFill>
            <a:srgbClr val="FFFFFF"/>
          </a:solidFill>
          <a:ln w="12700">
            <a:solidFill>
              <a:srgbClr val="CADCFC"/>
            </a:solidFill>
            <a:prstDash val="solid"/>
          </a:ln>
          <a:effectLst>
            <a:outerShdw sx="100000" sy="100000" kx="0" ky="0" algn="bl" rotWithShape="0" blurRad="76200" dist="25400" dir="2700000">
              <a:srgbClr val="AAAAAA">
                <a:alpha val="12000"/>
              </a:srgbClr>
            </a:outerShdw>
          </a:effectLst>
        </p:spPr>
      </p:sp>
      <p:sp>
        <p:nvSpPr>
          <p:cNvPr id="21" name="Shape 19"/>
          <p:cNvSpPr/>
          <p:nvPr/>
        </p:nvSpPr>
        <p:spPr>
          <a:xfrm>
            <a:off x="9372600" y="1874520"/>
            <a:ext cx="548640" cy="548640"/>
          </a:xfrm>
          <a:prstGeom prst="ellipse">
            <a:avLst/>
          </a:prstGeom>
          <a:solidFill>
            <a:srgbClr val="F5A623"/>
          </a:solidFill>
          <a:ln w="12700">
            <a:solidFill>
              <a:srgbClr val="F5A623"/>
            </a:solidFill>
            <a:prstDash val="solid"/>
          </a:ln>
        </p:spPr>
      </p:sp>
      <p:sp>
        <p:nvSpPr>
          <p:cNvPr id="22" name="Text 20"/>
          <p:cNvSpPr/>
          <p:nvPr/>
        </p:nvSpPr>
        <p:spPr>
          <a:xfrm>
            <a:off x="9372600" y="187452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21"/>
          <p:cNvSpPr/>
          <p:nvPr/>
        </p:nvSpPr>
        <p:spPr>
          <a:xfrm>
            <a:off x="9281160" y="2514600"/>
            <a:ext cx="237744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Managed lifecycle</a:t>
            </a:r>
            <a:endParaRPr lang="en-US" sz="1400" dirty="0"/>
          </a:p>
        </p:txBody>
      </p:sp>
      <p:sp>
        <p:nvSpPr>
          <p:cNvPr id="24" name="Text 22"/>
          <p:cNvSpPr/>
          <p:nvPr/>
        </p:nvSpPr>
        <p:spPr>
          <a:xfrm>
            <a:off x="9281160" y="2880360"/>
            <a:ext cx="2377440" cy="64008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Create, review, retire agents through governance workflows</a:t>
            </a:r>
            <a:endParaRPr lang="en-US" sz="1050" dirty="0"/>
          </a:p>
        </p:txBody>
      </p:sp>
      <p:sp>
        <p:nvSpPr>
          <p:cNvPr id="25" name="Text 23"/>
          <p:cNvSpPr/>
          <p:nvPr/>
        </p:nvSpPr>
        <p:spPr>
          <a:xfrm>
            <a:off x="457200" y="3794760"/>
            <a:ext cx="11247120" cy="36576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Process to onboard our Procurement Assistant</a:t>
            </a:r>
            <a:endParaRPr lang="en-US" sz="1600" dirty="0"/>
          </a:p>
        </p:txBody>
      </p:sp>
      <p:sp>
        <p:nvSpPr>
          <p:cNvPr id="26" name="Shape 24"/>
          <p:cNvSpPr/>
          <p:nvPr/>
        </p:nvSpPr>
        <p:spPr>
          <a:xfrm>
            <a:off x="457200" y="4297680"/>
            <a:ext cx="1856232" cy="1965960"/>
          </a:xfrm>
          <a:prstGeom prst="roundRect">
            <a:avLst>
              <a:gd name="adj" fmla="val 2956"/>
            </a:avLst>
          </a:prstGeom>
          <a:solidFill>
            <a:srgbClr val="F5F7FA"/>
          </a:solidFill>
          <a:ln w="12700">
            <a:solidFill>
              <a:srgbClr val="1C7293"/>
            </a:solidFill>
            <a:prstDash val="solid"/>
          </a:ln>
        </p:spPr>
      </p:sp>
      <p:sp>
        <p:nvSpPr>
          <p:cNvPr id="27" name="Shape 25"/>
          <p:cNvSpPr/>
          <p:nvPr/>
        </p:nvSpPr>
        <p:spPr>
          <a:xfrm>
            <a:off x="1156716" y="4434840"/>
            <a:ext cx="457200" cy="457200"/>
          </a:xfrm>
          <a:prstGeom prst="ellipse">
            <a:avLst/>
          </a:prstGeom>
          <a:solidFill>
            <a:srgbClr val="0B1F3A"/>
          </a:solidFill>
          <a:ln w="12700">
            <a:solidFill>
              <a:srgbClr val="0B1F3A"/>
            </a:solidFill>
            <a:prstDash val="solid"/>
          </a:ln>
        </p:spPr>
      </p:sp>
      <p:sp>
        <p:nvSpPr>
          <p:cNvPr id="28" name="Text 26"/>
          <p:cNvSpPr/>
          <p:nvPr/>
        </p:nvSpPr>
        <p:spPr>
          <a:xfrm>
            <a:off x="1156716" y="4434840"/>
            <a:ext cx="457200" cy="457200"/>
          </a:xfrm>
          <a:prstGeom prst="rect">
            <a:avLst/>
          </a:prstGeom>
          <a:noFill/>
          <a:ln/>
        </p:spPr>
        <p:txBody>
          <a:bodyPr wrap="square" lIns="0" tIns="0" rIns="0" bIns="0" rtlCol="0" anchor="ctr"/>
          <a:lstStyle/>
          <a:p>
            <a:pPr algn="ctr" indent="0" marL="0">
              <a:buNone/>
            </a:pPr>
            <a:r>
              <a:rPr lang="en-US" sz="1500" b="1" dirty="0">
                <a:solidFill>
                  <a:srgbClr val="F5A623"/>
                </a:solidFill>
                <a:latin typeface="Cambria" pitchFamily="34" charset="0"/>
                <a:ea typeface="Cambria" pitchFamily="34" charset="-122"/>
                <a:cs typeface="Cambria" pitchFamily="34" charset="-120"/>
              </a:rPr>
              <a:t>1</a:t>
            </a:r>
            <a:endParaRPr lang="en-US" sz="1500" dirty="0"/>
          </a:p>
        </p:txBody>
      </p:sp>
      <p:sp>
        <p:nvSpPr>
          <p:cNvPr id="29" name="Text 27"/>
          <p:cNvSpPr/>
          <p:nvPr/>
        </p:nvSpPr>
        <p:spPr>
          <a:xfrm>
            <a:off x="548640" y="4983480"/>
            <a:ext cx="1673352"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Design blueprint</a:t>
            </a:r>
            <a:endParaRPr lang="en-US" sz="1200" dirty="0"/>
          </a:p>
        </p:txBody>
      </p:sp>
      <p:sp>
        <p:nvSpPr>
          <p:cNvPr id="30" name="Text 28"/>
          <p:cNvSpPr/>
          <p:nvPr/>
        </p:nvSpPr>
        <p:spPr>
          <a:xfrm>
            <a:off x="548640" y="5349240"/>
            <a:ext cx="1673352" cy="822960"/>
          </a:xfrm>
          <a:prstGeom prst="rect">
            <a:avLst/>
          </a:prstGeom>
          <a:noFill/>
          <a:ln/>
        </p:spPr>
        <p:txBody>
          <a:bodyPr wrap="square" lIns="0" tIns="0" rIns="0" bIns="0" rtlCol="0" anchor="ctr"/>
          <a:lstStyle/>
          <a:p>
            <a:pPr algn="ctr" indent="0" marL="0">
              <a:buNone/>
            </a:pPr>
            <a:r>
              <a:rPr lang="en-US" sz="950" dirty="0">
                <a:solidFill>
                  <a:srgbClr val="6B7B8C"/>
                </a:solidFill>
                <a:latin typeface="Calibri" pitchFamily="34" charset="0"/>
                <a:ea typeface="Calibri" pitchFamily="34" charset="-122"/>
                <a:cs typeface="Calibri" pitchFamily="34" charset="-120"/>
              </a:rPr>
              <a:t>Define the Agent Identity Blueprint with required scopes (Sites.Selected, User.Read)</a:t>
            </a:r>
            <a:endParaRPr lang="en-US" sz="950" dirty="0"/>
          </a:p>
        </p:txBody>
      </p:sp>
      <p:sp>
        <p:nvSpPr>
          <p:cNvPr id="31" name="Shape 29"/>
          <p:cNvSpPr/>
          <p:nvPr/>
        </p:nvSpPr>
        <p:spPr>
          <a:xfrm>
            <a:off x="2359152" y="4297680"/>
            <a:ext cx="1856232" cy="1965960"/>
          </a:xfrm>
          <a:prstGeom prst="roundRect">
            <a:avLst>
              <a:gd name="adj" fmla="val 2956"/>
            </a:avLst>
          </a:prstGeom>
          <a:solidFill>
            <a:srgbClr val="F5F7FA"/>
          </a:solidFill>
          <a:ln w="12700">
            <a:solidFill>
              <a:srgbClr val="1C7293"/>
            </a:solidFill>
            <a:prstDash val="solid"/>
          </a:ln>
        </p:spPr>
      </p:sp>
      <p:sp>
        <p:nvSpPr>
          <p:cNvPr id="32" name="Shape 30"/>
          <p:cNvSpPr/>
          <p:nvPr/>
        </p:nvSpPr>
        <p:spPr>
          <a:xfrm>
            <a:off x="3058668" y="4434840"/>
            <a:ext cx="457200" cy="457200"/>
          </a:xfrm>
          <a:prstGeom prst="ellipse">
            <a:avLst/>
          </a:prstGeom>
          <a:solidFill>
            <a:srgbClr val="0B1F3A"/>
          </a:solidFill>
          <a:ln w="12700">
            <a:solidFill>
              <a:srgbClr val="0B1F3A"/>
            </a:solidFill>
            <a:prstDash val="solid"/>
          </a:ln>
        </p:spPr>
      </p:sp>
      <p:sp>
        <p:nvSpPr>
          <p:cNvPr id="33" name="Text 31"/>
          <p:cNvSpPr/>
          <p:nvPr/>
        </p:nvSpPr>
        <p:spPr>
          <a:xfrm>
            <a:off x="3058668" y="4434840"/>
            <a:ext cx="457200" cy="457200"/>
          </a:xfrm>
          <a:prstGeom prst="rect">
            <a:avLst/>
          </a:prstGeom>
          <a:noFill/>
          <a:ln/>
        </p:spPr>
        <p:txBody>
          <a:bodyPr wrap="square" lIns="0" tIns="0" rIns="0" bIns="0" rtlCol="0" anchor="ctr"/>
          <a:lstStyle/>
          <a:p>
            <a:pPr algn="ctr" indent="0" marL="0">
              <a:buNone/>
            </a:pPr>
            <a:r>
              <a:rPr lang="en-US" sz="1500" b="1" dirty="0">
                <a:solidFill>
                  <a:srgbClr val="F5A623"/>
                </a:solidFill>
                <a:latin typeface="Cambria" pitchFamily="34" charset="0"/>
                <a:ea typeface="Cambria" pitchFamily="34" charset="-122"/>
                <a:cs typeface="Cambria" pitchFamily="34" charset="-120"/>
              </a:rPr>
              <a:t>2</a:t>
            </a:r>
            <a:endParaRPr lang="en-US" sz="1500" dirty="0"/>
          </a:p>
        </p:txBody>
      </p:sp>
      <p:sp>
        <p:nvSpPr>
          <p:cNvPr id="34" name="Text 32"/>
          <p:cNvSpPr/>
          <p:nvPr/>
        </p:nvSpPr>
        <p:spPr>
          <a:xfrm>
            <a:off x="2450592" y="4983480"/>
            <a:ext cx="1673352"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Register agent</a:t>
            </a:r>
            <a:endParaRPr lang="en-US" sz="1200" dirty="0"/>
          </a:p>
        </p:txBody>
      </p:sp>
      <p:sp>
        <p:nvSpPr>
          <p:cNvPr id="35" name="Text 33"/>
          <p:cNvSpPr/>
          <p:nvPr/>
        </p:nvSpPr>
        <p:spPr>
          <a:xfrm>
            <a:off x="2450592" y="5349240"/>
            <a:ext cx="1673352" cy="822960"/>
          </a:xfrm>
          <a:prstGeom prst="rect">
            <a:avLst/>
          </a:prstGeom>
          <a:noFill/>
          <a:ln/>
        </p:spPr>
        <p:txBody>
          <a:bodyPr wrap="square" lIns="0" tIns="0" rIns="0" bIns="0" rtlCol="0" anchor="ctr"/>
          <a:lstStyle/>
          <a:p>
            <a:pPr algn="ctr" indent="0" marL="0">
              <a:buNone/>
            </a:pPr>
            <a:r>
              <a:rPr lang="en-US" sz="950" dirty="0">
                <a:solidFill>
                  <a:srgbClr val="6B7B8C"/>
                </a:solidFill>
                <a:latin typeface="Calibri" pitchFamily="34" charset="0"/>
                <a:ea typeface="Calibri" pitchFamily="34" charset="-122"/>
                <a:cs typeface="Calibri" pitchFamily="34" charset="-120"/>
              </a:rPr>
              <a:t>Create in Copilot Studio — Entra auto-registers the Agent Identity in the tenant</a:t>
            </a:r>
            <a:endParaRPr lang="en-US" sz="950" dirty="0"/>
          </a:p>
        </p:txBody>
      </p:sp>
      <p:sp>
        <p:nvSpPr>
          <p:cNvPr id="36" name="Shape 34"/>
          <p:cNvSpPr/>
          <p:nvPr/>
        </p:nvSpPr>
        <p:spPr>
          <a:xfrm>
            <a:off x="4261104" y="4297680"/>
            <a:ext cx="1856232" cy="1965960"/>
          </a:xfrm>
          <a:prstGeom prst="roundRect">
            <a:avLst>
              <a:gd name="adj" fmla="val 2956"/>
            </a:avLst>
          </a:prstGeom>
          <a:solidFill>
            <a:srgbClr val="F5F7FA"/>
          </a:solidFill>
          <a:ln w="12700">
            <a:solidFill>
              <a:srgbClr val="1C7293"/>
            </a:solidFill>
            <a:prstDash val="solid"/>
          </a:ln>
        </p:spPr>
      </p:sp>
      <p:sp>
        <p:nvSpPr>
          <p:cNvPr id="37" name="Shape 35"/>
          <p:cNvSpPr/>
          <p:nvPr/>
        </p:nvSpPr>
        <p:spPr>
          <a:xfrm>
            <a:off x="4960620" y="4434840"/>
            <a:ext cx="457200" cy="457200"/>
          </a:xfrm>
          <a:prstGeom prst="ellipse">
            <a:avLst/>
          </a:prstGeom>
          <a:solidFill>
            <a:srgbClr val="0B1F3A"/>
          </a:solidFill>
          <a:ln w="12700">
            <a:solidFill>
              <a:srgbClr val="0B1F3A"/>
            </a:solidFill>
            <a:prstDash val="solid"/>
          </a:ln>
        </p:spPr>
      </p:sp>
      <p:sp>
        <p:nvSpPr>
          <p:cNvPr id="38" name="Text 36"/>
          <p:cNvSpPr/>
          <p:nvPr/>
        </p:nvSpPr>
        <p:spPr>
          <a:xfrm>
            <a:off x="4960620" y="4434840"/>
            <a:ext cx="457200" cy="457200"/>
          </a:xfrm>
          <a:prstGeom prst="rect">
            <a:avLst/>
          </a:prstGeom>
          <a:noFill/>
          <a:ln/>
        </p:spPr>
        <p:txBody>
          <a:bodyPr wrap="square" lIns="0" tIns="0" rIns="0" bIns="0" rtlCol="0" anchor="ctr"/>
          <a:lstStyle/>
          <a:p>
            <a:pPr algn="ctr" indent="0" marL="0">
              <a:buNone/>
            </a:pPr>
            <a:r>
              <a:rPr lang="en-US" sz="1500" b="1" dirty="0">
                <a:solidFill>
                  <a:srgbClr val="F5A623"/>
                </a:solidFill>
                <a:latin typeface="Cambria" pitchFamily="34" charset="0"/>
                <a:ea typeface="Cambria" pitchFamily="34" charset="-122"/>
                <a:cs typeface="Cambria" pitchFamily="34" charset="-120"/>
              </a:rPr>
              <a:t>3</a:t>
            </a:r>
            <a:endParaRPr lang="en-US" sz="1500" dirty="0"/>
          </a:p>
        </p:txBody>
      </p:sp>
      <p:sp>
        <p:nvSpPr>
          <p:cNvPr id="39" name="Text 37"/>
          <p:cNvSpPr/>
          <p:nvPr/>
        </p:nvSpPr>
        <p:spPr>
          <a:xfrm>
            <a:off x="4352544" y="4983480"/>
            <a:ext cx="1673352"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Assign owners</a:t>
            </a:r>
            <a:endParaRPr lang="en-US" sz="1200" dirty="0"/>
          </a:p>
        </p:txBody>
      </p:sp>
      <p:sp>
        <p:nvSpPr>
          <p:cNvPr id="40" name="Text 38"/>
          <p:cNvSpPr/>
          <p:nvPr/>
        </p:nvSpPr>
        <p:spPr>
          <a:xfrm>
            <a:off x="4352544" y="5349240"/>
            <a:ext cx="1673352" cy="822960"/>
          </a:xfrm>
          <a:prstGeom prst="rect">
            <a:avLst/>
          </a:prstGeom>
          <a:noFill/>
          <a:ln/>
        </p:spPr>
        <p:txBody>
          <a:bodyPr wrap="square" lIns="0" tIns="0" rIns="0" bIns="0" rtlCol="0" anchor="ctr"/>
          <a:lstStyle/>
          <a:p>
            <a:pPr algn="ctr" indent="0" marL="0">
              <a:buNone/>
            </a:pPr>
            <a:r>
              <a:rPr lang="en-US" sz="950" dirty="0">
                <a:solidFill>
                  <a:srgbClr val="6B7B8C"/>
                </a:solidFill>
                <a:latin typeface="Calibri" pitchFamily="34" charset="0"/>
                <a:ea typeface="Calibri" pitchFamily="34" charset="-122"/>
                <a:cs typeface="Calibri" pitchFamily="34" charset="-120"/>
              </a:rPr>
              <a:t>Set owner (procurement lead), sponsor (CIO), manager (IT security)</a:t>
            </a:r>
            <a:endParaRPr lang="en-US" sz="950" dirty="0"/>
          </a:p>
        </p:txBody>
      </p:sp>
      <p:sp>
        <p:nvSpPr>
          <p:cNvPr id="41" name="Shape 39"/>
          <p:cNvSpPr/>
          <p:nvPr/>
        </p:nvSpPr>
        <p:spPr>
          <a:xfrm>
            <a:off x="6163056" y="4297680"/>
            <a:ext cx="1856232" cy="1965960"/>
          </a:xfrm>
          <a:prstGeom prst="roundRect">
            <a:avLst>
              <a:gd name="adj" fmla="val 2956"/>
            </a:avLst>
          </a:prstGeom>
          <a:solidFill>
            <a:srgbClr val="F5F7FA"/>
          </a:solidFill>
          <a:ln w="12700">
            <a:solidFill>
              <a:srgbClr val="1C7293"/>
            </a:solidFill>
            <a:prstDash val="solid"/>
          </a:ln>
        </p:spPr>
      </p:sp>
      <p:sp>
        <p:nvSpPr>
          <p:cNvPr id="42" name="Shape 40"/>
          <p:cNvSpPr/>
          <p:nvPr/>
        </p:nvSpPr>
        <p:spPr>
          <a:xfrm>
            <a:off x="6862572" y="4434840"/>
            <a:ext cx="457200" cy="457200"/>
          </a:xfrm>
          <a:prstGeom prst="ellipse">
            <a:avLst/>
          </a:prstGeom>
          <a:solidFill>
            <a:srgbClr val="0B1F3A"/>
          </a:solidFill>
          <a:ln w="12700">
            <a:solidFill>
              <a:srgbClr val="0B1F3A"/>
            </a:solidFill>
            <a:prstDash val="solid"/>
          </a:ln>
        </p:spPr>
      </p:sp>
      <p:sp>
        <p:nvSpPr>
          <p:cNvPr id="43" name="Text 41"/>
          <p:cNvSpPr/>
          <p:nvPr/>
        </p:nvSpPr>
        <p:spPr>
          <a:xfrm>
            <a:off x="6862572" y="4434840"/>
            <a:ext cx="457200" cy="457200"/>
          </a:xfrm>
          <a:prstGeom prst="rect">
            <a:avLst/>
          </a:prstGeom>
          <a:noFill/>
          <a:ln/>
        </p:spPr>
        <p:txBody>
          <a:bodyPr wrap="square" lIns="0" tIns="0" rIns="0" bIns="0" rtlCol="0" anchor="ctr"/>
          <a:lstStyle/>
          <a:p>
            <a:pPr algn="ctr" indent="0" marL="0">
              <a:buNone/>
            </a:pPr>
            <a:r>
              <a:rPr lang="en-US" sz="1500" b="1" dirty="0">
                <a:solidFill>
                  <a:srgbClr val="F5A623"/>
                </a:solidFill>
                <a:latin typeface="Cambria" pitchFamily="34" charset="0"/>
                <a:ea typeface="Cambria" pitchFamily="34" charset="-122"/>
                <a:cs typeface="Cambria" pitchFamily="34" charset="-120"/>
              </a:rPr>
              <a:t>4</a:t>
            </a:r>
            <a:endParaRPr lang="en-US" sz="1500" dirty="0"/>
          </a:p>
        </p:txBody>
      </p:sp>
      <p:sp>
        <p:nvSpPr>
          <p:cNvPr id="44" name="Text 42"/>
          <p:cNvSpPr/>
          <p:nvPr/>
        </p:nvSpPr>
        <p:spPr>
          <a:xfrm>
            <a:off x="6254496" y="4983480"/>
            <a:ext cx="1673352"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Grant permissions</a:t>
            </a:r>
            <a:endParaRPr lang="en-US" sz="1200" dirty="0"/>
          </a:p>
        </p:txBody>
      </p:sp>
      <p:sp>
        <p:nvSpPr>
          <p:cNvPr id="45" name="Text 43"/>
          <p:cNvSpPr/>
          <p:nvPr/>
        </p:nvSpPr>
        <p:spPr>
          <a:xfrm>
            <a:off x="6254496" y="5349240"/>
            <a:ext cx="1673352" cy="822960"/>
          </a:xfrm>
          <a:prstGeom prst="rect">
            <a:avLst/>
          </a:prstGeom>
          <a:noFill/>
          <a:ln/>
        </p:spPr>
        <p:txBody>
          <a:bodyPr wrap="square" lIns="0" tIns="0" rIns="0" bIns="0" rtlCol="0" anchor="ctr"/>
          <a:lstStyle/>
          <a:p>
            <a:pPr algn="ctr" indent="0" marL="0">
              <a:buNone/>
            </a:pPr>
            <a:r>
              <a:rPr lang="en-US" sz="950" dirty="0">
                <a:solidFill>
                  <a:srgbClr val="6B7B8C"/>
                </a:solidFill>
                <a:latin typeface="Calibri" pitchFamily="34" charset="0"/>
                <a:ea typeface="Calibri" pitchFamily="34" charset="-122"/>
                <a:cs typeface="Calibri" pitchFamily="34" charset="-120"/>
              </a:rPr>
              <a:t>Admin consent on required Graph + custom API scopes; enable OBO for user context</a:t>
            </a:r>
            <a:endParaRPr lang="en-US" sz="950" dirty="0"/>
          </a:p>
        </p:txBody>
      </p:sp>
      <p:sp>
        <p:nvSpPr>
          <p:cNvPr id="46" name="Shape 44"/>
          <p:cNvSpPr/>
          <p:nvPr/>
        </p:nvSpPr>
        <p:spPr>
          <a:xfrm>
            <a:off x="8065008" y="4297680"/>
            <a:ext cx="1856232" cy="1965960"/>
          </a:xfrm>
          <a:prstGeom prst="roundRect">
            <a:avLst>
              <a:gd name="adj" fmla="val 2956"/>
            </a:avLst>
          </a:prstGeom>
          <a:solidFill>
            <a:srgbClr val="F5F7FA"/>
          </a:solidFill>
          <a:ln w="12700">
            <a:solidFill>
              <a:srgbClr val="1C7293"/>
            </a:solidFill>
            <a:prstDash val="solid"/>
          </a:ln>
        </p:spPr>
      </p:sp>
      <p:sp>
        <p:nvSpPr>
          <p:cNvPr id="47" name="Shape 45"/>
          <p:cNvSpPr/>
          <p:nvPr/>
        </p:nvSpPr>
        <p:spPr>
          <a:xfrm>
            <a:off x="8764524" y="4434840"/>
            <a:ext cx="457200" cy="457200"/>
          </a:xfrm>
          <a:prstGeom prst="ellipse">
            <a:avLst/>
          </a:prstGeom>
          <a:solidFill>
            <a:srgbClr val="0B1F3A"/>
          </a:solidFill>
          <a:ln w="12700">
            <a:solidFill>
              <a:srgbClr val="0B1F3A"/>
            </a:solidFill>
            <a:prstDash val="solid"/>
          </a:ln>
        </p:spPr>
      </p:sp>
      <p:sp>
        <p:nvSpPr>
          <p:cNvPr id="48" name="Text 46"/>
          <p:cNvSpPr/>
          <p:nvPr/>
        </p:nvSpPr>
        <p:spPr>
          <a:xfrm>
            <a:off x="8764524" y="4434840"/>
            <a:ext cx="457200" cy="457200"/>
          </a:xfrm>
          <a:prstGeom prst="rect">
            <a:avLst/>
          </a:prstGeom>
          <a:noFill/>
          <a:ln/>
        </p:spPr>
        <p:txBody>
          <a:bodyPr wrap="square" lIns="0" tIns="0" rIns="0" bIns="0" rtlCol="0" anchor="ctr"/>
          <a:lstStyle/>
          <a:p>
            <a:pPr algn="ctr" indent="0" marL="0">
              <a:buNone/>
            </a:pPr>
            <a:r>
              <a:rPr lang="en-US" sz="1500" b="1" dirty="0">
                <a:solidFill>
                  <a:srgbClr val="F5A623"/>
                </a:solidFill>
                <a:latin typeface="Cambria" pitchFamily="34" charset="0"/>
                <a:ea typeface="Cambria" pitchFamily="34" charset="-122"/>
                <a:cs typeface="Cambria" pitchFamily="34" charset="-120"/>
              </a:rPr>
              <a:t>5</a:t>
            </a:r>
            <a:endParaRPr lang="en-US" sz="1500" dirty="0"/>
          </a:p>
        </p:txBody>
      </p:sp>
      <p:sp>
        <p:nvSpPr>
          <p:cNvPr id="49" name="Text 47"/>
          <p:cNvSpPr/>
          <p:nvPr/>
        </p:nvSpPr>
        <p:spPr>
          <a:xfrm>
            <a:off x="8156448" y="4983480"/>
            <a:ext cx="1673352"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Conditional Access</a:t>
            </a:r>
            <a:endParaRPr lang="en-US" sz="1200" dirty="0"/>
          </a:p>
        </p:txBody>
      </p:sp>
      <p:sp>
        <p:nvSpPr>
          <p:cNvPr id="50" name="Text 48"/>
          <p:cNvSpPr/>
          <p:nvPr/>
        </p:nvSpPr>
        <p:spPr>
          <a:xfrm>
            <a:off x="8156448" y="5349240"/>
            <a:ext cx="1673352" cy="822960"/>
          </a:xfrm>
          <a:prstGeom prst="rect">
            <a:avLst/>
          </a:prstGeom>
          <a:noFill/>
          <a:ln/>
        </p:spPr>
        <p:txBody>
          <a:bodyPr wrap="square" lIns="0" tIns="0" rIns="0" bIns="0" rtlCol="0" anchor="ctr"/>
          <a:lstStyle/>
          <a:p>
            <a:pPr algn="ctr" indent="0" marL="0">
              <a:buNone/>
            </a:pPr>
            <a:r>
              <a:rPr lang="en-US" sz="950" dirty="0">
                <a:solidFill>
                  <a:srgbClr val="6B7B8C"/>
                </a:solidFill>
                <a:latin typeface="Calibri" pitchFamily="34" charset="0"/>
                <a:ea typeface="Calibri" pitchFamily="34" charset="-122"/>
                <a:cs typeface="Calibri" pitchFamily="34" charset="-120"/>
              </a:rPr>
              <a:t>Attach CA policies — block risky sign-ins, require managed source, session limits</a:t>
            </a:r>
            <a:endParaRPr lang="en-US" sz="950" dirty="0"/>
          </a:p>
        </p:txBody>
      </p:sp>
      <p:sp>
        <p:nvSpPr>
          <p:cNvPr id="51" name="Shape 49"/>
          <p:cNvSpPr/>
          <p:nvPr/>
        </p:nvSpPr>
        <p:spPr>
          <a:xfrm>
            <a:off x="9966960" y="4297680"/>
            <a:ext cx="1856232" cy="1965960"/>
          </a:xfrm>
          <a:prstGeom prst="roundRect">
            <a:avLst>
              <a:gd name="adj" fmla="val 2956"/>
            </a:avLst>
          </a:prstGeom>
          <a:solidFill>
            <a:srgbClr val="F5F7FA"/>
          </a:solidFill>
          <a:ln w="12700">
            <a:solidFill>
              <a:srgbClr val="1C7293"/>
            </a:solidFill>
            <a:prstDash val="solid"/>
          </a:ln>
        </p:spPr>
      </p:sp>
      <p:sp>
        <p:nvSpPr>
          <p:cNvPr id="52" name="Shape 50"/>
          <p:cNvSpPr/>
          <p:nvPr/>
        </p:nvSpPr>
        <p:spPr>
          <a:xfrm>
            <a:off x="10666476" y="4434840"/>
            <a:ext cx="457200" cy="457200"/>
          </a:xfrm>
          <a:prstGeom prst="ellipse">
            <a:avLst/>
          </a:prstGeom>
          <a:solidFill>
            <a:srgbClr val="0B1F3A"/>
          </a:solidFill>
          <a:ln w="12700">
            <a:solidFill>
              <a:srgbClr val="0B1F3A"/>
            </a:solidFill>
            <a:prstDash val="solid"/>
          </a:ln>
        </p:spPr>
      </p:sp>
      <p:sp>
        <p:nvSpPr>
          <p:cNvPr id="53" name="Text 51"/>
          <p:cNvSpPr/>
          <p:nvPr/>
        </p:nvSpPr>
        <p:spPr>
          <a:xfrm>
            <a:off x="10666476" y="4434840"/>
            <a:ext cx="457200" cy="457200"/>
          </a:xfrm>
          <a:prstGeom prst="rect">
            <a:avLst/>
          </a:prstGeom>
          <a:noFill/>
          <a:ln/>
        </p:spPr>
        <p:txBody>
          <a:bodyPr wrap="square" lIns="0" tIns="0" rIns="0" bIns="0" rtlCol="0" anchor="ctr"/>
          <a:lstStyle/>
          <a:p>
            <a:pPr algn="ctr" indent="0" marL="0">
              <a:buNone/>
            </a:pPr>
            <a:r>
              <a:rPr lang="en-US" sz="1500" b="1" dirty="0">
                <a:solidFill>
                  <a:srgbClr val="F5A623"/>
                </a:solidFill>
                <a:latin typeface="Cambria" pitchFamily="34" charset="0"/>
                <a:ea typeface="Cambria" pitchFamily="34" charset="-122"/>
                <a:cs typeface="Cambria" pitchFamily="34" charset="-120"/>
              </a:rPr>
              <a:t>6</a:t>
            </a:r>
            <a:endParaRPr lang="en-US" sz="1500" dirty="0"/>
          </a:p>
        </p:txBody>
      </p:sp>
      <p:sp>
        <p:nvSpPr>
          <p:cNvPr id="54" name="Text 52"/>
          <p:cNvSpPr/>
          <p:nvPr/>
        </p:nvSpPr>
        <p:spPr>
          <a:xfrm>
            <a:off x="10058400" y="4983480"/>
            <a:ext cx="1673352"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Access review</a:t>
            </a:r>
            <a:endParaRPr lang="en-US" sz="1200" dirty="0"/>
          </a:p>
        </p:txBody>
      </p:sp>
      <p:sp>
        <p:nvSpPr>
          <p:cNvPr id="55" name="Text 53"/>
          <p:cNvSpPr/>
          <p:nvPr/>
        </p:nvSpPr>
        <p:spPr>
          <a:xfrm>
            <a:off x="10058400" y="5349240"/>
            <a:ext cx="1673352" cy="822960"/>
          </a:xfrm>
          <a:prstGeom prst="rect">
            <a:avLst/>
          </a:prstGeom>
          <a:noFill/>
          <a:ln/>
        </p:spPr>
        <p:txBody>
          <a:bodyPr wrap="square" lIns="0" tIns="0" rIns="0" bIns="0" rtlCol="0" anchor="ctr"/>
          <a:lstStyle/>
          <a:p>
            <a:pPr algn="ctr" indent="0" marL="0">
              <a:buNone/>
            </a:pPr>
            <a:r>
              <a:rPr lang="en-US" sz="950" dirty="0">
                <a:solidFill>
                  <a:srgbClr val="6B7B8C"/>
                </a:solidFill>
                <a:latin typeface="Calibri" pitchFamily="34" charset="0"/>
                <a:ea typeface="Calibri" pitchFamily="34" charset="-122"/>
                <a:cs typeface="Calibri" pitchFamily="34" charset="-120"/>
              </a:rPr>
              <a:t>Enable quarterly access reviews via access packages; time-bound where possible</a:t>
            </a:r>
            <a:endParaRPr lang="en-US" sz="950" dirty="0"/>
          </a:p>
        </p:txBody>
      </p:sp>
      <p:sp>
        <p:nvSpPr>
          <p:cNvPr id="56" name="Text 5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57" name="Text 55"/>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04  AUTHENTICATION &amp; AUTHORIZATION</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How the agent authenticates — On-Behalf-Of flow</a:t>
            </a:r>
            <a:endParaRPr lang="en-US" sz="3200" dirty="0"/>
          </a:p>
        </p:txBody>
      </p:sp>
      <p:sp>
        <p:nvSpPr>
          <p:cNvPr id="5" name="Text 3"/>
          <p:cNvSpPr/>
          <p:nvPr/>
        </p:nvSpPr>
        <p:spPr>
          <a:xfrm>
            <a:off x="457200" y="1554480"/>
            <a:ext cx="11247120" cy="502920"/>
          </a:xfrm>
          <a:prstGeom prst="rect">
            <a:avLst/>
          </a:prstGeom>
          <a:noFill/>
          <a:ln/>
        </p:spPr>
        <p:txBody>
          <a:bodyPr wrap="square" lIns="0" tIns="0" rIns="0" bIns="0" rtlCol="0" anchor="ctr"/>
          <a:lstStyle/>
          <a:p>
            <a:pPr indent="0" marL="0">
              <a:buNone/>
            </a:pPr>
            <a:r>
              <a:rPr lang="en-US" sz="1200" dirty="0">
                <a:solidFill>
                  <a:srgbClr val="6B7B8C"/>
                </a:solidFill>
                <a:latin typeface="Calibri" pitchFamily="34" charset="0"/>
                <a:ea typeface="Calibri" pitchFamily="34" charset="-122"/>
                <a:cs typeface="Calibri" pitchFamily="34" charset="-120"/>
              </a:rPr>
              <a:t>Our procurement agent is interactive — it acts on behalf of the signed-in employee, so the user's own permissions apply on downstream systems. Entra Agent ID uses the OAuth 2.0 OBO flow with a specialized token exchange.</a:t>
            </a:r>
            <a:endParaRPr lang="en-US" sz="1200" dirty="0"/>
          </a:p>
        </p:txBody>
      </p:sp>
      <p:sp>
        <p:nvSpPr>
          <p:cNvPr id="6" name="Shape 4"/>
          <p:cNvSpPr/>
          <p:nvPr/>
        </p:nvSpPr>
        <p:spPr>
          <a:xfrm>
            <a:off x="457200" y="2194560"/>
            <a:ext cx="2743200" cy="685800"/>
          </a:xfrm>
          <a:prstGeom prst="roundRect">
            <a:avLst>
              <a:gd name="adj" fmla="val 8000"/>
            </a:avLst>
          </a:prstGeom>
          <a:solidFill>
            <a:srgbClr val="13315C"/>
          </a:solidFill>
          <a:ln w="12700">
            <a:solidFill>
              <a:srgbClr val="13315C"/>
            </a:solidFill>
            <a:prstDash val="solid"/>
          </a:ln>
        </p:spPr>
      </p:sp>
      <p:sp>
        <p:nvSpPr>
          <p:cNvPr id="7" name="Text 5"/>
          <p:cNvSpPr/>
          <p:nvPr/>
        </p:nvSpPr>
        <p:spPr>
          <a:xfrm>
            <a:off x="457200" y="2194560"/>
            <a:ext cx="274320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User</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(Teams client)</a:t>
            </a:r>
            <a:endParaRPr lang="en-US" sz="1150" dirty="0"/>
          </a:p>
        </p:txBody>
      </p:sp>
      <p:sp>
        <p:nvSpPr>
          <p:cNvPr id="8" name="Shape 6"/>
          <p:cNvSpPr/>
          <p:nvPr/>
        </p:nvSpPr>
        <p:spPr>
          <a:xfrm>
            <a:off x="1828800" y="2880360"/>
            <a:ext cx="0" cy="3474720"/>
          </a:xfrm>
          <a:prstGeom prst="line">
            <a:avLst/>
          </a:prstGeom>
          <a:noFill/>
          <a:ln w="12700">
            <a:solidFill>
              <a:srgbClr val="CADCFC"/>
            </a:solidFill>
            <a:prstDash val="dash"/>
          </a:ln>
        </p:spPr>
      </p:sp>
      <p:sp>
        <p:nvSpPr>
          <p:cNvPr id="9" name="Shape 7"/>
          <p:cNvSpPr/>
          <p:nvPr/>
        </p:nvSpPr>
        <p:spPr>
          <a:xfrm>
            <a:off x="3383280" y="2194560"/>
            <a:ext cx="2743200" cy="685800"/>
          </a:xfrm>
          <a:prstGeom prst="roundRect">
            <a:avLst>
              <a:gd name="adj" fmla="val 8000"/>
            </a:avLst>
          </a:prstGeom>
          <a:solidFill>
            <a:srgbClr val="13315C"/>
          </a:solidFill>
          <a:ln w="12700">
            <a:solidFill>
              <a:srgbClr val="13315C"/>
            </a:solidFill>
            <a:prstDash val="solid"/>
          </a:ln>
        </p:spPr>
      </p:sp>
      <p:sp>
        <p:nvSpPr>
          <p:cNvPr id="10" name="Text 8"/>
          <p:cNvSpPr/>
          <p:nvPr/>
        </p:nvSpPr>
        <p:spPr>
          <a:xfrm>
            <a:off x="3383280" y="2194560"/>
            <a:ext cx="274320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Agent Runtime</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(Copilot Studio)</a:t>
            </a:r>
            <a:endParaRPr lang="en-US" sz="1150" dirty="0"/>
          </a:p>
        </p:txBody>
      </p:sp>
      <p:sp>
        <p:nvSpPr>
          <p:cNvPr id="11" name="Shape 9"/>
          <p:cNvSpPr/>
          <p:nvPr/>
        </p:nvSpPr>
        <p:spPr>
          <a:xfrm>
            <a:off x="4754880" y="2880360"/>
            <a:ext cx="0" cy="3474720"/>
          </a:xfrm>
          <a:prstGeom prst="line">
            <a:avLst/>
          </a:prstGeom>
          <a:noFill/>
          <a:ln w="12700">
            <a:solidFill>
              <a:srgbClr val="CADCFC"/>
            </a:solidFill>
            <a:prstDash val="dash"/>
          </a:ln>
        </p:spPr>
      </p:sp>
      <p:sp>
        <p:nvSpPr>
          <p:cNvPr id="12" name="Shape 10"/>
          <p:cNvSpPr/>
          <p:nvPr/>
        </p:nvSpPr>
        <p:spPr>
          <a:xfrm>
            <a:off x="6309360" y="2194560"/>
            <a:ext cx="2743200" cy="685800"/>
          </a:xfrm>
          <a:prstGeom prst="roundRect">
            <a:avLst>
              <a:gd name="adj" fmla="val 8000"/>
            </a:avLst>
          </a:prstGeom>
          <a:solidFill>
            <a:srgbClr val="F5A623"/>
          </a:solidFill>
          <a:ln w="12700">
            <a:solidFill>
              <a:srgbClr val="F5A623"/>
            </a:solidFill>
            <a:prstDash val="solid"/>
          </a:ln>
        </p:spPr>
      </p:sp>
      <p:sp>
        <p:nvSpPr>
          <p:cNvPr id="13" name="Text 11"/>
          <p:cNvSpPr/>
          <p:nvPr/>
        </p:nvSpPr>
        <p:spPr>
          <a:xfrm>
            <a:off x="6309360" y="2194560"/>
            <a:ext cx="2743200" cy="685800"/>
          </a:xfrm>
          <a:prstGeom prst="rect">
            <a:avLst/>
          </a:prstGeom>
          <a:noFill/>
          <a:ln/>
        </p:spPr>
        <p:txBody>
          <a:bodyPr wrap="square" lIns="0" tIns="0" rIns="0" bIns="0" rtlCol="0" anchor="ctr"/>
          <a:lstStyle/>
          <a:p>
            <a:pPr algn="ctr" indent="0" marL="0">
              <a:buNone/>
            </a:pPr>
            <a:r>
              <a:rPr lang="en-US" sz="1150" b="1" dirty="0">
                <a:solidFill>
                  <a:srgbClr val="0B1F3A"/>
                </a:solidFill>
                <a:latin typeface="Calibri" pitchFamily="34" charset="0"/>
                <a:ea typeface="Calibri" pitchFamily="34" charset="-122"/>
                <a:cs typeface="Calibri" pitchFamily="34" charset="-120"/>
              </a:rPr>
              <a:t>Entra Agent ID</a:t>
            </a:r>
            <a:endParaRPr lang="en-US" sz="1150" dirty="0"/>
          </a:p>
          <a:p>
            <a:pPr algn="ctr" indent="0" marL="0">
              <a:buNone/>
            </a:pPr>
            <a:r>
              <a:rPr lang="en-US" sz="1150" b="1" dirty="0">
                <a:solidFill>
                  <a:srgbClr val="0B1F3A"/>
                </a:solidFill>
                <a:latin typeface="Calibri" pitchFamily="34" charset="0"/>
                <a:ea typeface="Calibri" pitchFamily="34" charset="-122"/>
                <a:cs typeface="Calibri" pitchFamily="34" charset="-120"/>
              </a:rPr>
              <a:t>(auth server)</a:t>
            </a:r>
            <a:endParaRPr lang="en-US" sz="1150" dirty="0"/>
          </a:p>
        </p:txBody>
      </p:sp>
      <p:sp>
        <p:nvSpPr>
          <p:cNvPr id="14" name="Shape 12"/>
          <p:cNvSpPr/>
          <p:nvPr/>
        </p:nvSpPr>
        <p:spPr>
          <a:xfrm>
            <a:off x="7680960" y="2880360"/>
            <a:ext cx="0" cy="3474720"/>
          </a:xfrm>
          <a:prstGeom prst="line">
            <a:avLst/>
          </a:prstGeom>
          <a:noFill/>
          <a:ln w="12700">
            <a:solidFill>
              <a:srgbClr val="CADCFC"/>
            </a:solidFill>
            <a:prstDash val="dash"/>
          </a:ln>
        </p:spPr>
      </p:sp>
      <p:sp>
        <p:nvSpPr>
          <p:cNvPr id="15" name="Shape 13"/>
          <p:cNvSpPr/>
          <p:nvPr/>
        </p:nvSpPr>
        <p:spPr>
          <a:xfrm>
            <a:off x="9235440" y="2194560"/>
            <a:ext cx="2743200" cy="685800"/>
          </a:xfrm>
          <a:prstGeom prst="roundRect">
            <a:avLst>
              <a:gd name="adj" fmla="val 8000"/>
            </a:avLst>
          </a:prstGeom>
          <a:solidFill>
            <a:srgbClr val="1C7293"/>
          </a:solidFill>
          <a:ln w="12700">
            <a:solidFill>
              <a:srgbClr val="1C7293"/>
            </a:solidFill>
            <a:prstDash val="solid"/>
          </a:ln>
        </p:spPr>
      </p:sp>
      <p:sp>
        <p:nvSpPr>
          <p:cNvPr id="16" name="Text 14"/>
          <p:cNvSpPr/>
          <p:nvPr/>
        </p:nvSpPr>
        <p:spPr>
          <a:xfrm>
            <a:off x="9235440" y="2194560"/>
            <a:ext cx="274320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Backend API</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(ERP / SharePoint)</a:t>
            </a:r>
            <a:endParaRPr lang="en-US" sz="1150" dirty="0"/>
          </a:p>
        </p:txBody>
      </p:sp>
      <p:sp>
        <p:nvSpPr>
          <p:cNvPr id="17" name="Shape 15"/>
          <p:cNvSpPr/>
          <p:nvPr/>
        </p:nvSpPr>
        <p:spPr>
          <a:xfrm>
            <a:off x="10607040" y="2880360"/>
            <a:ext cx="0" cy="3474720"/>
          </a:xfrm>
          <a:prstGeom prst="line">
            <a:avLst/>
          </a:prstGeom>
          <a:noFill/>
          <a:ln w="12700">
            <a:solidFill>
              <a:srgbClr val="CADCFC"/>
            </a:solidFill>
            <a:prstDash val="dash"/>
          </a:ln>
        </p:spPr>
      </p:sp>
      <p:sp>
        <p:nvSpPr>
          <p:cNvPr id="18" name="Shape 16"/>
          <p:cNvSpPr/>
          <p:nvPr/>
        </p:nvSpPr>
        <p:spPr>
          <a:xfrm>
            <a:off x="1828800" y="3108960"/>
            <a:ext cx="2926080" cy="0"/>
          </a:xfrm>
          <a:prstGeom prst="line">
            <a:avLst/>
          </a:prstGeom>
          <a:noFill/>
          <a:ln w="22225">
            <a:solidFill>
              <a:srgbClr val="0B1F3A"/>
            </a:solidFill>
            <a:prstDash val="solid"/>
            <a:headEnd type="none"/>
            <a:tailEnd type="triangle"/>
          </a:ln>
        </p:spPr>
      </p:sp>
      <p:sp>
        <p:nvSpPr>
          <p:cNvPr id="19" name="Text 17"/>
          <p:cNvSpPr/>
          <p:nvPr/>
        </p:nvSpPr>
        <p:spPr>
          <a:xfrm>
            <a:off x="1874520" y="2788920"/>
            <a:ext cx="2834640" cy="274320"/>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1. User asks a question in Teams</a:t>
            </a:r>
            <a:endParaRPr lang="en-US" sz="1050" dirty="0"/>
          </a:p>
        </p:txBody>
      </p:sp>
      <p:sp>
        <p:nvSpPr>
          <p:cNvPr id="20" name="Shape 18"/>
          <p:cNvSpPr/>
          <p:nvPr/>
        </p:nvSpPr>
        <p:spPr>
          <a:xfrm>
            <a:off x="4754880" y="3566160"/>
            <a:ext cx="2926080" cy="0"/>
          </a:xfrm>
          <a:prstGeom prst="line">
            <a:avLst/>
          </a:prstGeom>
          <a:noFill/>
          <a:ln w="22225">
            <a:solidFill>
              <a:srgbClr val="0B1F3A"/>
            </a:solidFill>
            <a:prstDash val="solid"/>
            <a:headEnd type="none"/>
            <a:tailEnd type="triangle"/>
          </a:ln>
        </p:spPr>
      </p:sp>
      <p:sp>
        <p:nvSpPr>
          <p:cNvPr id="21" name="Text 19"/>
          <p:cNvSpPr/>
          <p:nvPr/>
        </p:nvSpPr>
        <p:spPr>
          <a:xfrm>
            <a:off x="4800600" y="3246120"/>
            <a:ext cx="2834640" cy="274320"/>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2. Agent → Entra: exchange user token (OBO)</a:t>
            </a:r>
            <a:endParaRPr lang="en-US" sz="1050" dirty="0"/>
          </a:p>
        </p:txBody>
      </p:sp>
      <p:sp>
        <p:nvSpPr>
          <p:cNvPr id="22" name="Shape 20"/>
          <p:cNvSpPr/>
          <p:nvPr/>
        </p:nvSpPr>
        <p:spPr>
          <a:xfrm>
            <a:off x="4754880" y="4023360"/>
            <a:ext cx="2926080" cy="0"/>
          </a:xfrm>
          <a:prstGeom prst="line">
            <a:avLst/>
          </a:prstGeom>
          <a:noFill/>
          <a:ln w="22225">
            <a:solidFill>
              <a:srgbClr val="0B1F3A"/>
            </a:solidFill>
            <a:prstDash val="solid"/>
            <a:headEnd type="triangle"/>
            <a:tailEnd type="none"/>
          </a:ln>
        </p:spPr>
      </p:sp>
      <p:sp>
        <p:nvSpPr>
          <p:cNvPr id="23" name="Text 21"/>
          <p:cNvSpPr/>
          <p:nvPr/>
        </p:nvSpPr>
        <p:spPr>
          <a:xfrm>
            <a:off x="4800600" y="3703320"/>
            <a:ext cx="2834640" cy="274320"/>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3. Entra → Agent: resource token TR (scoped)</a:t>
            </a:r>
            <a:endParaRPr lang="en-US" sz="1050" dirty="0"/>
          </a:p>
        </p:txBody>
      </p:sp>
      <p:sp>
        <p:nvSpPr>
          <p:cNvPr id="24" name="Shape 22"/>
          <p:cNvSpPr/>
          <p:nvPr/>
        </p:nvSpPr>
        <p:spPr>
          <a:xfrm>
            <a:off x="4754880" y="4480560"/>
            <a:ext cx="5852160" cy="0"/>
          </a:xfrm>
          <a:prstGeom prst="line">
            <a:avLst/>
          </a:prstGeom>
          <a:noFill/>
          <a:ln w="22225">
            <a:solidFill>
              <a:srgbClr val="0B1F3A"/>
            </a:solidFill>
            <a:prstDash val="solid"/>
            <a:headEnd type="none"/>
            <a:tailEnd type="triangle"/>
          </a:ln>
        </p:spPr>
      </p:sp>
      <p:sp>
        <p:nvSpPr>
          <p:cNvPr id="25" name="Text 23"/>
          <p:cNvSpPr/>
          <p:nvPr/>
        </p:nvSpPr>
        <p:spPr>
          <a:xfrm>
            <a:off x="4800600" y="4160520"/>
            <a:ext cx="5760720" cy="274320"/>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4. Agent calls backend with TR as Bearer</a:t>
            </a:r>
            <a:endParaRPr lang="en-US" sz="1050" dirty="0"/>
          </a:p>
        </p:txBody>
      </p:sp>
      <p:sp>
        <p:nvSpPr>
          <p:cNvPr id="26" name="Shape 24"/>
          <p:cNvSpPr/>
          <p:nvPr/>
        </p:nvSpPr>
        <p:spPr>
          <a:xfrm>
            <a:off x="4754880" y="4937760"/>
            <a:ext cx="5852160" cy="0"/>
          </a:xfrm>
          <a:prstGeom prst="line">
            <a:avLst/>
          </a:prstGeom>
          <a:noFill/>
          <a:ln w="22225">
            <a:solidFill>
              <a:srgbClr val="0B1F3A"/>
            </a:solidFill>
            <a:prstDash val="solid"/>
            <a:headEnd type="triangle"/>
            <a:tailEnd type="none"/>
          </a:ln>
        </p:spPr>
      </p:sp>
      <p:sp>
        <p:nvSpPr>
          <p:cNvPr id="27" name="Text 25"/>
          <p:cNvSpPr/>
          <p:nvPr/>
        </p:nvSpPr>
        <p:spPr>
          <a:xfrm>
            <a:off x="4800600" y="4617720"/>
            <a:ext cx="5760720" cy="274320"/>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5. Backend validates TR → returns data</a:t>
            </a:r>
            <a:endParaRPr lang="en-US" sz="1050" dirty="0"/>
          </a:p>
        </p:txBody>
      </p:sp>
      <p:sp>
        <p:nvSpPr>
          <p:cNvPr id="28" name="Shape 26"/>
          <p:cNvSpPr/>
          <p:nvPr/>
        </p:nvSpPr>
        <p:spPr>
          <a:xfrm>
            <a:off x="1828800" y="5394960"/>
            <a:ext cx="2926080" cy="0"/>
          </a:xfrm>
          <a:prstGeom prst="line">
            <a:avLst/>
          </a:prstGeom>
          <a:noFill/>
          <a:ln w="22225">
            <a:solidFill>
              <a:srgbClr val="0B1F3A"/>
            </a:solidFill>
            <a:prstDash val="solid"/>
            <a:headEnd type="triangle"/>
            <a:tailEnd type="none"/>
          </a:ln>
        </p:spPr>
      </p:sp>
      <p:sp>
        <p:nvSpPr>
          <p:cNvPr id="29" name="Text 27"/>
          <p:cNvSpPr/>
          <p:nvPr/>
        </p:nvSpPr>
        <p:spPr>
          <a:xfrm>
            <a:off x="1874520" y="5074920"/>
            <a:ext cx="2834640" cy="274320"/>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6. Agent responds to user in Teams</a:t>
            </a:r>
            <a:endParaRPr lang="en-US" sz="1050" dirty="0"/>
          </a:p>
        </p:txBody>
      </p:sp>
      <p:sp>
        <p:nvSpPr>
          <p:cNvPr id="30" name="Shape 28"/>
          <p:cNvSpPr/>
          <p:nvPr/>
        </p:nvSpPr>
        <p:spPr>
          <a:xfrm>
            <a:off x="457200" y="5852160"/>
            <a:ext cx="11247120" cy="685800"/>
          </a:xfrm>
          <a:prstGeom prst="roundRect">
            <a:avLst>
              <a:gd name="adj" fmla="val 8000"/>
            </a:avLst>
          </a:prstGeom>
          <a:solidFill>
            <a:srgbClr val="0B1F3A"/>
          </a:solidFill>
          <a:ln w="12700">
            <a:solidFill>
              <a:srgbClr val="0B1F3A"/>
            </a:solidFill>
            <a:prstDash val="solid"/>
          </a:ln>
        </p:spPr>
      </p:sp>
      <p:sp>
        <p:nvSpPr>
          <p:cNvPr id="31" name="Text 29"/>
          <p:cNvSpPr/>
          <p:nvPr/>
        </p:nvSpPr>
        <p:spPr>
          <a:xfrm>
            <a:off x="640080" y="5852160"/>
            <a:ext cx="10972800" cy="68580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Under the hood:  Blueprint credential  →  T1 (exchange token, aud=AzureADTokenExchange)  →  TR (resource token, scoped to backend).  The T1→TR binding is enforced by Entra — a T1 from Blueprint A cannot be used by an Agent Identity from Blueprint B.</a:t>
            </a:r>
            <a:endParaRPr lang="en-US" sz="1050" dirty="0"/>
          </a:p>
        </p:txBody>
      </p:sp>
      <p:sp>
        <p:nvSpPr>
          <p:cNvPr id="32" name="Text 30"/>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33" name="Text 31"/>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13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04  AUTHENTICATION &amp; AUTHORIZATION  ★  DEEP-DIVE</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Token exchange, step by step</a:t>
            </a:r>
            <a:endParaRPr lang="en-US" sz="3200" dirty="0"/>
          </a:p>
        </p:txBody>
      </p:sp>
      <p:sp>
        <p:nvSpPr>
          <p:cNvPr id="5" name="Text 3"/>
          <p:cNvSpPr/>
          <p:nvPr/>
        </p:nvSpPr>
        <p:spPr>
          <a:xfrm>
            <a:off x="457200" y="1508760"/>
            <a:ext cx="11247120" cy="365760"/>
          </a:xfrm>
          <a:prstGeom prst="rect">
            <a:avLst/>
          </a:prstGeom>
          <a:noFill/>
          <a:ln/>
        </p:spPr>
        <p:txBody>
          <a:bodyPr wrap="square" lIns="0" tIns="0" rIns="0" bIns="0" rtlCol="0" anchor="ctr"/>
          <a:lstStyle/>
          <a:p>
            <a:pPr indent="0" marL="0">
              <a:buNone/>
            </a:pPr>
            <a:r>
              <a:rPr lang="en-US" sz="1200" i="1" dirty="0">
                <a:solidFill>
                  <a:srgbClr val="6B7B8C"/>
                </a:solidFill>
                <a:latin typeface="Calibri" pitchFamily="34" charset="0"/>
                <a:ea typeface="Calibri" pitchFamily="34" charset="-122"/>
                <a:cs typeface="Calibri" pitchFamily="34" charset="-120"/>
              </a:rPr>
              <a:t>What actually flows on the wire during the OBO exchange. Three tokens, two exchanges, one enforced binding.</a:t>
            </a:r>
            <a:endParaRPr lang="en-US" sz="1200" dirty="0"/>
          </a:p>
        </p:txBody>
      </p:sp>
      <p:sp>
        <p:nvSpPr>
          <p:cNvPr id="6" name="Shape 4"/>
          <p:cNvSpPr/>
          <p:nvPr/>
        </p:nvSpPr>
        <p:spPr>
          <a:xfrm>
            <a:off x="457200" y="2057400"/>
            <a:ext cx="3291840" cy="2651760"/>
          </a:xfrm>
          <a:prstGeom prst="roundRect">
            <a:avLst>
              <a:gd name="adj" fmla="val 2759"/>
            </a:avLst>
          </a:prstGeom>
          <a:solidFill>
            <a:srgbClr val="13315C"/>
          </a:solidFill>
          <a:ln w="12700">
            <a:solidFill>
              <a:srgbClr val="13315C"/>
            </a:solidFill>
            <a:prstDash val="solid"/>
          </a:ln>
          <a:effectLst>
            <a:outerShdw sx="100000" sy="100000" kx="0" ky="0" algn="bl" rotWithShape="0" blurRad="101600" dist="25400" dir="2700000">
              <a:srgbClr val="999999">
                <a:alpha val="20000"/>
              </a:srgbClr>
            </a:outerShdw>
          </a:effectLst>
        </p:spPr>
      </p:sp>
      <p:sp>
        <p:nvSpPr>
          <p:cNvPr id="7" name="Text 5"/>
          <p:cNvSpPr/>
          <p:nvPr/>
        </p:nvSpPr>
        <p:spPr>
          <a:xfrm>
            <a:off x="457200" y="2194560"/>
            <a:ext cx="3291840" cy="320040"/>
          </a:xfrm>
          <a:prstGeom prst="rect">
            <a:avLst/>
          </a:prstGeom>
          <a:noFill/>
          <a:ln/>
        </p:spPr>
        <p:txBody>
          <a:bodyPr wrap="square" lIns="0" tIns="0" rIns="0" bIns="0" rtlCol="0" anchor="ctr"/>
          <a:lstStyle/>
          <a:p>
            <a:pPr algn="ctr" indent="0" marL="0">
              <a:buNone/>
            </a:pPr>
            <a:r>
              <a:rPr lang="en-US" sz="1200" b="1" spc="300" kern="0" dirty="0">
                <a:solidFill>
                  <a:srgbClr val="F5A623"/>
                </a:solidFill>
                <a:latin typeface="Calibri" pitchFamily="34" charset="0"/>
                <a:ea typeface="Calibri" pitchFamily="34" charset="-122"/>
                <a:cs typeface="Calibri" pitchFamily="34" charset="-120"/>
              </a:rPr>
              <a:t>Tc  •  USER TOKEN</a:t>
            </a:r>
            <a:endParaRPr lang="en-US" sz="1200" dirty="0"/>
          </a:p>
        </p:txBody>
      </p:sp>
      <p:sp>
        <p:nvSpPr>
          <p:cNvPr id="8" name="Shape 6"/>
          <p:cNvSpPr/>
          <p:nvPr/>
        </p:nvSpPr>
        <p:spPr>
          <a:xfrm>
            <a:off x="822960" y="2606040"/>
            <a:ext cx="2560320" cy="1417320"/>
          </a:xfrm>
          <a:prstGeom prst="roundRect">
            <a:avLst>
              <a:gd name="adj" fmla="val 2581"/>
            </a:avLst>
          </a:prstGeom>
          <a:solidFill>
            <a:srgbClr val="FFFFFF"/>
          </a:solidFill>
          <a:ln w="12700">
            <a:solidFill>
              <a:srgbClr val="FFFFFF"/>
            </a:solidFill>
            <a:prstDash val="solid"/>
          </a:ln>
        </p:spPr>
      </p:sp>
      <p:sp>
        <p:nvSpPr>
          <p:cNvPr id="9" name="Text 7"/>
          <p:cNvSpPr/>
          <p:nvPr/>
        </p:nvSpPr>
        <p:spPr>
          <a:xfrm>
            <a:off x="960120" y="2697480"/>
            <a:ext cx="2286000" cy="274320"/>
          </a:xfrm>
          <a:prstGeom prst="rect">
            <a:avLst/>
          </a:prstGeom>
          <a:noFill/>
          <a:ln/>
        </p:spPr>
        <p:txBody>
          <a:bodyPr wrap="square" lIns="0" tIns="0" rIns="0" bIns="0" rtlCol="0" anchor="ctr"/>
          <a:lstStyle/>
          <a:p>
            <a:pPr indent="0" marL="0">
              <a:buNone/>
            </a:pPr>
            <a:r>
              <a:rPr lang="en-US" sz="1000" dirty="0">
                <a:solidFill>
                  <a:srgbClr val="0B1F3A"/>
                </a:solidFill>
                <a:latin typeface="Courier New" pitchFamily="34" charset="0"/>
                <a:ea typeface="Courier New" pitchFamily="34" charset="-122"/>
                <a:cs typeface="Courier New" pitchFamily="34" charset="-120"/>
              </a:rPr>
              <a:t>iss: entra tenant</a:t>
            </a:r>
            <a:endParaRPr lang="en-US" sz="1000" dirty="0"/>
          </a:p>
        </p:txBody>
      </p:sp>
      <p:sp>
        <p:nvSpPr>
          <p:cNvPr id="10" name="Text 8"/>
          <p:cNvSpPr/>
          <p:nvPr/>
        </p:nvSpPr>
        <p:spPr>
          <a:xfrm>
            <a:off x="960120" y="2990088"/>
            <a:ext cx="2286000" cy="274320"/>
          </a:xfrm>
          <a:prstGeom prst="rect">
            <a:avLst/>
          </a:prstGeom>
          <a:noFill/>
          <a:ln/>
        </p:spPr>
        <p:txBody>
          <a:bodyPr wrap="square" lIns="0" tIns="0" rIns="0" bIns="0" rtlCol="0" anchor="ctr"/>
          <a:lstStyle/>
          <a:p>
            <a:pPr indent="0" marL="0">
              <a:buNone/>
            </a:pPr>
            <a:r>
              <a:rPr lang="en-US" sz="1000" dirty="0">
                <a:solidFill>
                  <a:srgbClr val="0B1F3A"/>
                </a:solidFill>
                <a:latin typeface="Courier New" pitchFamily="34" charset="0"/>
                <a:ea typeface="Courier New" pitchFamily="34" charset="-122"/>
                <a:cs typeface="Courier New" pitchFamily="34" charset="-120"/>
              </a:rPr>
              <a:t>aud: blueprint client_id</a:t>
            </a:r>
            <a:endParaRPr lang="en-US" sz="1000" dirty="0"/>
          </a:p>
        </p:txBody>
      </p:sp>
      <p:sp>
        <p:nvSpPr>
          <p:cNvPr id="11" name="Text 9"/>
          <p:cNvSpPr/>
          <p:nvPr/>
        </p:nvSpPr>
        <p:spPr>
          <a:xfrm>
            <a:off x="960120" y="3282696"/>
            <a:ext cx="2286000" cy="274320"/>
          </a:xfrm>
          <a:prstGeom prst="rect">
            <a:avLst/>
          </a:prstGeom>
          <a:noFill/>
          <a:ln/>
        </p:spPr>
        <p:txBody>
          <a:bodyPr wrap="square" lIns="0" tIns="0" rIns="0" bIns="0" rtlCol="0" anchor="ctr"/>
          <a:lstStyle/>
          <a:p>
            <a:pPr indent="0" marL="0">
              <a:buNone/>
            </a:pPr>
            <a:r>
              <a:rPr lang="en-US" sz="1000" dirty="0">
                <a:solidFill>
                  <a:srgbClr val="0B1F3A"/>
                </a:solidFill>
                <a:latin typeface="Courier New" pitchFamily="34" charset="0"/>
                <a:ea typeface="Courier New" pitchFamily="34" charset="-122"/>
                <a:cs typeface="Courier New" pitchFamily="34" charset="-120"/>
              </a:rPr>
              <a:t>sub: user object id</a:t>
            </a:r>
            <a:endParaRPr lang="en-US" sz="1000" dirty="0"/>
          </a:p>
        </p:txBody>
      </p:sp>
      <p:sp>
        <p:nvSpPr>
          <p:cNvPr id="12" name="Text 10"/>
          <p:cNvSpPr/>
          <p:nvPr/>
        </p:nvSpPr>
        <p:spPr>
          <a:xfrm>
            <a:off x="960120" y="3575304"/>
            <a:ext cx="2286000" cy="274320"/>
          </a:xfrm>
          <a:prstGeom prst="rect">
            <a:avLst/>
          </a:prstGeom>
          <a:noFill/>
          <a:ln/>
        </p:spPr>
        <p:txBody>
          <a:bodyPr wrap="square" lIns="0" tIns="0" rIns="0" bIns="0" rtlCol="0" anchor="ctr"/>
          <a:lstStyle/>
          <a:p>
            <a:pPr indent="0" marL="0">
              <a:buNone/>
            </a:pPr>
            <a:r>
              <a:rPr lang="en-US" sz="1000" dirty="0">
                <a:solidFill>
                  <a:srgbClr val="0B1F3A"/>
                </a:solidFill>
                <a:latin typeface="Courier New" pitchFamily="34" charset="0"/>
                <a:ea typeface="Courier New" pitchFamily="34" charset="-122"/>
                <a:cs typeface="Courier New" pitchFamily="34" charset="-120"/>
              </a:rPr>
              <a:t>scp: access_agent</a:t>
            </a:r>
            <a:endParaRPr lang="en-US" sz="1000" dirty="0"/>
          </a:p>
        </p:txBody>
      </p:sp>
      <p:sp>
        <p:nvSpPr>
          <p:cNvPr id="13" name="Text 11"/>
          <p:cNvSpPr/>
          <p:nvPr/>
        </p:nvSpPr>
        <p:spPr>
          <a:xfrm>
            <a:off x="640080" y="4160520"/>
            <a:ext cx="2926080" cy="457200"/>
          </a:xfrm>
          <a:prstGeom prst="rect">
            <a:avLst/>
          </a:prstGeom>
          <a:noFill/>
          <a:ln/>
        </p:spPr>
        <p:txBody>
          <a:bodyPr wrap="square" lIns="0" tIns="0" rIns="0" bIns="0"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Issued when user signs into Teams</a:t>
            </a:r>
            <a:endParaRPr lang="en-US" sz="1000" dirty="0"/>
          </a:p>
        </p:txBody>
      </p:sp>
      <p:sp>
        <p:nvSpPr>
          <p:cNvPr id="14" name="Shape 12"/>
          <p:cNvSpPr/>
          <p:nvPr/>
        </p:nvSpPr>
        <p:spPr>
          <a:xfrm>
            <a:off x="4251960" y="2057400"/>
            <a:ext cx="3291840" cy="2651760"/>
          </a:xfrm>
          <a:prstGeom prst="roundRect">
            <a:avLst>
              <a:gd name="adj" fmla="val 2759"/>
            </a:avLst>
          </a:prstGeom>
          <a:solidFill>
            <a:srgbClr val="F5A623"/>
          </a:solidFill>
          <a:ln w="12700">
            <a:solidFill>
              <a:srgbClr val="F5A623"/>
            </a:solidFill>
            <a:prstDash val="solid"/>
          </a:ln>
          <a:effectLst>
            <a:outerShdw sx="100000" sy="100000" kx="0" ky="0" algn="bl" rotWithShape="0" blurRad="101600" dist="25400" dir="2700000">
              <a:srgbClr val="999999">
                <a:alpha val="20000"/>
              </a:srgbClr>
            </a:outerShdw>
          </a:effectLst>
        </p:spPr>
      </p:sp>
      <p:sp>
        <p:nvSpPr>
          <p:cNvPr id="15" name="Text 13"/>
          <p:cNvSpPr/>
          <p:nvPr/>
        </p:nvSpPr>
        <p:spPr>
          <a:xfrm>
            <a:off x="4251960" y="2194560"/>
            <a:ext cx="3291840" cy="320040"/>
          </a:xfrm>
          <a:prstGeom prst="rect">
            <a:avLst/>
          </a:prstGeom>
          <a:noFill/>
          <a:ln/>
        </p:spPr>
        <p:txBody>
          <a:bodyPr wrap="square" lIns="0" tIns="0" rIns="0" bIns="0" rtlCol="0" anchor="ctr"/>
          <a:lstStyle/>
          <a:p>
            <a:pPr algn="ctr" indent="0" marL="0">
              <a:buNone/>
            </a:pPr>
            <a:r>
              <a:rPr lang="en-US" sz="1200" b="1" spc="300" kern="0" dirty="0">
                <a:solidFill>
                  <a:srgbClr val="0B1F3A"/>
                </a:solidFill>
                <a:latin typeface="Calibri" pitchFamily="34" charset="0"/>
                <a:ea typeface="Calibri" pitchFamily="34" charset="-122"/>
                <a:cs typeface="Calibri" pitchFamily="34" charset="-120"/>
              </a:rPr>
              <a:t>T1  •  EXCHANGE TOKEN</a:t>
            </a:r>
            <a:endParaRPr lang="en-US" sz="1200" dirty="0"/>
          </a:p>
        </p:txBody>
      </p:sp>
      <p:sp>
        <p:nvSpPr>
          <p:cNvPr id="16" name="Shape 14"/>
          <p:cNvSpPr/>
          <p:nvPr/>
        </p:nvSpPr>
        <p:spPr>
          <a:xfrm>
            <a:off x="4617720" y="2606040"/>
            <a:ext cx="2560320" cy="1417320"/>
          </a:xfrm>
          <a:prstGeom prst="roundRect">
            <a:avLst>
              <a:gd name="adj" fmla="val 2581"/>
            </a:avLst>
          </a:prstGeom>
          <a:solidFill>
            <a:srgbClr val="FFFFFF"/>
          </a:solidFill>
          <a:ln w="12700">
            <a:solidFill>
              <a:srgbClr val="0B1F3A"/>
            </a:solidFill>
            <a:prstDash val="solid"/>
          </a:ln>
        </p:spPr>
      </p:sp>
      <p:sp>
        <p:nvSpPr>
          <p:cNvPr id="17" name="Text 15"/>
          <p:cNvSpPr/>
          <p:nvPr/>
        </p:nvSpPr>
        <p:spPr>
          <a:xfrm>
            <a:off x="4754880" y="2697480"/>
            <a:ext cx="2286000" cy="274320"/>
          </a:xfrm>
          <a:prstGeom prst="rect">
            <a:avLst/>
          </a:prstGeom>
          <a:noFill/>
          <a:ln/>
        </p:spPr>
        <p:txBody>
          <a:bodyPr wrap="square" lIns="0" tIns="0" rIns="0" bIns="0" rtlCol="0" anchor="ctr"/>
          <a:lstStyle/>
          <a:p>
            <a:pPr indent="0" marL="0">
              <a:buNone/>
            </a:pPr>
            <a:r>
              <a:rPr lang="en-US" sz="1000" dirty="0">
                <a:solidFill>
                  <a:srgbClr val="0B1F3A"/>
                </a:solidFill>
                <a:latin typeface="Courier New" pitchFamily="34" charset="0"/>
                <a:ea typeface="Courier New" pitchFamily="34" charset="-122"/>
                <a:cs typeface="Courier New" pitchFamily="34" charset="-120"/>
              </a:rPr>
              <a:t>iss: entra</a:t>
            </a:r>
            <a:endParaRPr lang="en-US" sz="1000" dirty="0"/>
          </a:p>
        </p:txBody>
      </p:sp>
      <p:sp>
        <p:nvSpPr>
          <p:cNvPr id="18" name="Text 16"/>
          <p:cNvSpPr/>
          <p:nvPr/>
        </p:nvSpPr>
        <p:spPr>
          <a:xfrm>
            <a:off x="4754880" y="2990088"/>
            <a:ext cx="2286000" cy="274320"/>
          </a:xfrm>
          <a:prstGeom prst="rect">
            <a:avLst/>
          </a:prstGeom>
          <a:noFill/>
          <a:ln/>
        </p:spPr>
        <p:txBody>
          <a:bodyPr wrap="square" lIns="0" tIns="0" rIns="0" bIns="0" rtlCol="0" anchor="ctr"/>
          <a:lstStyle/>
          <a:p>
            <a:pPr indent="0" marL="0">
              <a:buNone/>
            </a:pPr>
            <a:r>
              <a:rPr lang="en-US" sz="1000" dirty="0">
                <a:solidFill>
                  <a:srgbClr val="0B1F3A"/>
                </a:solidFill>
                <a:latin typeface="Courier New" pitchFamily="34" charset="0"/>
                <a:ea typeface="Courier New" pitchFamily="34" charset="-122"/>
                <a:cs typeface="Courier New" pitchFamily="34" charset="-120"/>
              </a:rPr>
              <a:t>aud: AzureADTokenExchange</a:t>
            </a:r>
            <a:endParaRPr lang="en-US" sz="1000" dirty="0"/>
          </a:p>
        </p:txBody>
      </p:sp>
      <p:sp>
        <p:nvSpPr>
          <p:cNvPr id="19" name="Text 17"/>
          <p:cNvSpPr/>
          <p:nvPr/>
        </p:nvSpPr>
        <p:spPr>
          <a:xfrm>
            <a:off x="4754880" y="3282696"/>
            <a:ext cx="2286000" cy="274320"/>
          </a:xfrm>
          <a:prstGeom prst="rect">
            <a:avLst/>
          </a:prstGeom>
          <a:noFill/>
          <a:ln/>
        </p:spPr>
        <p:txBody>
          <a:bodyPr wrap="square" lIns="0" tIns="0" rIns="0" bIns="0" rtlCol="0" anchor="ctr"/>
          <a:lstStyle/>
          <a:p>
            <a:pPr indent="0" marL="0">
              <a:buNone/>
            </a:pPr>
            <a:r>
              <a:rPr lang="en-US" sz="1000" dirty="0">
                <a:solidFill>
                  <a:srgbClr val="0B1F3A"/>
                </a:solidFill>
                <a:latin typeface="Courier New" pitchFamily="34" charset="0"/>
                <a:ea typeface="Courier New" pitchFamily="34" charset="-122"/>
                <a:cs typeface="Courier New" pitchFamily="34" charset="-120"/>
              </a:rPr>
              <a:t>sub: FMI (bp→agent path)</a:t>
            </a:r>
            <a:endParaRPr lang="en-US" sz="1000" dirty="0"/>
          </a:p>
        </p:txBody>
      </p:sp>
      <p:sp>
        <p:nvSpPr>
          <p:cNvPr id="20" name="Text 18"/>
          <p:cNvSpPr/>
          <p:nvPr/>
        </p:nvSpPr>
        <p:spPr>
          <a:xfrm>
            <a:off x="4754880" y="3575304"/>
            <a:ext cx="2286000" cy="274320"/>
          </a:xfrm>
          <a:prstGeom prst="rect">
            <a:avLst/>
          </a:prstGeom>
          <a:noFill/>
          <a:ln/>
        </p:spPr>
        <p:txBody>
          <a:bodyPr wrap="square" lIns="0" tIns="0" rIns="0" bIns="0" rtlCol="0" anchor="ctr"/>
          <a:lstStyle/>
          <a:p>
            <a:pPr indent="0" marL="0">
              <a:buNone/>
            </a:pPr>
            <a:r>
              <a:rPr lang="en-US" sz="1000" dirty="0">
                <a:solidFill>
                  <a:srgbClr val="0B1F3A"/>
                </a:solidFill>
                <a:latin typeface="Courier New" pitchFamily="34" charset="0"/>
                <a:ea typeface="Courier New" pitchFamily="34" charset="-122"/>
                <a:cs typeface="Courier New" pitchFamily="34" charset="-120"/>
              </a:rPr>
              <a:t>exp: short-lived</a:t>
            </a:r>
            <a:endParaRPr lang="en-US" sz="1000" dirty="0"/>
          </a:p>
        </p:txBody>
      </p:sp>
      <p:sp>
        <p:nvSpPr>
          <p:cNvPr id="21" name="Text 19"/>
          <p:cNvSpPr/>
          <p:nvPr/>
        </p:nvSpPr>
        <p:spPr>
          <a:xfrm>
            <a:off x="4434840" y="4160520"/>
            <a:ext cx="2926080" cy="457200"/>
          </a:xfrm>
          <a:prstGeom prst="rect">
            <a:avLst/>
          </a:prstGeom>
          <a:noFill/>
          <a:ln/>
        </p:spPr>
        <p:txBody>
          <a:bodyPr wrap="square" lIns="0" tIns="0" rIns="0" bIns="0" rtlCol="0" anchor="ctr"/>
          <a:lstStyle/>
          <a:p>
            <a:pPr algn="ctr" indent="0" marL="0">
              <a:buNone/>
            </a:pPr>
            <a:r>
              <a:rPr lang="en-US" sz="1000" i="1" dirty="0">
                <a:solidFill>
                  <a:srgbClr val="0B1F3A"/>
                </a:solidFill>
                <a:latin typeface="Calibri" pitchFamily="34" charset="0"/>
                <a:ea typeface="Calibri" pitchFamily="34" charset="-122"/>
                <a:cs typeface="Calibri" pitchFamily="34" charset="-120"/>
              </a:rPr>
              <a:t>Blueprint presents credential + Tc</a:t>
            </a:r>
            <a:endParaRPr lang="en-US" sz="1000" dirty="0"/>
          </a:p>
        </p:txBody>
      </p:sp>
      <p:sp>
        <p:nvSpPr>
          <p:cNvPr id="22" name="Shape 20"/>
          <p:cNvSpPr/>
          <p:nvPr/>
        </p:nvSpPr>
        <p:spPr>
          <a:xfrm>
            <a:off x="8046720" y="2057400"/>
            <a:ext cx="3291840" cy="2651760"/>
          </a:xfrm>
          <a:prstGeom prst="roundRect">
            <a:avLst>
              <a:gd name="adj" fmla="val 2759"/>
            </a:avLst>
          </a:prstGeom>
          <a:solidFill>
            <a:srgbClr val="1C7293"/>
          </a:solidFill>
          <a:ln w="12700">
            <a:solidFill>
              <a:srgbClr val="1C7293"/>
            </a:solidFill>
            <a:prstDash val="solid"/>
          </a:ln>
          <a:effectLst>
            <a:outerShdw sx="100000" sy="100000" kx="0" ky="0" algn="bl" rotWithShape="0" blurRad="101600" dist="25400" dir="2700000">
              <a:srgbClr val="999999">
                <a:alpha val="20000"/>
              </a:srgbClr>
            </a:outerShdw>
          </a:effectLst>
        </p:spPr>
      </p:sp>
      <p:sp>
        <p:nvSpPr>
          <p:cNvPr id="23" name="Text 21"/>
          <p:cNvSpPr/>
          <p:nvPr/>
        </p:nvSpPr>
        <p:spPr>
          <a:xfrm>
            <a:off x="8046720" y="2194560"/>
            <a:ext cx="3291840" cy="320040"/>
          </a:xfrm>
          <a:prstGeom prst="rect">
            <a:avLst/>
          </a:prstGeom>
          <a:noFill/>
          <a:ln/>
        </p:spPr>
        <p:txBody>
          <a:bodyPr wrap="square" lIns="0" tIns="0" rIns="0" bIns="0" rtlCol="0" anchor="ctr"/>
          <a:lstStyle/>
          <a:p>
            <a:pPr algn="ctr" indent="0" marL="0">
              <a:buNone/>
            </a:pPr>
            <a:r>
              <a:rPr lang="en-US" sz="1200" b="1" spc="300" kern="0" dirty="0">
                <a:solidFill>
                  <a:srgbClr val="F5A623"/>
                </a:solidFill>
                <a:latin typeface="Calibri" pitchFamily="34" charset="0"/>
                <a:ea typeface="Calibri" pitchFamily="34" charset="-122"/>
                <a:cs typeface="Calibri" pitchFamily="34" charset="-120"/>
              </a:rPr>
              <a:t>TR  •  RESOURCE TOKEN</a:t>
            </a:r>
            <a:endParaRPr lang="en-US" sz="1200" dirty="0"/>
          </a:p>
        </p:txBody>
      </p:sp>
      <p:sp>
        <p:nvSpPr>
          <p:cNvPr id="24" name="Shape 22"/>
          <p:cNvSpPr/>
          <p:nvPr/>
        </p:nvSpPr>
        <p:spPr>
          <a:xfrm>
            <a:off x="8412480" y="2606040"/>
            <a:ext cx="2560320" cy="1417320"/>
          </a:xfrm>
          <a:prstGeom prst="roundRect">
            <a:avLst>
              <a:gd name="adj" fmla="val 2581"/>
            </a:avLst>
          </a:prstGeom>
          <a:solidFill>
            <a:srgbClr val="FFFFFF"/>
          </a:solidFill>
          <a:ln w="12700">
            <a:solidFill>
              <a:srgbClr val="FFFFFF"/>
            </a:solidFill>
            <a:prstDash val="solid"/>
          </a:ln>
        </p:spPr>
      </p:sp>
      <p:sp>
        <p:nvSpPr>
          <p:cNvPr id="25" name="Text 23"/>
          <p:cNvSpPr/>
          <p:nvPr/>
        </p:nvSpPr>
        <p:spPr>
          <a:xfrm>
            <a:off x="8549640" y="2697480"/>
            <a:ext cx="2286000" cy="274320"/>
          </a:xfrm>
          <a:prstGeom prst="rect">
            <a:avLst/>
          </a:prstGeom>
          <a:noFill/>
          <a:ln/>
        </p:spPr>
        <p:txBody>
          <a:bodyPr wrap="square" lIns="0" tIns="0" rIns="0" bIns="0" rtlCol="0" anchor="ctr"/>
          <a:lstStyle/>
          <a:p>
            <a:pPr indent="0" marL="0">
              <a:buNone/>
            </a:pPr>
            <a:r>
              <a:rPr lang="en-US" sz="1000" dirty="0">
                <a:solidFill>
                  <a:srgbClr val="0B1F3A"/>
                </a:solidFill>
                <a:latin typeface="Courier New" pitchFamily="34" charset="0"/>
                <a:ea typeface="Courier New" pitchFamily="34" charset="-122"/>
                <a:cs typeface="Courier New" pitchFamily="34" charset="-120"/>
              </a:rPr>
              <a:t>iss: entra</a:t>
            </a:r>
            <a:endParaRPr lang="en-US" sz="1000" dirty="0"/>
          </a:p>
        </p:txBody>
      </p:sp>
      <p:sp>
        <p:nvSpPr>
          <p:cNvPr id="26" name="Text 24"/>
          <p:cNvSpPr/>
          <p:nvPr/>
        </p:nvSpPr>
        <p:spPr>
          <a:xfrm>
            <a:off x="8549640" y="2990088"/>
            <a:ext cx="2286000" cy="274320"/>
          </a:xfrm>
          <a:prstGeom prst="rect">
            <a:avLst/>
          </a:prstGeom>
          <a:noFill/>
          <a:ln/>
        </p:spPr>
        <p:txBody>
          <a:bodyPr wrap="square" lIns="0" tIns="0" rIns="0" bIns="0" rtlCol="0" anchor="ctr"/>
          <a:lstStyle/>
          <a:p>
            <a:pPr indent="0" marL="0">
              <a:buNone/>
            </a:pPr>
            <a:r>
              <a:rPr lang="en-US" sz="1000" dirty="0">
                <a:solidFill>
                  <a:srgbClr val="0B1F3A"/>
                </a:solidFill>
                <a:latin typeface="Courier New" pitchFamily="34" charset="0"/>
                <a:ea typeface="Courier New" pitchFamily="34" charset="-122"/>
                <a:cs typeface="Courier New" pitchFamily="34" charset="-120"/>
              </a:rPr>
              <a:t>aud: backend api</a:t>
            </a:r>
            <a:endParaRPr lang="en-US" sz="1000" dirty="0"/>
          </a:p>
        </p:txBody>
      </p:sp>
      <p:sp>
        <p:nvSpPr>
          <p:cNvPr id="27" name="Text 25"/>
          <p:cNvSpPr/>
          <p:nvPr/>
        </p:nvSpPr>
        <p:spPr>
          <a:xfrm>
            <a:off x="8549640" y="3282696"/>
            <a:ext cx="2286000" cy="274320"/>
          </a:xfrm>
          <a:prstGeom prst="rect">
            <a:avLst/>
          </a:prstGeom>
          <a:noFill/>
          <a:ln/>
        </p:spPr>
        <p:txBody>
          <a:bodyPr wrap="square" lIns="0" tIns="0" rIns="0" bIns="0" rtlCol="0" anchor="ctr"/>
          <a:lstStyle/>
          <a:p>
            <a:pPr indent="0" marL="0">
              <a:buNone/>
            </a:pPr>
            <a:r>
              <a:rPr lang="en-US" sz="1000" dirty="0">
                <a:solidFill>
                  <a:srgbClr val="0B1F3A"/>
                </a:solidFill>
                <a:latin typeface="Courier New" pitchFamily="34" charset="0"/>
                <a:ea typeface="Courier New" pitchFamily="34" charset="-122"/>
                <a:cs typeface="Courier New" pitchFamily="34" charset="-120"/>
              </a:rPr>
              <a:t>oid: agent identity</a:t>
            </a:r>
            <a:endParaRPr lang="en-US" sz="1000" dirty="0"/>
          </a:p>
        </p:txBody>
      </p:sp>
      <p:sp>
        <p:nvSpPr>
          <p:cNvPr id="28" name="Text 26"/>
          <p:cNvSpPr/>
          <p:nvPr/>
        </p:nvSpPr>
        <p:spPr>
          <a:xfrm>
            <a:off x="8549640" y="3575304"/>
            <a:ext cx="2286000" cy="274320"/>
          </a:xfrm>
          <a:prstGeom prst="rect">
            <a:avLst/>
          </a:prstGeom>
          <a:noFill/>
          <a:ln/>
        </p:spPr>
        <p:txBody>
          <a:bodyPr wrap="square" lIns="0" tIns="0" rIns="0" bIns="0" rtlCol="0" anchor="ctr"/>
          <a:lstStyle/>
          <a:p>
            <a:pPr indent="0" marL="0">
              <a:buNone/>
            </a:pPr>
            <a:r>
              <a:rPr lang="en-US" sz="1000" dirty="0">
                <a:solidFill>
                  <a:srgbClr val="0B1F3A"/>
                </a:solidFill>
                <a:latin typeface="Courier New" pitchFamily="34" charset="0"/>
                <a:ea typeface="Courier New" pitchFamily="34" charset="-122"/>
                <a:cs typeface="Courier New" pitchFamily="34" charset="-120"/>
              </a:rPr>
              <a:t>idtyp: app</a:t>
            </a:r>
            <a:endParaRPr lang="en-US" sz="1000" dirty="0"/>
          </a:p>
        </p:txBody>
      </p:sp>
      <p:sp>
        <p:nvSpPr>
          <p:cNvPr id="29" name="Text 27"/>
          <p:cNvSpPr/>
          <p:nvPr/>
        </p:nvSpPr>
        <p:spPr>
          <a:xfrm>
            <a:off x="8229600" y="4160520"/>
            <a:ext cx="2926080" cy="457200"/>
          </a:xfrm>
          <a:prstGeom prst="rect">
            <a:avLst/>
          </a:prstGeom>
          <a:noFill/>
          <a:ln/>
        </p:spPr>
        <p:txBody>
          <a:bodyPr wrap="square" lIns="0" tIns="0" rIns="0" bIns="0"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Scoped to specific backend</a:t>
            </a:r>
            <a:endParaRPr lang="en-US" sz="1000" dirty="0"/>
          </a:p>
        </p:txBody>
      </p:sp>
      <p:sp>
        <p:nvSpPr>
          <p:cNvPr id="30" name="Shape 28"/>
          <p:cNvSpPr/>
          <p:nvPr/>
        </p:nvSpPr>
        <p:spPr>
          <a:xfrm>
            <a:off x="3794760" y="3383280"/>
            <a:ext cx="411480" cy="0"/>
          </a:xfrm>
          <a:prstGeom prst="line">
            <a:avLst/>
          </a:prstGeom>
          <a:noFill/>
          <a:ln w="31750">
            <a:solidFill>
              <a:srgbClr val="0B1F3A"/>
            </a:solidFill>
            <a:prstDash val="solid"/>
            <a:tailEnd type="triangle"/>
          </a:ln>
        </p:spPr>
      </p:sp>
      <p:sp>
        <p:nvSpPr>
          <p:cNvPr id="31" name="Text 29"/>
          <p:cNvSpPr/>
          <p:nvPr/>
        </p:nvSpPr>
        <p:spPr>
          <a:xfrm>
            <a:off x="3657600" y="3063240"/>
            <a:ext cx="685800" cy="228600"/>
          </a:xfrm>
          <a:prstGeom prst="rect">
            <a:avLst/>
          </a:prstGeom>
          <a:noFill/>
          <a:ln/>
        </p:spPr>
        <p:txBody>
          <a:bodyPr wrap="square" lIns="0" tIns="0" rIns="0" bIns="0" rtlCol="0" anchor="ctr"/>
          <a:lstStyle/>
          <a:p>
            <a:pPr algn="ctr" indent="0" marL="0">
              <a:buNone/>
            </a:pPr>
            <a:r>
              <a:rPr lang="en-US" sz="900" b="1" i="1" dirty="0">
                <a:solidFill>
                  <a:srgbClr val="0B1F3A"/>
                </a:solidFill>
                <a:latin typeface="Calibri" pitchFamily="34" charset="0"/>
                <a:ea typeface="Calibri" pitchFamily="34" charset="-122"/>
                <a:cs typeface="Calibri" pitchFamily="34" charset="-120"/>
              </a:rPr>
              <a:t>exchange</a:t>
            </a:r>
            <a:endParaRPr lang="en-US" sz="900" dirty="0"/>
          </a:p>
        </p:txBody>
      </p:sp>
      <p:sp>
        <p:nvSpPr>
          <p:cNvPr id="32" name="Shape 30"/>
          <p:cNvSpPr/>
          <p:nvPr/>
        </p:nvSpPr>
        <p:spPr>
          <a:xfrm>
            <a:off x="7589520" y="3383280"/>
            <a:ext cx="411480" cy="0"/>
          </a:xfrm>
          <a:prstGeom prst="line">
            <a:avLst/>
          </a:prstGeom>
          <a:noFill/>
          <a:ln w="31750">
            <a:solidFill>
              <a:srgbClr val="0B1F3A"/>
            </a:solidFill>
            <a:prstDash val="solid"/>
            <a:tailEnd type="triangle"/>
          </a:ln>
        </p:spPr>
      </p:sp>
      <p:sp>
        <p:nvSpPr>
          <p:cNvPr id="33" name="Text 31"/>
          <p:cNvSpPr/>
          <p:nvPr/>
        </p:nvSpPr>
        <p:spPr>
          <a:xfrm>
            <a:off x="7452360" y="3063240"/>
            <a:ext cx="685800" cy="228600"/>
          </a:xfrm>
          <a:prstGeom prst="rect">
            <a:avLst/>
          </a:prstGeom>
          <a:noFill/>
          <a:ln/>
        </p:spPr>
        <p:txBody>
          <a:bodyPr wrap="square" lIns="0" tIns="0" rIns="0" bIns="0" rtlCol="0" anchor="ctr"/>
          <a:lstStyle/>
          <a:p>
            <a:pPr algn="ctr" indent="0" marL="0">
              <a:buNone/>
            </a:pPr>
            <a:r>
              <a:rPr lang="en-US" sz="900" b="1" i="1" dirty="0">
                <a:solidFill>
                  <a:srgbClr val="0B1F3A"/>
                </a:solidFill>
                <a:latin typeface="Calibri" pitchFamily="34" charset="0"/>
                <a:ea typeface="Calibri" pitchFamily="34" charset="-122"/>
                <a:cs typeface="Calibri" pitchFamily="34" charset="-120"/>
              </a:rPr>
              <a:t>exchange</a:t>
            </a:r>
            <a:endParaRPr lang="en-US" sz="900" dirty="0"/>
          </a:p>
        </p:txBody>
      </p:sp>
      <p:sp>
        <p:nvSpPr>
          <p:cNvPr id="34" name="Shape 32"/>
          <p:cNvSpPr/>
          <p:nvPr/>
        </p:nvSpPr>
        <p:spPr>
          <a:xfrm>
            <a:off x="457200" y="4892040"/>
            <a:ext cx="11247120" cy="1417320"/>
          </a:xfrm>
          <a:prstGeom prst="roundRect">
            <a:avLst>
              <a:gd name="adj" fmla="val 5161"/>
            </a:avLst>
          </a:prstGeom>
          <a:solidFill>
            <a:srgbClr val="0B1F3A"/>
          </a:solidFill>
          <a:ln w="12700">
            <a:solidFill>
              <a:srgbClr val="0B1F3A"/>
            </a:solidFill>
            <a:prstDash val="solid"/>
          </a:ln>
        </p:spPr>
      </p:sp>
      <p:sp>
        <p:nvSpPr>
          <p:cNvPr id="35" name="Text 33"/>
          <p:cNvSpPr/>
          <p:nvPr/>
        </p:nvSpPr>
        <p:spPr>
          <a:xfrm>
            <a:off x="685800" y="4983480"/>
            <a:ext cx="10972800" cy="274320"/>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Why this design matters</a:t>
            </a:r>
            <a:endParaRPr lang="en-US" sz="1300" dirty="0"/>
          </a:p>
        </p:txBody>
      </p:sp>
      <p:sp>
        <p:nvSpPr>
          <p:cNvPr id="36" name="Shape 34"/>
          <p:cNvSpPr/>
          <p:nvPr/>
        </p:nvSpPr>
        <p:spPr>
          <a:xfrm>
            <a:off x="685800" y="5404104"/>
            <a:ext cx="164592" cy="164592"/>
          </a:xfrm>
          <a:prstGeom prst="ellipse">
            <a:avLst/>
          </a:prstGeom>
          <a:solidFill>
            <a:srgbClr val="F5A623"/>
          </a:solidFill>
          <a:ln w="12700">
            <a:solidFill>
              <a:srgbClr val="F5A623"/>
            </a:solidFill>
            <a:prstDash val="solid"/>
          </a:ln>
        </p:spPr>
      </p:sp>
      <p:sp>
        <p:nvSpPr>
          <p:cNvPr id="37" name="Text 35"/>
          <p:cNvSpPr/>
          <p:nvPr/>
        </p:nvSpPr>
        <p:spPr>
          <a:xfrm>
            <a:off x="941832" y="5349240"/>
            <a:ext cx="5303520" cy="201168"/>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Two-hop binding</a:t>
            </a:r>
            <a:endParaRPr lang="en-US" sz="1100" dirty="0"/>
          </a:p>
        </p:txBody>
      </p:sp>
      <p:sp>
        <p:nvSpPr>
          <p:cNvPr id="38" name="Text 36"/>
          <p:cNvSpPr/>
          <p:nvPr/>
        </p:nvSpPr>
        <p:spPr>
          <a:xfrm>
            <a:off x="941832" y="5532120"/>
            <a:ext cx="5303520" cy="32004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T1 → TR exchange enforces that only the specific Agent Identity linked to that Blueprint can materialize a resource token.</a:t>
            </a:r>
            <a:endParaRPr lang="en-US" sz="950" dirty="0"/>
          </a:p>
        </p:txBody>
      </p:sp>
      <p:sp>
        <p:nvSpPr>
          <p:cNvPr id="39" name="Shape 37"/>
          <p:cNvSpPr/>
          <p:nvPr/>
        </p:nvSpPr>
        <p:spPr>
          <a:xfrm>
            <a:off x="6309360" y="5404104"/>
            <a:ext cx="164592" cy="164592"/>
          </a:xfrm>
          <a:prstGeom prst="ellipse">
            <a:avLst/>
          </a:prstGeom>
          <a:solidFill>
            <a:srgbClr val="F5A623"/>
          </a:solidFill>
          <a:ln w="12700">
            <a:solidFill>
              <a:srgbClr val="F5A623"/>
            </a:solidFill>
            <a:prstDash val="solid"/>
          </a:ln>
        </p:spPr>
      </p:sp>
      <p:sp>
        <p:nvSpPr>
          <p:cNvPr id="40" name="Text 38"/>
          <p:cNvSpPr/>
          <p:nvPr/>
        </p:nvSpPr>
        <p:spPr>
          <a:xfrm>
            <a:off x="6565392" y="5349240"/>
            <a:ext cx="5303520" cy="201168"/>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Short-lived tokens</a:t>
            </a:r>
            <a:endParaRPr lang="en-US" sz="1100" dirty="0"/>
          </a:p>
        </p:txBody>
      </p:sp>
      <p:sp>
        <p:nvSpPr>
          <p:cNvPr id="41" name="Text 39"/>
          <p:cNvSpPr/>
          <p:nvPr/>
        </p:nvSpPr>
        <p:spPr>
          <a:xfrm>
            <a:off x="6565392" y="5532120"/>
            <a:ext cx="5303520" cy="32004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T1 is transient — no long-lived credentials on the wire. TR expires typically in 60-90 min.</a:t>
            </a:r>
            <a:endParaRPr lang="en-US" sz="950" dirty="0"/>
          </a:p>
        </p:txBody>
      </p:sp>
      <p:sp>
        <p:nvSpPr>
          <p:cNvPr id="42" name="Shape 40"/>
          <p:cNvSpPr/>
          <p:nvPr/>
        </p:nvSpPr>
        <p:spPr>
          <a:xfrm>
            <a:off x="685800" y="5815584"/>
            <a:ext cx="164592" cy="164592"/>
          </a:xfrm>
          <a:prstGeom prst="ellipse">
            <a:avLst/>
          </a:prstGeom>
          <a:solidFill>
            <a:srgbClr val="F5A623"/>
          </a:solidFill>
          <a:ln w="12700">
            <a:solidFill>
              <a:srgbClr val="F5A623"/>
            </a:solidFill>
            <a:prstDash val="solid"/>
          </a:ln>
        </p:spPr>
      </p:sp>
      <p:sp>
        <p:nvSpPr>
          <p:cNvPr id="43" name="Text 41"/>
          <p:cNvSpPr/>
          <p:nvPr/>
        </p:nvSpPr>
        <p:spPr>
          <a:xfrm>
            <a:off x="941832" y="5760720"/>
            <a:ext cx="5303520" cy="201168"/>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Scoped audience</a:t>
            </a:r>
            <a:endParaRPr lang="en-US" sz="1100" dirty="0"/>
          </a:p>
        </p:txBody>
      </p:sp>
      <p:sp>
        <p:nvSpPr>
          <p:cNvPr id="44" name="Text 42"/>
          <p:cNvSpPr/>
          <p:nvPr/>
        </p:nvSpPr>
        <p:spPr>
          <a:xfrm>
            <a:off x="941832" y="5943600"/>
            <a:ext cx="5303520" cy="32004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TR's 'aud' claim ties it to one backend. It can't be replayed against a different API.</a:t>
            </a:r>
            <a:endParaRPr lang="en-US" sz="950" dirty="0"/>
          </a:p>
        </p:txBody>
      </p:sp>
      <p:sp>
        <p:nvSpPr>
          <p:cNvPr id="45" name="Shape 43"/>
          <p:cNvSpPr/>
          <p:nvPr/>
        </p:nvSpPr>
        <p:spPr>
          <a:xfrm>
            <a:off x="6309360" y="5815584"/>
            <a:ext cx="164592" cy="164592"/>
          </a:xfrm>
          <a:prstGeom prst="ellipse">
            <a:avLst/>
          </a:prstGeom>
          <a:solidFill>
            <a:srgbClr val="F5A623"/>
          </a:solidFill>
          <a:ln w="12700">
            <a:solidFill>
              <a:srgbClr val="F5A623"/>
            </a:solidFill>
            <a:prstDash val="solid"/>
          </a:ln>
        </p:spPr>
      </p:sp>
      <p:sp>
        <p:nvSpPr>
          <p:cNvPr id="46" name="Text 44"/>
          <p:cNvSpPr/>
          <p:nvPr/>
        </p:nvSpPr>
        <p:spPr>
          <a:xfrm>
            <a:off x="6565392" y="5760720"/>
            <a:ext cx="5303520" cy="201168"/>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Agent identity in oid</a:t>
            </a:r>
            <a:endParaRPr lang="en-US" sz="1100" dirty="0"/>
          </a:p>
        </p:txBody>
      </p:sp>
      <p:sp>
        <p:nvSpPr>
          <p:cNvPr id="47" name="Text 45"/>
          <p:cNvSpPr/>
          <p:nvPr/>
        </p:nvSpPr>
        <p:spPr>
          <a:xfrm>
            <a:off x="6565392" y="5943600"/>
            <a:ext cx="5303520" cy="32004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TR's 'oid' is the Agent Identity's object ID — that's what appears in the backend's audit logs.</a:t>
            </a:r>
            <a:endParaRPr lang="en-US" sz="950" dirty="0"/>
          </a:p>
        </p:txBody>
      </p:sp>
      <p:sp>
        <p:nvSpPr>
          <p:cNvPr id="48" name="Text 46"/>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49" name="Text 47"/>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14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04  AUTHENTICATION &amp; AUTHORIZATION</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Authorization — least privilege in practice</a:t>
            </a:r>
            <a:endParaRPr lang="en-US" sz="3200" dirty="0"/>
          </a:p>
        </p:txBody>
      </p:sp>
      <p:sp>
        <p:nvSpPr>
          <p:cNvPr id="5" name="Text 3"/>
          <p:cNvSpPr/>
          <p:nvPr/>
        </p:nvSpPr>
        <p:spPr>
          <a:xfrm>
            <a:off x="457200" y="1691640"/>
            <a:ext cx="548640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First, the distinction</a:t>
            </a:r>
            <a:endParaRPr lang="en-US" sz="1500" dirty="0"/>
          </a:p>
        </p:txBody>
      </p:sp>
      <p:sp>
        <p:nvSpPr>
          <p:cNvPr id="6" name="Shape 4"/>
          <p:cNvSpPr/>
          <p:nvPr/>
        </p:nvSpPr>
        <p:spPr>
          <a:xfrm>
            <a:off x="457200" y="2148840"/>
            <a:ext cx="5486400" cy="914400"/>
          </a:xfrm>
          <a:prstGeom prst="roundRect">
            <a:avLst>
              <a:gd name="adj" fmla="val 6000"/>
            </a:avLst>
          </a:prstGeom>
          <a:solidFill>
            <a:srgbClr val="F5F7FA"/>
          </a:solidFill>
          <a:ln w="12700">
            <a:solidFill>
              <a:srgbClr val="CADCFC"/>
            </a:solidFill>
            <a:prstDash val="solid"/>
          </a:ln>
        </p:spPr>
      </p:sp>
      <p:sp>
        <p:nvSpPr>
          <p:cNvPr id="7" name="Text 5"/>
          <p:cNvSpPr/>
          <p:nvPr/>
        </p:nvSpPr>
        <p:spPr>
          <a:xfrm>
            <a:off x="640080" y="2240280"/>
            <a:ext cx="512064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Authentication (AuthN)</a:t>
            </a:r>
            <a:endParaRPr lang="en-US" sz="1300" dirty="0"/>
          </a:p>
        </p:txBody>
      </p:sp>
      <p:sp>
        <p:nvSpPr>
          <p:cNvPr id="8" name="Text 6"/>
          <p:cNvSpPr/>
          <p:nvPr/>
        </p:nvSpPr>
        <p:spPr>
          <a:xfrm>
            <a:off x="640080" y="2560320"/>
            <a:ext cx="5120640" cy="36576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Proves the caller is who it claims to be — done by Entra via OAuth token exchange.</a:t>
            </a:r>
            <a:endParaRPr lang="en-US" sz="1050" dirty="0"/>
          </a:p>
        </p:txBody>
      </p:sp>
      <p:sp>
        <p:nvSpPr>
          <p:cNvPr id="9" name="Text 7"/>
          <p:cNvSpPr/>
          <p:nvPr/>
        </p:nvSpPr>
        <p:spPr>
          <a:xfrm>
            <a:off x="640080" y="2834640"/>
            <a:ext cx="5120640" cy="228600"/>
          </a:xfrm>
          <a:prstGeom prst="rect">
            <a:avLst/>
          </a:prstGeom>
          <a:noFill/>
          <a:ln/>
        </p:spPr>
        <p:txBody>
          <a:bodyPr wrap="square" lIns="0" tIns="0" rIns="0" bIns="0" rtlCol="0" anchor="ctr"/>
          <a:lstStyle/>
          <a:p>
            <a:pPr indent="0" marL="0">
              <a:buNone/>
            </a:pPr>
            <a:r>
              <a:rPr lang="en-US" sz="900" b="1" i="1" dirty="0">
                <a:solidFill>
                  <a:srgbClr val="1C7293"/>
                </a:solidFill>
                <a:latin typeface="Calibri" pitchFamily="34" charset="0"/>
                <a:ea typeface="Calibri" pitchFamily="34" charset="-122"/>
                <a:cs typeface="Calibri" pitchFamily="34" charset="-120"/>
              </a:rPr>
              <a:t>The identity plane</a:t>
            </a:r>
            <a:endParaRPr lang="en-US" sz="900" dirty="0"/>
          </a:p>
        </p:txBody>
      </p:sp>
      <p:sp>
        <p:nvSpPr>
          <p:cNvPr id="10" name="Shape 8"/>
          <p:cNvSpPr/>
          <p:nvPr/>
        </p:nvSpPr>
        <p:spPr>
          <a:xfrm>
            <a:off x="457200" y="3200400"/>
            <a:ext cx="5486400" cy="914400"/>
          </a:xfrm>
          <a:prstGeom prst="roundRect">
            <a:avLst>
              <a:gd name="adj" fmla="val 6000"/>
            </a:avLst>
          </a:prstGeom>
          <a:solidFill>
            <a:srgbClr val="F5F7FA"/>
          </a:solidFill>
          <a:ln w="12700">
            <a:solidFill>
              <a:srgbClr val="CADCFC"/>
            </a:solidFill>
            <a:prstDash val="solid"/>
          </a:ln>
        </p:spPr>
      </p:sp>
      <p:sp>
        <p:nvSpPr>
          <p:cNvPr id="11" name="Text 9"/>
          <p:cNvSpPr/>
          <p:nvPr/>
        </p:nvSpPr>
        <p:spPr>
          <a:xfrm>
            <a:off x="640080" y="3291840"/>
            <a:ext cx="512064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Authorization (AuthZ)</a:t>
            </a:r>
            <a:endParaRPr lang="en-US" sz="1300" dirty="0"/>
          </a:p>
        </p:txBody>
      </p:sp>
      <p:sp>
        <p:nvSpPr>
          <p:cNvPr id="12" name="Text 10"/>
          <p:cNvSpPr/>
          <p:nvPr/>
        </p:nvSpPr>
        <p:spPr>
          <a:xfrm>
            <a:off x="640080" y="3611880"/>
            <a:ext cx="5120640" cy="365760"/>
          </a:xfrm>
          <a:prstGeom prst="rect">
            <a:avLst/>
          </a:prstGeom>
          <a:noFill/>
          <a:ln/>
        </p:spPr>
        <p:txBody>
          <a:bodyPr wrap="square" lIns="0" tIns="0" rIns="0" bIns="0" rtlCol="0" anchor="ctr"/>
          <a:lstStyle/>
          <a:p>
            <a:pPr indent="0" marL="0">
              <a:buNone/>
            </a:pPr>
            <a:r>
              <a:rPr lang="en-US" sz="1050" dirty="0">
                <a:solidFill>
                  <a:srgbClr val="6B7B8C"/>
                </a:solidFill>
                <a:latin typeface="Calibri" pitchFamily="34" charset="0"/>
                <a:ea typeface="Calibri" pitchFamily="34" charset="-122"/>
                <a:cs typeface="Calibri" pitchFamily="34" charset="-120"/>
              </a:rPr>
              <a:t>Decides what the caller can do — enforced at the resource using scopes and roles.</a:t>
            </a:r>
            <a:endParaRPr lang="en-US" sz="1050" dirty="0"/>
          </a:p>
        </p:txBody>
      </p:sp>
      <p:sp>
        <p:nvSpPr>
          <p:cNvPr id="13" name="Text 11"/>
          <p:cNvSpPr/>
          <p:nvPr/>
        </p:nvSpPr>
        <p:spPr>
          <a:xfrm>
            <a:off x="640080" y="3886200"/>
            <a:ext cx="5120640" cy="228600"/>
          </a:xfrm>
          <a:prstGeom prst="rect">
            <a:avLst/>
          </a:prstGeom>
          <a:noFill/>
          <a:ln/>
        </p:spPr>
        <p:txBody>
          <a:bodyPr wrap="square" lIns="0" tIns="0" rIns="0" bIns="0" rtlCol="0" anchor="ctr"/>
          <a:lstStyle/>
          <a:p>
            <a:pPr indent="0" marL="0">
              <a:buNone/>
            </a:pPr>
            <a:r>
              <a:rPr lang="en-US" sz="900" b="1" i="1" dirty="0">
                <a:solidFill>
                  <a:srgbClr val="1C7293"/>
                </a:solidFill>
                <a:latin typeface="Calibri" pitchFamily="34" charset="0"/>
                <a:ea typeface="Calibri" pitchFamily="34" charset="-122"/>
                <a:cs typeface="Calibri" pitchFamily="34" charset="-120"/>
              </a:rPr>
              <a:t>The resource plane</a:t>
            </a:r>
            <a:endParaRPr lang="en-US" sz="900" dirty="0"/>
          </a:p>
        </p:txBody>
      </p:sp>
      <p:sp>
        <p:nvSpPr>
          <p:cNvPr id="14" name="Shape 12"/>
          <p:cNvSpPr/>
          <p:nvPr/>
        </p:nvSpPr>
        <p:spPr>
          <a:xfrm>
            <a:off x="6309360" y="1691640"/>
            <a:ext cx="5394960" cy="4663440"/>
          </a:xfrm>
          <a:prstGeom prst="roundRect">
            <a:avLst>
              <a:gd name="adj" fmla="val 1569"/>
            </a:avLst>
          </a:prstGeom>
          <a:solidFill>
            <a:srgbClr val="0B1F3A"/>
          </a:solidFill>
          <a:ln w="12700">
            <a:solidFill>
              <a:srgbClr val="0B1F3A"/>
            </a:solidFill>
            <a:prstDash val="solid"/>
          </a:ln>
        </p:spPr>
      </p:sp>
      <p:sp>
        <p:nvSpPr>
          <p:cNvPr id="15" name="Text 13"/>
          <p:cNvSpPr/>
          <p:nvPr/>
        </p:nvSpPr>
        <p:spPr>
          <a:xfrm>
            <a:off x="6492240" y="1828800"/>
            <a:ext cx="5029200" cy="54864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Least privilege — what our agent can (and can't) do</a:t>
            </a:r>
            <a:endParaRPr lang="en-US" sz="1400" dirty="0"/>
          </a:p>
        </p:txBody>
      </p:sp>
      <p:sp>
        <p:nvSpPr>
          <p:cNvPr id="16" name="Text 14"/>
          <p:cNvSpPr/>
          <p:nvPr/>
        </p:nvSpPr>
        <p:spPr>
          <a:xfrm>
            <a:off x="6492240" y="2468880"/>
            <a:ext cx="320040" cy="365760"/>
          </a:xfrm>
          <a:prstGeom prst="rect">
            <a:avLst/>
          </a:prstGeom>
          <a:noFill/>
          <a:ln/>
        </p:spPr>
        <p:txBody>
          <a:bodyPr wrap="square" lIns="0" tIns="0" rIns="0" bIns="0" rtlCol="0" anchor="ctr"/>
          <a:lstStyle/>
          <a:p>
            <a:pPr indent="0" marL="0">
              <a:buNone/>
            </a:pPr>
            <a:r>
              <a:rPr lang="en-US" sz="1600" b="1" dirty="0">
                <a:solidFill>
                  <a:srgbClr val="6EE7B7"/>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6858000" y="2468880"/>
            <a:ext cx="2286000" cy="256032"/>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Sites.Selected</a:t>
            </a:r>
            <a:endParaRPr lang="en-US" sz="1150" dirty="0"/>
          </a:p>
        </p:txBody>
      </p:sp>
      <p:sp>
        <p:nvSpPr>
          <p:cNvPr id="18" name="Text 16"/>
          <p:cNvSpPr/>
          <p:nvPr/>
        </p:nvSpPr>
        <p:spPr>
          <a:xfrm>
            <a:off x="6858000" y="2697480"/>
            <a:ext cx="4754880" cy="27432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Read only the 'Procurement Policies' SharePoint site</a:t>
            </a:r>
            <a:endParaRPr lang="en-US" sz="950" dirty="0"/>
          </a:p>
        </p:txBody>
      </p:sp>
      <p:sp>
        <p:nvSpPr>
          <p:cNvPr id="19" name="Text 17"/>
          <p:cNvSpPr/>
          <p:nvPr/>
        </p:nvSpPr>
        <p:spPr>
          <a:xfrm>
            <a:off x="6492240" y="2971800"/>
            <a:ext cx="320040" cy="365760"/>
          </a:xfrm>
          <a:prstGeom prst="rect">
            <a:avLst/>
          </a:prstGeom>
          <a:noFill/>
          <a:ln/>
        </p:spPr>
        <p:txBody>
          <a:bodyPr wrap="square" lIns="0" tIns="0" rIns="0" bIns="0" rtlCol="0" anchor="ctr"/>
          <a:lstStyle/>
          <a:p>
            <a:pPr indent="0" marL="0">
              <a:buNone/>
            </a:pPr>
            <a:r>
              <a:rPr lang="en-US" sz="1600" b="1" dirty="0">
                <a:solidFill>
                  <a:srgbClr val="6EE7B7"/>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6858000" y="2971800"/>
            <a:ext cx="2286000" cy="256032"/>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User.Read</a:t>
            </a:r>
            <a:endParaRPr lang="en-US" sz="1150" dirty="0"/>
          </a:p>
        </p:txBody>
      </p:sp>
      <p:sp>
        <p:nvSpPr>
          <p:cNvPr id="21" name="Text 19"/>
          <p:cNvSpPr/>
          <p:nvPr/>
        </p:nvSpPr>
        <p:spPr>
          <a:xfrm>
            <a:off x="6858000" y="3200400"/>
            <a:ext cx="4754880" cy="27432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Read the calling user's profile from Graph</a:t>
            </a:r>
            <a:endParaRPr lang="en-US" sz="950" dirty="0"/>
          </a:p>
        </p:txBody>
      </p:sp>
      <p:sp>
        <p:nvSpPr>
          <p:cNvPr id="22" name="Text 20"/>
          <p:cNvSpPr/>
          <p:nvPr/>
        </p:nvSpPr>
        <p:spPr>
          <a:xfrm>
            <a:off x="6492240" y="3474720"/>
            <a:ext cx="320040" cy="365760"/>
          </a:xfrm>
          <a:prstGeom prst="rect">
            <a:avLst/>
          </a:prstGeom>
          <a:noFill/>
          <a:ln/>
        </p:spPr>
        <p:txBody>
          <a:bodyPr wrap="square" lIns="0" tIns="0" rIns="0" bIns="0" rtlCol="0" anchor="ctr"/>
          <a:lstStyle/>
          <a:p>
            <a:pPr indent="0" marL="0">
              <a:buNone/>
            </a:pPr>
            <a:r>
              <a:rPr lang="en-US" sz="1600" b="1" dirty="0">
                <a:solidFill>
                  <a:srgbClr val="6EE7B7"/>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6858000" y="3474720"/>
            <a:ext cx="2286000" cy="256032"/>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PurchaseOrder.Read (custom)</a:t>
            </a:r>
            <a:endParaRPr lang="en-US" sz="1150" dirty="0"/>
          </a:p>
        </p:txBody>
      </p:sp>
      <p:sp>
        <p:nvSpPr>
          <p:cNvPr id="24" name="Text 22"/>
          <p:cNvSpPr/>
          <p:nvPr/>
        </p:nvSpPr>
        <p:spPr>
          <a:xfrm>
            <a:off x="6858000" y="3703320"/>
            <a:ext cx="4754880" cy="27432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Read PO records via ERP connector — filtered by user</a:t>
            </a:r>
            <a:endParaRPr lang="en-US" sz="950" dirty="0"/>
          </a:p>
        </p:txBody>
      </p:sp>
      <p:sp>
        <p:nvSpPr>
          <p:cNvPr id="25" name="Text 23"/>
          <p:cNvSpPr/>
          <p:nvPr/>
        </p:nvSpPr>
        <p:spPr>
          <a:xfrm>
            <a:off x="6492240" y="3977640"/>
            <a:ext cx="320040" cy="365760"/>
          </a:xfrm>
          <a:prstGeom prst="rect">
            <a:avLst/>
          </a:prstGeom>
          <a:noFill/>
          <a:ln/>
        </p:spPr>
        <p:txBody>
          <a:bodyPr wrap="square" lIns="0" tIns="0" rIns="0" bIns="0" rtlCol="0" anchor="ctr"/>
          <a:lstStyle/>
          <a:p>
            <a:pPr indent="0" marL="0">
              <a:buNone/>
            </a:pPr>
            <a:r>
              <a:rPr lang="en-US" sz="1600" b="1" dirty="0">
                <a:solidFill>
                  <a:srgbClr val="6EE7B7"/>
                </a:solidFill>
                <a:latin typeface="Calibri" pitchFamily="34" charset="0"/>
                <a:ea typeface="Calibri" pitchFamily="34" charset="-122"/>
                <a:cs typeface="Calibri" pitchFamily="34" charset="-120"/>
              </a:rPr>
              <a:t>✓</a:t>
            </a:r>
            <a:endParaRPr lang="en-US" sz="1600" dirty="0"/>
          </a:p>
        </p:txBody>
      </p:sp>
      <p:sp>
        <p:nvSpPr>
          <p:cNvPr id="26" name="Text 24"/>
          <p:cNvSpPr/>
          <p:nvPr/>
        </p:nvSpPr>
        <p:spPr>
          <a:xfrm>
            <a:off x="6858000" y="3977640"/>
            <a:ext cx="2286000" cy="256032"/>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Vendor.Read (custom)</a:t>
            </a:r>
            <a:endParaRPr lang="en-US" sz="1150" dirty="0"/>
          </a:p>
        </p:txBody>
      </p:sp>
      <p:sp>
        <p:nvSpPr>
          <p:cNvPr id="27" name="Text 25"/>
          <p:cNvSpPr/>
          <p:nvPr/>
        </p:nvSpPr>
        <p:spPr>
          <a:xfrm>
            <a:off x="6858000" y="4206240"/>
            <a:ext cx="4754880" cy="27432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Read vendor master data, subject to data classification</a:t>
            </a:r>
            <a:endParaRPr lang="en-US" sz="950" dirty="0"/>
          </a:p>
        </p:txBody>
      </p:sp>
      <p:sp>
        <p:nvSpPr>
          <p:cNvPr id="28" name="Text 26"/>
          <p:cNvSpPr/>
          <p:nvPr/>
        </p:nvSpPr>
        <p:spPr>
          <a:xfrm>
            <a:off x="6492240" y="4480560"/>
            <a:ext cx="320040" cy="365760"/>
          </a:xfrm>
          <a:prstGeom prst="rect">
            <a:avLst/>
          </a:prstGeom>
          <a:noFill/>
          <a:ln/>
        </p:spPr>
        <p:txBody>
          <a:bodyPr wrap="square" lIns="0" tIns="0" rIns="0" bIns="0" rtlCol="0" anchor="ctr"/>
          <a:lstStyle/>
          <a:p>
            <a:pP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29" name="Text 27"/>
          <p:cNvSpPr/>
          <p:nvPr/>
        </p:nvSpPr>
        <p:spPr>
          <a:xfrm>
            <a:off x="6858000" y="4480560"/>
            <a:ext cx="2286000" cy="256032"/>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Sites.ReadWrite.All</a:t>
            </a:r>
            <a:endParaRPr lang="en-US" sz="1150" dirty="0"/>
          </a:p>
        </p:txBody>
      </p:sp>
      <p:sp>
        <p:nvSpPr>
          <p:cNvPr id="30" name="Text 28"/>
          <p:cNvSpPr/>
          <p:nvPr/>
        </p:nvSpPr>
        <p:spPr>
          <a:xfrm>
            <a:off x="6858000" y="4709160"/>
            <a:ext cx="4754880" cy="27432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NOT granted — agent never writes to SharePoint</a:t>
            </a:r>
            <a:endParaRPr lang="en-US" sz="950" dirty="0"/>
          </a:p>
        </p:txBody>
      </p:sp>
      <p:sp>
        <p:nvSpPr>
          <p:cNvPr id="31" name="Text 29"/>
          <p:cNvSpPr/>
          <p:nvPr/>
        </p:nvSpPr>
        <p:spPr>
          <a:xfrm>
            <a:off x="6492240" y="4983480"/>
            <a:ext cx="320040" cy="365760"/>
          </a:xfrm>
          <a:prstGeom prst="rect">
            <a:avLst/>
          </a:prstGeom>
          <a:noFill/>
          <a:ln/>
        </p:spPr>
        <p:txBody>
          <a:bodyPr wrap="square" lIns="0" tIns="0" rIns="0" bIns="0" rtlCol="0" anchor="ctr"/>
          <a:lstStyle/>
          <a:p>
            <a:pP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6858000" y="4983480"/>
            <a:ext cx="2286000" cy="256032"/>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Directory.ReadWrite.All</a:t>
            </a:r>
            <a:endParaRPr lang="en-US" sz="1150" dirty="0"/>
          </a:p>
        </p:txBody>
      </p:sp>
      <p:sp>
        <p:nvSpPr>
          <p:cNvPr id="33" name="Text 31"/>
          <p:cNvSpPr/>
          <p:nvPr/>
        </p:nvSpPr>
        <p:spPr>
          <a:xfrm>
            <a:off x="6858000" y="5212080"/>
            <a:ext cx="4754880" cy="27432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NOT granted — agent never modifies directory objects</a:t>
            </a:r>
            <a:endParaRPr lang="en-US" sz="950" dirty="0"/>
          </a:p>
        </p:txBody>
      </p:sp>
      <p:sp>
        <p:nvSpPr>
          <p:cNvPr id="34" name="Text 32"/>
          <p:cNvSpPr/>
          <p:nvPr/>
        </p:nvSpPr>
        <p:spPr>
          <a:xfrm>
            <a:off x="6492240" y="5486400"/>
            <a:ext cx="320040" cy="365760"/>
          </a:xfrm>
          <a:prstGeom prst="rect">
            <a:avLst/>
          </a:prstGeom>
          <a:noFill/>
          <a:ln/>
        </p:spPr>
        <p:txBody>
          <a:bodyPr wrap="square" lIns="0" tIns="0" rIns="0" bIns="0" rtlCol="0" anchor="ctr"/>
          <a:lstStyle/>
          <a:p>
            <a:pP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35" name="Text 33"/>
          <p:cNvSpPr/>
          <p:nvPr/>
        </p:nvSpPr>
        <p:spPr>
          <a:xfrm>
            <a:off x="6858000" y="5486400"/>
            <a:ext cx="2286000" cy="256032"/>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PurchaseOrder.Write</a:t>
            </a:r>
            <a:endParaRPr lang="en-US" sz="1150" dirty="0"/>
          </a:p>
        </p:txBody>
      </p:sp>
      <p:sp>
        <p:nvSpPr>
          <p:cNvPr id="36" name="Text 34"/>
          <p:cNvSpPr/>
          <p:nvPr/>
        </p:nvSpPr>
        <p:spPr>
          <a:xfrm>
            <a:off x="6858000" y="5715000"/>
            <a:ext cx="4754880" cy="27432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NOT granted — agent never approves or edits POs</a:t>
            </a:r>
            <a:endParaRPr lang="en-US" sz="950" dirty="0"/>
          </a:p>
        </p:txBody>
      </p:sp>
      <p:sp>
        <p:nvSpPr>
          <p:cNvPr id="37" name="Text 35"/>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38" name="Text 36"/>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05  AUDITING &amp; GOVERNANCE</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How we track, review, and comply</a:t>
            </a:r>
            <a:endParaRPr lang="en-US" sz="3200" dirty="0"/>
          </a:p>
        </p:txBody>
      </p:sp>
      <p:sp>
        <p:nvSpPr>
          <p:cNvPr id="5" name="Shape 3"/>
          <p:cNvSpPr/>
          <p:nvPr/>
        </p:nvSpPr>
        <p:spPr>
          <a:xfrm>
            <a:off x="457200" y="1691640"/>
            <a:ext cx="3703320" cy="640080"/>
          </a:xfrm>
          <a:prstGeom prst="roundRect">
            <a:avLst>
              <a:gd name="adj" fmla="val 8571"/>
            </a:avLst>
          </a:prstGeom>
          <a:solidFill>
            <a:srgbClr val="0B1F3A"/>
          </a:solidFill>
          <a:ln w="12700">
            <a:solidFill>
              <a:srgbClr val="0B1F3A"/>
            </a:solidFill>
            <a:prstDash val="solid"/>
          </a:ln>
        </p:spPr>
      </p:sp>
      <p:sp>
        <p:nvSpPr>
          <p:cNvPr id="6" name="Text 4"/>
          <p:cNvSpPr/>
          <p:nvPr/>
        </p:nvSpPr>
        <p:spPr>
          <a:xfrm>
            <a:off x="640080" y="1737360"/>
            <a:ext cx="548640" cy="54864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1234440" y="1691640"/>
            <a:ext cx="2788920" cy="640080"/>
          </a:xfrm>
          <a:prstGeom prst="rect">
            <a:avLst/>
          </a:prstGeom>
          <a:noFill/>
          <a:ln/>
        </p:spPr>
        <p:txBody>
          <a:bodyPr wrap="square" lIns="0" tIns="0" rIns="0" bIns="0" rtlCol="0" anchor="ctr"/>
          <a:lstStyle/>
          <a:p>
            <a:pPr indent="0" marL="0">
              <a:buNone/>
            </a:pPr>
            <a:r>
              <a:rPr lang="en-US" sz="2000" b="1" dirty="0">
                <a:solidFill>
                  <a:srgbClr val="F5A623"/>
                </a:solidFill>
                <a:latin typeface="Cambria" pitchFamily="34" charset="0"/>
                <a:ea typeface="Cambria" pitchFamily="34" charset="-122"/>
                <a:cs typeface="Cambria" pitchFamily="34" charset="-120"/>
              </a:rPr>
              <a:t>Track</a:t>
            </a:r>
            <a:endParaRPr lang="en-US" sz="2000" dirty="0"/>
          </a:p>
        </p:txBody>
      </p:sp>
      <p:sp>
        <p:nvSpPr>
          <p:cNvPr id="8" name="Shape 6"/>
          <p:cNvSpPr/>
          <p:nvPr/>
        </p:nvSpPr>
        <p:spPr>
          <a:xfrm>
            <a:off x="457200" y="2331720"/>
            <a:ext cx="3703320" cy="3931920"/>
          </a:xfrm>
          <a:prstGeom prst="roundRect">
            <a:avLst>
              <a:gd name="adj" fmla="val 1481"/>
            </a:avLst>
          </a:prstGeom>
          <a:solidFill>
            <a:srgbClr val="F5F7FA"/>
          </a:solidFill>
          <a:ln w="12700">
            <a:solidFill>
              <a:srgbClr val="CADCFC"/>
            </a:solidFill>
            <a:prstDash val="solid"/>
          </a:ln>
        </p:spPr>
      </p:sp>
      <p:sp>
        <p:nvSpPr>
          <p:cNvPr id="9" name="Text 7"/>
          <p:cNvSpPr/>
          <p:nvPr/>
        </p:nvSpPr>
        <p:spPr>
          <a:xfrm>
            <a:off x="640080" y="2514600"/>
            <a:ext cx="33375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Entra sign-in logs</a:t>
            </a:r>
            <a:endParaRPr lang="en-US" sz="1200" dirty="0"/>
          </a:p>
        </p:txBody>
      </p:sp>
      <p:sp>
        <p:nvSpPr>
          <p:cNvPr id="10" name="Text 8"/>
          <p:cNvSpPr/>
          <p:nvPr/>
        </p:nvSpPr>
        <p:spPr>
          <a:xfrm>
            <a:off x="640080" y="2834640"/>
            <a:ext cx="3337560" cy="5486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Every token issued to the agent, timestamped, with source IP and CA outcome</a:t>
            </a:r>
            <a:endParaRPr lang="en-US" sz="1000" dirty="0"/>
          </a:p>
        </p:txBody>
      </p:sp>
      <p:sp>
        <p:nvSpPr>
          <p:cNvPr id="11" name="Text 9"/>
          <p:cNvSpPr/>
          <p:nvPr/>
        </p:nvSpPr>
        <p:spPr>
          <a:xfrm>
            <a:off x="640080" y="3474720"/>
            <a:ext cx="33375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Audit logs</a:t>
            </a:r>
            <a:endParaRPr lang="en-US" sz="1200" dirty="0"/>
          </a:p>
        </p:txBody>
      </p:sp>
      <p:sp>
        <p:nvSpPr>
          <p:cNvPr id="12" name="Text 10"/>
          <p:cNvSpPr/>
          <p:nvPr/>
        </p:nvSpPr>
        <p:spPr>
          <a:xfrm>
            <a:off x="640080" y="3794760"/>
            <a:ext cx="3337560" cy="5486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Blueprint changes, permission grants, ownership transfers — all logged</a:t>
            </a:r>
            <a:endParaRPr lang="en-US" sz="1000" dirty="0"/>
          </a:p>
        </p:txBody>
      </p:sp>
      <p:sp>
        <p:nvSpPr>
          <p:cNvPr id="13" name="Text 11"/>
          <p:cNvSpPr/>
          <p:nvPr/>
        </p:nvSpPr>
        <p:spPr>
          <a:xfrm>
            <a:off x="640080" y="4434840"/>
            <a:ext cx="33375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Microsoft Purview</a:t>
            </a:r>
            <a:endParaRPr lang="en-US" sz="1200" dirty="0"/>
          </a:p>
        </p:txBody>
      </p:sp>
      <p:sp>
        <p:nvSpPr>
          <p:cNvPr id="14" name="Text 12"/>
          <p:cNvSpPr/>
          <p:nvPr/>
        </p:nvSpPr>
        <p:spPr>
          <a:xfrm>
            <a:off x="640080" y="4754880"/>
            <a:ext cx="3337560" cy="5486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Data lineage — which docs the agent read, which users triggered it</a:t>
            </a:r>
            <a:endParaRPr lang="en-US" sz="1000" dirty="0"/>
          </a:p>
        </p:txBody>
      </p:sp>
      <p:sp>
        <p:nvSpPr>
          <p:cNvPr id="15" name="Text 13"/>
          <p:cNvSpPr/>
          <p:nvPr/>
        </p:nvSpPr>
        <p:spPr>
          <a:xfrm>
            <a:off x="640080" y="5394960"/>
            <a:ext cx="33375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Defender for Cloud Apps</a:t>
            </a:r>
            <a:endParaRPr lang="en-US" sz="1200" dirty="0"/>
          </a:p>
        </p:txBody>
      </p:sp>
      <p:sp>
        <p:nvSpPr>
          <p:cNvPr id="16" name="Text 14"/>
          <p:cNvSpPr/>
          <p:nvPr/>
        </p:nvSpPr>
        <p:spPr>
          <a:xfrm>
            <a:off x="640080" y="5715000"/>
            <a:ext cx="3337560" cy="5486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Behavioral analytics — flag anomalous agent activity</a:t>
            </a:r>
            <a:endParaRPr lang="en-US" sz="1000" dirty="0"/>
          </a:p>
        </p:txBody>
      </p:sp>
      <p:sp>
        <p:nvSpPr>
          <p:cNvPr id="17" name="Shape 15"/>
          <p:cNvSpPr/>
          <p:nvPr/>
        </p:nvSpPr>
        <p:spPr>
          <a:xfrm>
            <a:off x="4297680" y="1691640"/>
            <a:ext cx="3703320" cy="640080"/>
          </a:xfrm>
          <a:prstGeom prst="roundRect">
            <a:avLst>
              <a:gd name="adj" fmla="val 8571"/>
            </a:avLst>
          </a:prstGeom>
          <a:solidFill>
            <a:srgbClr val="0B1F3A"/>
          </a:solidFill>
          <a:ln w="12700">
            <a:solidFill>
              <a:srgbClr val="0B1F3A"/>
            </a:solidFill>
            <a:prstDash val="solid"/>
          </a:ln>
        </p:spPr>
      </p:sp>
      <p:sp>
        <p:nvSpPr>
          <p:cNvPr id="18" name="Text 16"/>
          <p:cNvSpPr/>
          <p:nvPr/>
        </p:nvSpPr>
        <p:spPr>
          <a:xfrm>
            <a:off x="4480560" y="1737360"/>
            <a:ext cx="548640" cy="54864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5074920" y="1691640"/>
            <a:ext cx="2788920" cy="640080"/>
          </a:xfrm>
          <a:prstGeom prst="rect">
            <a:avLst/>
          </a:prstGeom>
          <a:noFill/>
          <a:ln/>
        </p:spPr>
        <p:txBody>
          <a:bodyPr wrap="square" lIns="0" tIns="0" rIns="0" bIns="0" rtlCol="0" anchor="ctr"/>
          <a:lstStyle/>
          <a:p>
            <a:pPr indent="0" marL="0">
              <a:buNone/>
            </a:pPr>
            <a:r>
              <a:rPr lang="en-US" sz="2000" b="1" dirty="0">
                <a:solidFill>
                  <a:srgbClr val="F5A623"/>
                </a:solidFill>
                <a:latin typeface="Cambria" pitchFamily="34" charset="0"/>
                <a:ea typeface="Cambria" pitchFamily="34" charset="-122"/>
                <a:cs typeface="Cambria" pitchFamily="34" charset="-120"/>
              </a:rPr>
              <a:t>Review</a:t>
            </a:r>
            <a:endParaRPr lang="en-US" sz="2000" dirty="0"/>
          </a:p>
        </p:txBody>
      </p:sp>
      <p:sp>
        <p:nvSpPr>
          <p:cNvPr id="20" name="Shape 18"/>
          <p:cNvSpPr/>
          <p:nvPr/>
        </p:nvSpPr>
        <p:spPr>
          <a:xfrm>
            <a:off x="4297680" y="2331720"/>
            <a:ext cx="3703320" cy="3931920"/>
          </a:xfrm>
          <a:prstGeom prst="roundRect">
            <a:avLst>
              <a:gd name="adj" fmla="val 1481"/>
            </a:avLst>
          </a:prstGeom>
          <a:solidFill>
            <a:srgbClr val="F5F7FA"/>
          </a:solidFill>
          <a:ln w="12700">
            <a:solidFill>
              <a:srgbClr val="CADCFC"/>
            </a:solidFill>
            <a:prstDash val="solid"/>
          </a:ln>
        </p:spPr>
      </p:sp>
      <p:sp>
        <p:nvSpPr>
          <p:cNvPr id="21" name="Text 19"/>
          <p:cNvSpPr/>
          <p:nvPr/>
        </p:nvSpPr>
        <p:spPr>
          <a:xfrm>
            <a:off x="4480560" y="2514600"/>
            <a:ext cx="33375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Access reviews</a:t>
            </a:r>
            <a:endParaRPr lang="en-US" sz="1200" dirty="0"/>
          </a:p>
        </p:txBody>
      </p:sp>
      <p:sp>
        <p:nvSpPr>
          <p:cNvPr id="22" name="Text 20"/>
          <p:cNvSpPr/>
          <p:nvPr/>
        </p:nvSpPr>
        <p:spPr>
          <a:xfrm>
            <a:off x="4480560" y="2834640"/>
            <a:ext cx="3337560" cy="5486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Quarterly review by procurement + IT security; retain or remove permissions</a:t>
            </a:r>
            <a:endParaRPr lang="en-US" sz="1000" dirty="0"/>
          </a:p>
        </p:txBody>
      </p:sp>
      <p:sp>
        <p:nvSpPr>
          <p:cNvPr id="23" name="Text 21"/>
          <p:cNvSpPr/>
          <p:nvPr/>
        </p:nvSpPr>
        <p:spPr>
          <a:xfrm>
            <a:off x="4480560" y="3474720"/>
            <a:ext cx="33375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Access packages</a:t>
            </a:r>
            <a:endParaRPr lang="en-US" sz="1200" dirty="0"/>
          </a:p>
        </p:txBody>
      </p:sp>
      <p:sp>
        <p:nvSpPr>
          <p:cNvPr id="24" name="Text 22"/>
          <p:cNvSpPr/>
          <p:nvPr/>
        </p:nvSpPr>
        <p:spPr>
          <a:xfrm>
            <a:off x="4480560" y="3794760"/>
            <a:ext cx="3337560" cy="5486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Time-bound access — auto-expire after review period</a:t>
            </a:r>
            <a:endParaRPr lang="en-US" sz="1000" dirty="0"/>
          </a:p>
        </p:txBody>
      </p:sp>
      <p:sp>
        <p:nvSpPr>
          <p:cNvPr id="25" name="Text 23"/>
          <p:cNvSpPr/>
          <p:nvPr/>
        </p:nvSpPr>
        <p:spPr>
          <a:xfrm>
            <a:off x="4480560" y="4434840"/>
            <a:ext cx="33375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Ownership accountability</a:t>
            </a:r>
            <a:endParaRPr lang="en-US" sz="1200" dirty="0"/>
          </a:p>
        </p:txBody>
      </p:sp>
      <p:sp>
        <p:nvSpPr>
          <p:cNvPr id="26" name="Text 24"/>
          <p:cNvSpPr/>
          <p:nvPr/>
        </p:nvSpPr>
        <p:spPr>
          <a:xfrm>
            <a:off x="4480560" y="4754880"/>
            <a:ext cx="3337560" cy="5486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Owner + sponsor + manager get review notifications</a:t>
            </a:r>
            <a:endParaRPr lang="en-US" sz="1000" dirty="0"/>
          </a:p>
        </p:txBody>
      </p:sp>
      <p:sp>
        <p:nvSpPr>
          <p:cNvPr id="27" name="Text 25"/>
          <p:cNvSpPr/>
          <p:nvPr/>
        </p:nvSpPr>
        <p:spPr>
          <a:xfrm>
            <a:off x="4480560" y="5394960"/>
            <a:ext cx="33375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Blueprint versioning</a:t>
            </a:r>
            <a:endParaRPr lang="en-US" sz="1200" dirty="0"/>
          </a:p>
        </p:txBody>
      </p:sp>
      <p:sp>
        <p:nvSpPr>
          <p:cNvPr id="28" name="Text 26"/>
          <p:cNvSpPr/>
          <p:nvPr/>
        </p:nvSpPr>
        <p:spPr>
          <a:xfrm>
            <a:off x="4480560" y="5715000"/>
            <a:ext cx="3337560" cy="5486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Track permission changes over time; roll back if a scope was over-granted</a:t>
            </a:r>
            <a:endParaRPr lang="en-US" sz="1000" dirty="0"/>
          </a:p>
        </p:txBody>
      </p:sp>
      <p:sp>
        <p:nvSpPr>
          <p:cNvPr id="29" name="Shape 27"/>
          <p:cNvSpPr/>
          <p:nvPr/>
        </p:nvSpPr>
        <p:spPr>
          <a:xfrm>
            <a:off x="8138160" y="1691640"/>
            <a:ext cx="3703320" cy="640080"/>
          </a:xfrm>
          <a:prstGeom prst="roundRect">
            <a:avLst>
              <a:gd name="adj" fmla="val 8571"/>
            </a:avLst>
          </a:prstGeom>
          <a:solidFill>
            <a:srgbClr val="0B1F3A"/>
          </a:solidFill>
          <a:ln w="12700">
            <a:solidFill>
              <a:srgbClr val="0B1F3A"/>
            </a:solidFill>
            <a:prstDash val="solid"/>
          </a:ln>
        </p:spPr>
      </p:sp>
      <p:sp>
        <p:nvSpPr>
          <p:cNvPr id="30" name="Text 28"/>
          <p:cNvSpPr/>
          <p:nvPr/>
        </p:nvSpPr>
        <p:spPr>
          <a:xfrm>
            <a:off x="8321040" y="1737360"/>
            <a:ext cx="548640" cy="54864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1" name="Text 29"/>
          <p:cNvSpPr/>
          <p:nvPr/>
        </p:nvSpPr>
        <p:spPr>
          <a:xfrm>
            <a:off x="8915400" y="1691640"/>
            <a:ext cx="2788920" cy="640080"/>
          </a:xfrm>
          <a:prstGeom prst="rect">
            <a:avLst/>
          </a:prstGeom>
          <a:noFill/>
          <a:ln/>
        </p:spPr>
        <p:txBody>
          <a:bodyPr wrap="square" lIns="0" tIns="0" rIns="0" bIns="0" rtlCol="0" anchor="ctr"/>
          <a:lstStyle/>
          <a:p>
            <a:pPr indent="0" marL="0">
              <a:buNone/>
            </a:pPr>
            <a:r>
              <a:rPr lang="en-US" sz="2000" b="1" dirty="0">
                <a:solidFill>
                  <a:srgbClr val="F5A623"/>
                </a:solidFill>
                <a:latin typeface="Cambria" pitchFamily="34" charset="0"/>
                <a:ea typeface="Cambria" pitchFamily="34" charset="-122"/>
                <a:cs typeface="Cambria" pitchFamily="34" charset="-120"/>
              </a:rPr>
              <a:t>Comply</a:t>
            </a:r>
            <a:endParaRPr lang="en-US" sz="2000" dirty="0"/>
          </a:p>
        </p:txBody>
      </p:sp>
      <p:sp>
        <p:nvSpPr>
          <p:cNvPr id="32" name="Shape 30"/>
          <p:cNvSpPr/>
          <p:nvPr/>
        </p:nvSpPr>
        <p:spPr>
          <a:xfrm>
            <a:off x="8138160" y="2331720"/>
            <a:ext cx="3703320" cy="3931920"/>
          </a:xfrm>
          <a:prstGeom prst="roundRect">
            <a:avLst>
              <a:gd name="adj" fmla="val 1481"/>
            </a:avLst>
          </a:prstGeom>
          <a:solidFill>
            <a:srgbClr val="F5F7FA"/>
          </a:solidFill>
          <a:ln w="12700">
            <a:solidFill>
              <a:srgbClr val="CADCFC"/>
            </a:solidFill>
            <a:prstDash val="solid"/>
          </a:ln>
        </p:spPr>
      </p:sp>
      <p:sp>
        <p:nvSpPr>
          <p:cNvPr id="33" name="Text 31"/>
          <p:cNvSpPr/>
          <p:nvPr/>
        </p:nvSpPr>
        <p:spPr>
          <a:xfrm>
            <a:off x="8321040" y="2514600"/>
            <a:ext cx="33375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SOX / ISO 27001</a:t>
            </a:r>
            <a:endParaRPr lang="en-US" sz="1200" dirty="0"/>
          </a:p>
        </p:txBody>
      </p:sp>
      <p:sp>
        <p:nvSpPr>
          <p:cNvPr id="34" name="Text 32"/>
          <p:cNvSpPr/>
          <p:nvPr/>
        </p:nvSpPr>
        <p:spPr>
          <a:xfrm>
            <a:off x="8321040" y="2834640"/>
            <a:ext cx="3337560" cy="5486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Named identity per actor, full audit trail, separation of duties</a:t>
            </a:r>
            <a:endParaRPr lang="en-US" sz="1000" dirty="0"/>
          </a:p>
        </p:txBody>
      </p:sp>
      <p:sp>
        <p:nvSpPr>
          <p:cNvPr id="35" name="Text 33"/>
          <p:cNvSpPr/>
          <p:nvPr/>
        </p:nvSpPr>
        <p:spPr>
          <a:xfrm>
            <a:off x="8321040" y="3474720"/>
            <a:ext cx="33375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Data residency</a:t>
            </a:r>
            <a:endParaRPr lang="en-US" sz="1200" dirty="0"/>
          </a:p>
        </p:txBody>
      </p:sp>
      <p:sp>
        <p:nvSpPr>
          <p:cNvPr id="36" name="Text 34"/>
          <p:cNvSpPr/>
          <p:nvPr/>
        </p:nvSpPr>
        <p:spPr>
          <a:xfrm>
            <a:off x="8321040" y="3794760"/>
            <a:ext cx="3337560" cy="5486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Purview labels enforce which data the agent can access by region</a:t>
            </a:r>
            <a:endParaRPr lang="en-US" sz="1000" dirty="0"/>
          </a:p>
        </p:txBody>
      </p:sp>
      <p:sp>
        <p:nvSpPr>
          <p:cNvPr id="37" name="Text 35"/>
          <p:cNvSpPr/>
          <p:nvPr/>
        </p:nvSpPr>
        <p:spPr>
          <a:xfrm>
            <a:off x="8321040" y="4434840"/>
            <a:ext cx="33375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Retention</a:t>
            </a:r>
            <a:endParaRPr lang="en-US" sz="1200" dirty="0"/>
          </a:p>
        </p:txBody>
      </p:sp>
      <p:sp>
        <p:nvSpPr>
          <p:cNvPr id="38" name="Text 36"/>
          <p:cNvSpPr/>
          <p:nvPr/>
        </p:nvSpPr>
        <p:spPr>
          <a:xfrm>
            <a:off x="8321040" y="4754880"/>
            <a:ext cx="3337560" cy="5486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Sign-in logs retained per compliance policy — 90 days to 2 years</a:t>
            </a:r>
            <a:endParaRPr lang="en-US" sz="1000" dirty="0"/>
          </a:p>
        </p:txBody>
      </p:sp>
      <p:sp>
        <p:nvSpPr>
          <p:cNvPr id="39" name="Text 37"/>
          <p:cNvSpPr/>
          <p:nvPr/>
        </p:nvSpPr>
        <p:spPr>
          <a:xfrm>
            <a:off x="8321040" y="5394960"/>
            <a:ext cx="33375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Incident response</a:t>
            </a:r>
            <a:endParaRPr lang="en-US" sz="1200" dirty="0"/>
          </a:p>
        </p:txBody>
      </p:sp>
      <p:sp>
        <p:nvSpPr>
          <p:cNvPr id="40" name="Text 38"/>
          <p:cNvSpPr/>
          <p:nvPr/>
        </p:nvSpPr>
        <p:spPr>
          <a:xfrm>
            <a:off x="8321040" y="5715000"/>
            <a:ext cx="3337560" cy="548640"/>
          </a:xfrm>
          <a:prstGeom prst="rect">
            <a:avLst/>
          </a:prstGeom>
          <a:noFill/>
          <a:ln/>
        </p:spPr>
        <p:txBody>
          <a:bodyPr wrap="square" lIns="0" tIns="0" rIns="0" bIns="0" rtlCol="0" anchor="ctr"/>
          <a:lstStyle/>
          <a:p>
            <a:pPr indent="0" marL="0">
              <a:buNone/>
            </a:pPr>
            <a:r>
              <a:rPr lang="en-US" sz="1000" dirty="0">
                <a:solidFill>
                  <a:srgbClr val="6B7B8C"/>
                </a:solidFill>
                <a:latin typeface="Calibri" pitchFamily="34" charset="0"/>
                <a:ea typeface="Calibri" pitchFamily="34" charset="-122"/>
                <a:cs typeface="Calibri" pitchFamily="34" charset="-120"/>
              </a:rPr>
              <a:t>Revoke the agent identity in one click; all downstream tokens invalidated</a:t>
            </a:r>
            <a:endParaRPr lang="en-US" sz="1000" dirty="0"/>
          </a:p>
        </p:txBody>
      </p:sp>
      <p:sp>
        <p:nvSpPr>
          <p:cNvPr id="41" name="Text 39"/>
          <p:cNvSpPr/>
          <p:nvPr/>
        </p:nvSpPr>
        <p:spPr>
          <a:xfrm>
            <a:off x="457200" y="6355080"/>
            <a:ext cx="11247120" cy="274320"/>
          </a:xfrm>
          <a:prstGeom prst="rect">
            <a:avLst/>
          </a:prstGeom>
          <a:noFill/>
          <a:ln/>
        </p:spPr>
        <p:txBody>
          <a:bodyPr wrap="square" lIns="0" tIns="0" rIns="0" bIns="0" rtlCol="0" anchor="ctr"/>
          <a:lstStyle/>
          <a:p>
            <a:pPr algn="ctr" indent="0" marL="0">
              <a:buNone/>
            </a:pPr>
            <a:r>
              <a:rPr lang="en-US" sz="1100" b="1" i="1" dirty="0">
                <a:solidFill>
                  <a:srgbClr val="1C7293"/>
                </a:solidFill>
                <a:latin typeface="Calibri" pitchFamily="34" charset="0"/>
                <a:ea typeface="Calibri" pitchFamily="34" charset="-122"/>
                <a:cs typeface="Calibri" pitchFamily="34" charset="-120"/>
              </a:rPr>
              <a:t>Regulators and internal audit no longer accept 'the AI did it'. Every agent action must trace back to a named identity, a named owner, and a business justification.</a:t>
            </a:r>
            <a:endParaRPr lang="en-US" sz="1100" dirty="0"/>
          </a:p>
        </p:txBody>
      </p:sp>
      <p:sp>
        <p:nvSpPr>
          <p:cNvPr id="42" name="Text 40"/>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43" name="Text 41"/>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16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05  AUDITING &amp; GOVERNANCE  ★  DEEP-DIVE</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Incident response flow — when the agent goes wrong</a:t>
            </a:r>
            <a:endParaRPr lang="en-US" sz="3200" dirty="0"/>
          </a:p>
        </p:txBody>
      </p:sp>
      <p:sp>
        <p:nvSpPr>
          <p:cNvPr id="5" name="Text 3"/>
          <p:cNvSpPr/>
          <p:nvPr/>
        </p:nvSpPr>
        <p:spPr>
          <a:xfrm>
            <a:off x="457200" y="1508760"/>
            <a:ext cx="11247120" cy="365760"/>
          </a:xfrm>
          <a:prstGeom prst="rect">
            <a:avLst/>
          </a:prstGeom>
          <a:noFill/>
          <a:ln/>
        </p:spPr>
        <p:txBody>
          <a:bodyPr wrap="square" lIns="0" tIns="0" rIns="0" bIns="0" rtlCol="0" anchor="ctr"/>
          <a:lstStyle/>
          <a:p>
            <a:pPr indent="0" marL="0">
              <a:buNone/>
            </a:pPr>
            <a:r>
              <a:rPr lang="en-US" sz="1200" i="1" dirty="0">
                <a:solidFill>
                  <a:srgbClr val="6B7B8C"/>
                </a:solidFill>
                <a:latin typeface="Calibri" pitchFamily="34" charset="0"/>
                <a:ea typeface="Calibri" pitchFamily="34" charset="-122"/>
                <a:cs typeface="Calibri" pitchFamily="34" charset="-120"/>
              </a:rPr>
              <a:t>Defender for Cloud Apps flags anomalous behavior on the agent identity. Here's the decision tree.</a:t>
            </a:r>
            <a:endParaRPr lang="en-US" sz="1200" dirty="0"/>
          </a:p>
        </p:txBody>
      </p:sp>
      <p:sp>
        <p:nvSpPr>
          <p:cNvPr id="6" name="Shape 4"/>
          <p:cNvSpPr/>
          <p:nvPr/>
        </p:nvSpPr>
        <p:spPr>
          <a:xfrm>
            <a:off x="4846320" y="1965960"/>
            <a:ext cx="2468880" cy="502920"/>
          </a:xfrm>
          <a:prstGeom prst="ellipse">
            <a:avLst/>
          </a:prstGeom>
          <a:solidFill>
            <a:srgbClr val="0B1F3A"/>
          </a:solidFill>
          <a:ln w="12700">
            <a:solidFill>
              <a:srgbClr val="0B1F3A"/>
            </a:solidFill>
            <a:prstDash val="solid"/>
          </a:ln>
        </p:spPr>
      </p:sp>
      <p:sp>
        <p:nvSpPr>
          <p:cNvPr id="7" name="Text 5"/>
          <p:cNvSpPr/>
          <p:nvPr/>
        </p:nvSpPr>
        <p:spPr>
          <a:xfrm>
            <a:off x="4846320" y="1965960"/>
            <a:ext cx="2468880" cy="50292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Defender alert triggered</a:t>
            </a:r>
            <a:endParaRPr lang="en-US" sz="1200" dirty="0"/>
          </a:p>
        </p:txBody>
      </p:sp>
      <p:sp>
        <p:nvSpPr>
          <p:cNvPr id="8" name="Shape 6"/>
          <p:cNvSpPr/>
          <p:nvPr/>
        </p:nvSpPr>
        <p:spPr>
          <a:xfrm>
            <a:off x="6080760" y="2468880"/>
            <a:ext cx="0" cy="274320"/>
          </a:xfrm>
          <a:prstGeom prst="line">
            <a:avLst/>
          </a:prstGeom>
          <a:noFill/>
          <a:ln w="25400">
            <a:solidFill>
              <a:srgbClr val="0B1F3A"/>
            </a:solidFill>
            <a:prstDash val="solid"/>
            <a:tailEnd type="triangle"/>
          </a:ln>
        </p:spPr>
      </p:sp>
      <p:sp>
        <p:nvSpPr>
          <p:cNvPr id="9" name="Shape 7"/>
          <p:cNvSpPr/>
          <p:nvPr/>
        </p:nvSpPr>
        <p:spPr>
          <a:xfrm>
            <a:off x="4480560" y="2743200"/>
            <a:ext cx="3200400" cy="777240"/>
          </a:xfrm>
          <a:prstGeom prst="diamond">
            <a:avLst/>
          </a:prstGeom>
          <a:solidFill>
            <a:srgbClr val="F5A623"/>
          </a:solidFill>
          <a:ln w="12700">
            <a:solidFill>
              <a:srgbClr val="F5A623"/>
            </a:solidFill>
            <a:prstDash val="solid"/>
          </a:ln>
        </p:spPr>
      </p:sp>
      <p:sp>
        <p:nvSpPr>
          <p:cNvPr id="10" name="Text 8"/>
          <p:cNvSpPr/>
          <p:nvPr/>
        </p:nvSpPr>
        <p:spPr>
          <a:xfrm>
            <a:off x="4480560" y="2743200"/>
            <a:ext cx="3200400" cy="777240"/>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Severity?</a:t>
            </a:r>
            <a:endParaRPr lang="en-US" sz="1200" dirty="0"/>
          </a:p>
        </p:txBody>
      </p:sp>
      <p:sp>
        <p:nvSpPr>
          <p:cNvPr id="11" name="Shape 9"/>
          <p:cNvSpPr/>
          <p:nvPr/>
        </p:nvSpPr>
        <p:spPr>
          <a:xfrm>
            <a:off x="4480560" y="3131820"/>
            <a:ext cx="-1737360" cy="0"/>
          </a:xfrm>
          <a:prstGeom prst="line">
            <a:avLst/>
          </a:prstGeom>
          <a:noFill/>
          <a:ln w="25400">
            <a:solidFill>
              <a:srgbClr val="0B1F3A"/>
            </a:solidFill>
            <a:prstDash val="solid"/>
          </a:ln>
        </p:spPr>
      </p:sp>
      <p:sp>
        <p:nvSpPr>
          <p:cNvPr id="12" name="Shape 10"/>
          <p:cNvSpPr/>
          <p:nvPr/>
        </p:nvSpPr>
        <p:spPr>
          <a:xfrm>
            <a:off x="2743200" y="3131820"/>
            <a:ext cx="0" cy="548640"/>
          </a:xfrm>
          <a:prstGeom prst="line">
            <a:avLst/>
          </a:prstGeom>
          <a:noFill/>
          <a:ln w="25400">
            <a:solidFill>
              <a:srgbClr val="0B1F3A"/>
            </a:solidFill>
            <a:prstDash val="solid"/>
            <a:tailEnd type="triangle"/>
          </a:ln>
        </p:spPr>
      </p:sp>
      <p:sp>
        <p:nvSpPr>
          <p:cNvPr id="13" name="Text 11"/>
          <p:cNvSpPr/>
          <p:nvPr/>
        </p:nvSpPr>
        <p:spPr>
          <a:xfrm>
            <a:off x="2468880" y="2788920"/>
            <a:ext cx="548640" cy="274320"/>
          </a:xfrm>
          <a:prstGeom prst="rect">
            <a:avLst/>
          </a:prstGeom>
          <a:noFill/>
          <a:ln/>
        </p:spPr>
        <p:txBody>
          <a:bodyPr wrap="square" lIns="0" tIns="0" rIns="0" bIns="0" rtlCol="0" anchor="ctr"/>
          <a:lstStyle/>
          <a:p>
            <a:pPr algn="ctr" indent="0" marL="0">
              <a:buNone/>
            </a:pPr>
            <a:r>
              <a:rPr lang="en-US" sz="1000" b="1" i="1" dirty="0">
                <a:solidFill>
                  <a:srgbClr val="B85042"/>
                </a:solidFill>
                <a:latin typeface="Calibri" pitchFamily="34" charset="0"/>
                <a:ea typeface="Calibri" pitchFamily="34" charset="-122"/>
                <a:cs typeface="Calibri" pitchFamily="34" charset="-120"/>
              </a:rPr>
              <a:t>HIGH</a:t>
            </a:r>
            <a:endParaRPr lang="en-US" sz="1000" dirty="0"/>
          </a:p>
        </p:txBody>
      </p:sp>
      <p:sp>
        <p:nvSpPr>
          <p:cNvPr id="14" name="Shape 12"/>
          <p:cNvSpPr/>
          <p:nvPr/>
        </p:nvSpPr>
        <p:spPr>
          <a:xfrm>
            <a:off x="7680960" y="3131820"/>
            <a:ext cx="1737360" cy="0"/>
          </a:xfrm>
          <a:prstGeom prst="line">
            <a:avLst/>
          </a:prstGeom>
          <a:noFill/>
          <a:ln w="25400">
            <a:solidFill>
              <a:srgbClr val="0B1F3A"/>
            </a:solidFill>
            <a:prstDash val="solid"/>
          </a:ln>
        </p:spPr>
      </p:sp>
      <p:sp>
        <p:nvSpPr>
          <p:cNvPr id="15" name="Shape 13"/>
          <p:cNvSpPr/>
          <p:nvPr/>
        </p:nvSpPr>
        <p:spPr>
          <a:xfrm>
            <a:off x="9418320" y="3131820"/>
            <a:ext cx="0" cy="548640"/>
          </a:xfrm>
          <a:prstGeom prst="line">
            <a:avLst/>
          </a:prstGeom>
          <a:noFill/>
          <a:ln w="25400">
            <a:solidFill>
              <a:srgbClr val="0B1F3A"/>
            </a:solidFill>
            <a:prstDash val="solid"/>
            <a:tailEnd type="triangle"/>
          </a:ln>
        </p:spPr>
      </p:sp>
      <p:sp>
        <p:nvSpPr>
          <p:cNvPr id="16" name="Text 14"/>
          <p:cNvSpPr/>
          <p:nvPr/>
        </p:nvSpPr>
        <p:spPr>
          <a:xfrm>
            <a:off x="7589520" y="2788920"/>
            <a:ext cx="1920240" cy="274320"/>
          </a:xfrm>
          <a:prstGeom prst="rect">
            <a:avLst/>
          </a:prstGeom>
          <a:noFill/>
          <a:ln/>
        </p:spPr>
        <p:txBody>
          <a:bodyPr wrap="square" lIns="0" tIns="0" rIns="0" bIns="0" rtlCol="0" anchor="ctr"/>
          <a:lstStyle/>
          <a:p>
            <a:pPr algn="ctr" indent="0" marL="0">
              <a:buNone/>
            </a:pPr>
            <a:r>
              <a:rPr lang="en-US" sz="1000" b="1" i="1" dirty="0">
                <a:solidFill>
                  <a:srgbClr val="2C7A5F"/>
                </a:solidFill>
                <a:latin typeface="Calibri" pitchFamily="34" charset="0"/>
                <a:ea typeface="Calibri" pitchFamily="34" charset="-122"/>
                <a:cs typeface="Calibri" pitchFamily="34" charset="-120"/>
              </a:rPr>
              <a:t>LOW / MED</a:t>
            </a:r>
            <a:endParaRPr lang="en-US" sz="1000" dirty="0"/>
          </a:p>
        </p:txBody>
      </p:sp>
      <p:sp>
        <p:nvSpPr>
          <p:cNvPr id="17" name="Shape 15"/>
          <p:cNvSpPr/>
          <p:nvPr/>
        </p:nvSpPr>
        <p:spPr>
          <a:xfrm>
            <a:off x="1554480" y="3703320"/>
            <a:ext cx="2194560" cy="685800"/>
          </a:xfrm>
          <a:prstGeom prst="roundRect">
            <a:avLst>
              <a:gd name="adj" fmla="val 10667"/>
            </a:avLst>
          </a:prstGeom>
          <a:solidFill>
            <a:srgbClr val="B85042"/>
          </a:solidFill>
          <a:ln w="12700">
            <a:solidFill>
              <a:srgbClr val="B85042"/>
            </a:solidFill>
            <a:prstDash val="solid"/>
          </a:ln>
        </p:spPr>
      </p:sp>
      <p:sp>
        <p:nvSpPr>
          <p:cNvPr id="18" name="Text 16"/>
          <p:cNvSpPr/>
          <p:nvPr/>
        </p:nvSpPr>
        <p:spPr>
          <a:xfrm>
            <a:off x="1645920" y="3703320"/>
            <a:ext cx="2011680"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Disable agent identity</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2. Revoke tokens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3. Alert SOC</a:t>
            </a:r>
            <a:endParaRPr lang="en-US" sz="1000" dirty="0"/>
          </a:p>
        </p:txBody>
      </p:sp>
      <p:sp>
        <p:nvSpPr>
          <p:cNvPr id="19" name="Shape 17"/>
          <p:cNvSpPr/>
          <p:nvPr/>
        </p:nvSpPr>
        <p:spPr>
          <a:xfrm>
            <a:off x="7772400" y="3703320"/>
            <a:ext cx="2194560" cy="685800"/>
          </a:xfrm>
          <a:prstGeom prst="roundRect">
            <a:avLst>
              <a:gd name="adj" fmla="val 10667"/>
            </a:avLst>
          </a:prstGeom>
          <a:solidFill>
            <a:srgbClr val="1C7293"/>
          </a:solidFill>
          <a:ln w="12700">
            <a:solidFill>
              <a:srgbClr val="1C7293"/>
            </a:solidFill>
            <a:prstDash val="solid"/>
          </a:ln>
        </p:spPr>
      </p:sp>
      <p:sp>
        <p:nvSpPr>
          <p:cNvPr id="20" name="Text 18"/>
          <p:cNvSpPr/>
          <p:nvPr/>
        </p:nvSpPr>
        <p:spPr>
          <a:xfrm>
            <a:off x="7863840" y="3703320"/>
            <a:ext cx="2011680"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Pull Entra sign-in logs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2. Correlate with Purview</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3. Interview owners</a:t>
            </a:r>
            <a:endParaRPr lang="en-US" sz="1000" dirty="0"/>
          </a:p>
        </p:txBody>
      </p:sp>
      <p:sp>
        <p:nvSpPr>
          <p:cNvPr id="21" name="Shape 19"/>
          <p:cNvSpPr/>
          <p:nvPr/>
        </p:nvSpPr>
        <p:spPr>
          <a:xfrm>
            <a:off x="2651760" y="4389120"/>
            <a:ext cx="0" cy="274320"/>
          </a:xfrm>
          <a:prstGeom prst="line">
            <a:avLst/>
          </a:prstGeom>
          <a:noFill/>
          <a:ln w="25400">
            <a:solidFill>
              <a:srgbClr val="0B1F3A"/>
            </a:solidFill>
            <a:prstDash val="solid"/>
            <a:tailEnd type="triangle"/>
          </a:ln>
        </p:spPr>
      </p:sp>
      <p:sp>
        <p:nvSpPr>
          <p:cNvPr id="22" name="Shape 20"/>
          <p:cNvSpPr/>
          <p:nvPr/>
        </p:nvSpPr>
        <p:spPr>
          <a:xfrm>
            <a:off x="8869680" y="4389120"/>
            <a:ext cx="0" cy="274320"/>
          </a:xfrm>
          <a:prstGeom prst="line">
            <a:avLst/>
          </a:prstGeom>
          <a:noFill/>
          <a:ln w="25400">
            <a:solidFill>
              <a:srgbClr val="0B1F3A"/>
            </a:solidFill>
            <a:prstDash val="solid"/>
            <a:tailEnd type="triangle"/>
          </a:ln>
        </p:spPr>
      </p:sp>
      <p:sp>
        <p:nvSpPr>
          <p:cNvPr id="23" name="Shape 21"/>
          <p:cNvSpPr/>
          <p:nvPr/>
        </p:nvSpPr>
        <p:spPr>
          <a:xfrm>
            <a:off x="1417320" y="4663440"/>
            <a:ext cx="2468880" cy="777240"/>
          </a:xfrm>
          <a:prstGeom prst="diamond">
            <a:avLst/>
          </a:prstGeom>
          <a:solidFill>
            <a:srgbClr val="F5A623"/>
          </a:solidFill>
          <a:ln w="12700">
            <a:solidFill>
              <a:srgbClr val="F5A623"/>
            </a:solidFill>
            <a:prstDash val="solid"/>
          </a:ln>
        </p:spPr>
      </p:sp>
      <p:sp>
        <p:nvSpPr>
          <p:cNvPr id="24" name="Text 22"/>
          <p:cNvSpPr/>
          <p:nvPr/>
        </p:nvSpPr>
        <p:spPr>
          <a:xfrm>
            <a:off x="1417320" y="4663440"/>
            <a:ext cx="2468880" cy="77724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Root cause identified?</a:t>
            </a:r>
            <a:endParaRPr lang="en-US" sz="1100" dirty="0"/>
          </a:p>
        </p:txBody>
      </p:sp>
      <p:sp>
        <p:nvSpPr>
          <p:cNvPr id="25" name="Shape 23"/>
          <p:cNvSpPr/>
          <p:nvPr/>
        </p:nvSpPr>
        <p:spPr>
          <a:xfrm>
            <a:off x="7635240" y="4663440"/>
            <a:ext cx="2468880" cy="777240"/>
          </a:xfrm>
          <a:prstGeom prst="diamond">
            <a:avLst/>
          </a:prstGeom>
          <a:solidFill>
            <a:srgbClr val="F5A623"/>
          </a:solidFill>
          <a:ln w="12700">
            <a:solidFill>
              <a:srgbClr val="F5A623"/>
            </a:solidFill>
            <a:prstDash val="solid"/>
          </a:ln>
        </p:spPr>
      </p:sp>
      <p:sp>
        <p:nvSpPr>
          <p:cNvPr id="26" name="Text 24"/>
          <p:cNvSpPr/>
          <p:nvPr/>
        </p:nvSpPr>
        <p:spPr>
          <a:xfrm>
            <a:off x="7635240" y="4663440"/>
            <a:ext cx="2468880" cy="77724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Malicious?</a:t>
            </a:r>
            <a:endParaRPr lang="en-US" sz="1100" dirty="0"/>
          </a:p>
        </p:txBody>
      </p:sp>
      <p:sp>
        <p:nvSpPr>
          <p:cNvPr id="27" name="Shape 25"/>
          <p:cNvSpPr/>
          <p:nvPr/>
        </p:nvSpPr>
        <p:spPr>
          <a:xfrm>
            <a:off x="2651760" y="5440680"/>
            <a:ext cx="0" cy="274320"/>
          </a:xfrm>
          <a:prstGeom prst="line">
            <a:avLst/>
          </a:prstGeom>
          <a:noFill/>
          <a:ln w="25400">
            <a:solidFill>
              <a:srgbClr val="0B1F3A"/>
            </a:solidFill>
            <a:prstDash val="solid"/>
            <a:tailEnd type="triangle"/>
          </a:ln>
        </p:spPr>
      </p:sp>
      <p:sp>
        <p:nvSpPr>
          <p:cNvPr id="28" name="Shape 26"/>
          <p:cNvSpPr/>
          <p:nvPr/>
        </p:nvSpPr>
        <p:spPr>
          <a:xfrm>
            <a:off x="8869680" y="5440680"/>
            <a:ext cx="0" cy="274320"/>
          </a:xfrm>
          <a:prstGeom prst="line">
            <a:avLst/>
          </a:prstGeom>
          <a:noFill/>
          <a:ln w="25400">
            <a:solidFill>
              <a:srgbClr val="0B1F3A"/>
            </a:solidFill>
            <a:prstDash val="solid"/>
            <a:tailEnd type="triangle"/>
          </a:ln>
        </p:spPr>
      </p:sp>
      <p:sp>
        <p:nvSpPr>
          <p:cNvPr id="29" name="Shape 27"/>
          <p:cNvSpPr/>
          <p:nvPr/>
        </p:nvSpPr>
        <p:spPr>
          <a:xfrm>
            <a:off x="1554480" y="5760720"/>
            <a:ext cx="2194560" cy="502920"/>
          </a:xfrm>
          <a:prstGeom prst="roundRect">
            <a:avLst>
              <a:gd name="adj" fmla="val 10909"/>
            </a:avLst>
          </a:prstGeom>
          <a:solidFill>
            <a:srgbClr val="2C7A5F"/>
          </a:solidFill>
          <a:ln w="12700">
            <a:solidFill>
              <a:srgbClr val="2C7A5F"/>
            </a:solidFill>
            <a:prstDash val="solid"/>
          </a:ln>
        </p:spPr>
      </p:sp>
      <p:sp>
        <p:nvSpPr>
          <p:cNvPr id="30" name="Text 28"/>
          <p:cNvSpPr/>
          <p:nvPr/>
        </p:nvSpPr>
        <p:spPr>
          <a:xfrm>
            <a:off x="1554480" y="5760720"/>
            <a:ext cx="219456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Patch blueprint, rotate creds, re-enable</a:t>
            </a:r>
            <a:endParaRPr lang="en-US" sz="1000" dirty="0"/>
          </a:p>
        </p:txBody>
      </p:sp>
      <p:sp>
        <p:nvSpPr>
          <p:cNvPr id="31" name="Shape 29"/>
          <p:cNvSpPr/>
          <p:nvPr/>
        </p:nvSpPr>
        <p:spPr>
          <a:xfrm>
            <a:off x="7772400" y="5760720"/>
            <a:ext cx="2194560" cy="502920"/>
          </a:xfrm>
          <a:prstGeom prst="roundRect">
            <a:avLst>
              <a:gd name="adj" fmla="val 10909"/>
            </a:avLst>
          </a:prstGeom>
          <a:solidFill>
            <a:srgbClr val="2C7A5F"/>
          </a:solidFill>
          <a:ln w="12700">
            <a:solidFill>
              <a:srgbClr val="2C7A5F"/>
            </a:solidFill>
            <a:prstDash val="solid"/>
          </a:ln>
        </p:spPr>
      </p:sp>
      <p:sp>
        <p:nvSpPr>
          <p:cNvPr id="32" name="Text 30"/>
          <p:cNvSpPr/>
          <p:nvPr/>
        </p:nvSpPr>
        <p:spPr>
          <a:xfrm>
            <a:off x="7772400" y="5760720"/>
            <a:ext cx="219456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Update CA policy, close ticket</a:t>
            </a:r>
            <a:endParaRPr lang="en-US" sz="1000" dirty="0"/>
          </a:p>
        </p:txBody>
      </p:sp>
      <p:sp>
        <p:nvSpPr>
          <p:cNvPr id="33" name="Text 31"/>
          <p:cNvSpPr/>
          <p:nvPr/>
        </p:nvSpPr>
        <p:spPr>
          <a:xfrm>
            <a:off x="10241280" y="2011680"/>
            <a:ext cx="1645920" cy="228600"/>
          </a:xfrm>
          <a:prstGeom prst="rect">
            <a:avLst/>
          </a:prstGeom>
          <a:noFill/>
          <a:ln/>
        </p:spPr>
        <p:txBody>
          <a:bodyPr wrap="square" lIns="0" tIns="0" rIns="0" bIns="0" rtlCol="0" anchor="ctr"/>
          <a:lstStyle/>
          <a:p>
            <a:pPr indent="0" marL="0">
              <a:buNone/>
            </a:pPr>
            <a:r>
              <a:rPr lang="en-US" sz="900" b="1" spc="300" kern="0" dirty="0">
                <a:solidFill>
                  <a:srgbClr val="6B7B8C"/>
                </a:solidFill>
                <a:latin typeface="Calibri" pitchFamily="34" charset="0"/>
                <a:ea typeface="Calibri" pitchFamily="34" charset="-122"/>
                <a:cs typeface="Calibri" pitchFamily="34" charset="-120"/>
              </a:rPr>
              <a:t>LEGEND</a:t>
            </a:r>
            <a:endParaRPr lang="en-US" sz="900" dirty="0"/>
          </a:p>
        </p:txBody>
      </p:sp>
      <p:sp>
        <p:nvSpPr>
          <p:cNvPr id="34" name="Shape 32"/>
          <p:cNvSpPr/>
          <p:nvPr/>
        </p:nvSpPr>
        <p:spPr>
          <a:xfrm>
            <a:off x="10241280" y="2331720"/>
            <a:ext cx="320040" cy="182880"/>
          </a:xfrm>
          <a:prstGeom prst="ellipse">
            <a:avLst/>
          </a:prstGeom>
          <a:solidFill>
            <a:srgbClr val="0B1F3A"/>
          </a:solidFill>
          <a:ln w="12700">
            <a:solidFill>
              <a:srgbClr val="0B1F3A"/>
            </a:solidFill>
            <a:prstDash val="solid"/>
          </a:ln>
        </p:spPr>
      </p:sp>
      <p:sp>
        <p:nvSpPr>
          <p:cNvPr id="35" name="Text 33"/>
          <p:cNvSpPr/>
          <p:nvPr/>
        </p:nvSpPr>
        <p:spPr>
          <a:xfrm>
            <a:off x="10652760" y="2286000"/>
            <a:ext cx="1280160" cy="27432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start / end</a:t>
            </a:r>
            <a:endParaRPr lang="en-US" sz="900" dirty="0"/>
          </a:p>
        </p:txBody>
      </p:sp>
      <p:sp>
        <p:nvSpPr>
          <p:cNvPr id="36" name="Shape 34"/>
          <p:cNvSpPr/>
          <p:nvPr/>
        </p:nvSpPr>
        <p:spPr>
          <a:xfrm>
            <a:off x="10241280" y="2651760"/>
            <a:ext cx="320040" cy="228600"/>
          </a:xfrm>
          <a:prstGeom prst="diamond">
            <a:avLst/>
          </a:prstGeom>
          <a:solidFill>
            <a:srgbClr val="F5A623"/>
          </a:solidFill>
          <a:ln w="12700">
            <a:solidFill>
              <a:srgbClr val="F5A623"/>
            </a:solidFill>
            <a:prstDash val="solid"/>
          </a:ln>
        </p:spPr>
      </p:sp>
      <p:sp>
        <p:nvSpPr>
          <p:cNvPr id="37" name="Text 35"/>
          <p:cNvSpPr/>
          <p:nvPr/>
        </p:nvSpPr>
        <p:spPr>
          <a:xfrm>
            <a:off x="10652760" y="2651760"/>
            <a:ext cx="1280160" cy="27432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decision</a:t>
            </a:r>
            <a:endParaRPr lang="en-US" sz="900" dirty="0"/>
          </a:p>
        </p:txBody>
      </p:sp>
      <p:sp>
        <p:nvSpPr>
          <p:cNvPr id="38" name="Shape 36"/>
          <p:cNvSpPr/>
          <p:nvPr/>
        </p:nvSpPr>
        <p:spPr>
          <a:xfrm>
            <a:off x="10241280" y="3017520"/>
            <a:ext cx="320040" cy="182880"/>
          </a:xfrm>
          <a:prstGeom prst="roundRect">
            <a:avLst>
              <a:gd name="adj" fmla="val 20000"/>
            </a:avLst>
          </a:prstGeom>
          <a:solidFill>
            <a:srgbClr val="1C7293"/>
          </a:solidFill>
          <a:ln w="12700">
            <a:solidFill>
              <a:srgbClr val="1C7293"/>
            </a:solidFill>
            <a:prstDash val="solid"/>
          </a:ln>
        </p:spPr>
      </p:sp>
      <p:sp>
        <p:nvSpPr>
          <p:cNvPr id="39" name="Text 37"/>
          <p:cNvSpPr/>
          <p:nvPr/>
        </p:nvSpPr>
        <p:spPr>
          <a:xfrm>
            <a:off x="10652760" y="2971800"/>
            <a:ext cx="1280160" cy="27432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action</a:t>
            </a:r>
            <a:endParaRPr lang="en-US" sz="900" dirty="0"/>
          </a:p>
        </p:txBody>
      </p:sp>
      <p:sp>
        <p:nvSpPr>
          <p:cNvPr id="40" name="Text 38"/>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41" name="Text 39"/>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17 / 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06  END-TO-END EXAMPLE</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"What is the status of PO-12345?"</a:t>
            </a:r>
            <a:endParaRPr lang="en-US" sz="3200" dirty="0"/>
          </a:p>
        </p:txBody>
      </p:sp>
      <p:sp>
        <p:nvSpPr>
          <p:cNvPr id="5" name="Shape 3"/>
          <p:cNvSpPr/>
          <p:nvPr/>
        </p:nvSpPr>
        <p:spPr>
          <a:xfrm>
            <a:off x="457200" y="1554480"/>
            <a:ext cx="11247120" cy="502920"/>
          </a:xfrm>
          <a:prstGeom prst="roundRect">
            <a:avLst>
              <a:gd name="adj" fmla="val 10909"/>
            </a:avLst>
          </a:prstGeom>
          <a:solidFill>
            <a:srgbClr val="FCEBCF"/>
          </a:solidFill>
          <a:ln w="12700">
            <a:solidFill>
              <a:srgbClr val="F5A623"/>
            </a:solidFill>
            <a:prstDash val="solid"/>
          </a:ln>
        </p:spPr>
      </p:sp>
      <p:sp>
        <p:nvSpPr>
          <p:cNvPr id="6" name="Text 4"/>
          <p:cNvSpPr/>
          <p:nvPr/>
        </p:nvSpPr>
        <p:spPr>
          <a:xfrm>
            <a:off x="640080" y="1554480"/>
            <a:ext cx="10972800" cy="502920"/>
          </a:xfrm>
          <a:prstGeom prst="rect">
            <a:avLst/>
          </a:prstGeom>
          <a:noFill/>
          <a:ln/>
        </p:spPr>
        <p:txBody>
          <a:bodyPr wrap="square" lIns="0" tIns="0" rIns="0" bIns="0" rtlCol="0" anchor="ctr"/>
          <a:lstStyle/>
          <a:p>
            <a:pPr indent="0" marL="0">
              <a:buNone/>
            </a:pPr>
            <a:r>
              <a:rPr lang="en-US" sz="1200" i="1" dirty="0">
                <a:solidFill>
                  <a:srgbClr val="0B1F3A"/>
                </a:solidFill>
                <a:latin typeface="Calibri" pitchFamily="34" charset="0"/>
                <a:ea typeface="Calibri" pitchFamily="34" charset="-122"/>
                <a:cs typeface="Calibri" pitchFamily="34" charset="-120"/>
              </a:rPr>
              <a:t>💬  Employee Anjali types this in Teams. Here's exactly what happens in the next ~2 seconds.</a:t>
            </a:r>
            <a:endParaRPr lang="en-US" sz="1200" dirty="0"/>
          </a:p>
        </p:txBody>
      </p:sp>
      <p:sp>
        <p:nvSpPr>
          <p:cNvPr id="7" name="Shape 5"/>
          <p:cNvSpPr/>
          <p:nvPr/>
        </p:nvSpPr>
        <p:spPr>
          <a:xfrm>
            <a:off x="457200" y="2240280"/>
            <a:ext cx="2743200" cy="1508760"/>
          </a:xfrm>
          <a:prstGeom prst="roundRect">
            <a:avLst>
              <a:gd name="adj" fmla="val 4848"/>
            </a:avLst>
          </a:prstGeom>
          <a:solidFill>
            <a:srgbClr val="F5F7FA"/>
          </a:solidFill>
          <a:ln w="12700">
            <a:solidFill>
              <a:srgbClr val="CADCFC"/>
            </a:solidFill>
            <a:prstDash val="solid"/>
          </a:ln>
        </p:spPr>
      </p:sp>
      <p:sp>
        <p:nvSpPr>
          <p:cNvPr id="8" name="Shape 6"/>
          <p:cNvSpPr/>
          <p:nvPr/>
        </p:nvSpPr>
        <p:spPr>
          <a:xfrm>
            <a:off x="594360" y="2377440"/>
            <a:ext cx="457200" cy="457200"/>
          </a:xfrm>
          <a:prstGeom prst="ellipse">
            <a:avLst/>
          </a:prstGeom>
          <a:solidFill>
            <a:srgbClr val="0B1F3A"/>
          </a:solidFill>
          <a:ln w="12700">
            <a:solidFill>
              <a:srgbClr val="0B1F3A"/>
            </a:solidFill>
            <a:prstDash val="solid"/>
          </a:ln>
        </p:spPr>
      </p:sp>
      <p:sp>
        <p:nvSpPr>
          <p:cNvPr id="9" name="Text 7"/>
          <p:cNvSpPr/>
          <p:nvPr/>
        </p:nvSpPr>
        <p:spPr>
          <a:xfrm>
            <a:off x="594360" y="2377440"/>
            <a:ext cx="457200" cy="457200"/>
          </a:xfrm>
          <a:prstGeom prst="rect">
            <a:avLst/>
          </a:prstGeom>
          <a:noFill/>
          <a:ln/>
        </p:spPr>
        <p:txBody>
          <a:bodyPr wrap="square" lIns="0" tIns="0" rIns="0" bIns="0" rtlCol="0" anchor="ctr"/>
          <a:lstStyle/>
          <a:p>
            <a:pPr algn="ctr" indent="0" marL="0">
              <a:buNone/>
            </a:pPr>
            <a:r>
              <a:rPr lang="en-US" sz="1400" b="1" dirty="0">
                <a:solidFill>
                  <a:srgbClr val="F5A623"/>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43000" y="2404872"/>
            <a:ext cx="19659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Teams → Agent</a:t>
            </a:r>
            <a:endParaRPr lang="en-US" sz="1200" dirty="0"/>
          </a:p>
        </p:txBody>
      </p:sp>
      <p:sp>
        <p:nvSpPr>
          <p:cNvPr id="11" name="Text 9"/>
          <p:cNvSpPr/>
          <p:nvPr/>
        </p:nvSpPr>
        <p:spPr>
          <a:xfrm>
            <a:off x="594360" y="2834640"/>
            <a:ext cx="2468880" cy="822960"/>
          </a:xfrm>
          <a:prstGeom prst="rect">
            <a:avLst/>
          </a:prstGeom>
          <a:noFill/>
          <a:ln/>
        </p:spPr>
        <p:txBody>
          <a:bodyPr wrap="square" lIns="0" tIns="0" rIns="0" bIns="0" rtlCol="0" anchor="ctr"/>
          <a:lstStyle/>
          <a:p>
            <a:pPr indent="0" marL="0">
              <a:buNone/>
            </a:pPr>
            <a:r>
              <a:rPr lang="en-US" sz="950" dirty="0">
                <a:solidFill>
                  <a:srgbClr val="6B7B8C"/>
                </a:solidFill>
                <a:latin typeface="Calibri" pitchFamily="34" charset="0"/>
                <a:ea typeface="Calibri" pitchFamily="34" charset="-122"/>
                <a:cs typeface="Calibri" pitchFamily="34" charset="-120"/>
              </a:rPr>
              <a:t>Anjali's message arrives at the Procurement Agent (Copilot Studio). Her Entra user token is attached.</a:t>
            </a:r>
            <a:endParaRPr lang="en-US" sz="950" dirty="0"/>
          </a:p>
        </p:txBody>
      </p:sp>
      <p:sp>
        <p:nvSpPr>
          <p:cNvPr id="12" name="Shape 10"/>
          <p:cNvSpPr/>
          <p:nvPr/>
        </p:nvSpPr>
        <p:spPr>
          <a:xfrm>
            <a:off x="3291840" y="2240280"/>
            <a:ext cx="2743200" cy="1508760"/>
          </a:xfrm>
          <a:prstGeom prst="roundRect">
            <a:avLst>
              <a:gd name="adj" fmla="val 4848"/>
            </a:avLst>
          </a:prstGeom>
          <a:solidFill>
            <a:srgbClr val="FCEBCF"/>
          </a:solidFill>
          <a:ln w="25400">
            <a:solidFill>
              <a:srgbClr val="F5A623"/>
            </a:solidFill>
            <a:prstDash val="solid"/>
          </a:ln>
        </p:spPr>
      </p:sp>
      <p:sp>
        <p:nvSpPr>
          <p:cNvPr id="13" name="Shape 11"/>
          <p:cNvSpPr/>
          <p:nvPr/>
        </p:nvSpPr>
        <p:spPr>
          <a:xfrm>
            <a:off x="3429000" y="2377440"/>
            <a:ext cx="457200" cy="457200"/>
          </a:xfrm>
          <a:prstGeom prst="ellipse">
            <a:avLst/>
          </a:prstGeom>
          <a:solidFill>
            <a:srgbClr val="F5A623"/>
          </a:solidFill>
          <a:ln w="12700">
            <a:solidFill>
              <a:srgbClr val="F5A623"/>
            </a:solidFill>
            <a:prstDash val="solid"/>
          </a:ln>
        </p:spPr>
      </p:sp>
      <p:sp>
        <p:nvSpPr>
          <p:cNvPr id="14" name="Text 12"/>
          <p:cNvSpPr/>
          <p:nvPr/>
        </p:nvSpPr>
        <p:spPr>
          <a:xfrm>
            <a:off x="3429000" y="2377440"/>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2</a:t>
            </a:r>
            <a:endParaRPr lang="en-US" sz="1400" dirty="0"/>
          </a:p>
        </p:txBody>
      </p:sp>
      <p:sp>
        <p:nvSpPr>
          <p:cNvPr id="15" name="Text 13"/>
          <p:cNvSpPr/>
          <p:nvPr/>
        </p:nvSpPr>
        <p:spPr>
          <a:xfrm>
            <a:off x="3977640" y="2404872"/>
            <a:ext cx="19659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Intent + Auth</a:t>
            </a:r>
            <a:endParaRPr lang="en-US" sz="1200" dirty="0"/>
          </a:p>
        </p:txBody>
      </p:sp>
      <p:sp>
        <p:nvSpPr>
          <p:cNvPr id="16" name="Text 14"/>
          <p:cNvSpPr/>
          <p:nvPr/>
        </p:nvSpPr>
        <p:spPr>
          <a:xfrm>
            <a:off x="3429000" y="2834640"/>
            <a:ext cx="2468880" cy="822960"/>
          </a:xfrm>
          <a:prstGeom prst="rect">
            <a:avLst/>
          </a:prstGeom>
          <a:noFill/>
          <a:ln/>
        </p:spPr>
        <p:txBody>
          <a:bodyPr wrap="square" lIns="0" tIns="0" rIns="0" bIns="0" rtlCol="0" anchor="ctr"/>
          <a:lstStyle/>
          <a:p>
            <a:pPr indent="0" marL="0">
              <a:buNone/>
            </a:pPr>
            <a:r>
              <a:rPr lang="en-US" sz="950" dirty="0">
                <a:solidFill>
                  <a:srgbClr val="6B7B8C"/>
                </a:solidFill>
                <a:latin typeface="Calibri" pitchFamily="34" charset="0"/>
                <a:ea typeface="Calibri" pitchFamily="34" charset="-122"/>
                <a:cs typeface="Calibri" pitchFamily="34" charset="-120"/>
              </a:rPr>
              <a:t>Agent parses intent: 'PO status lookup'. Needs ERP access. Calls Entra Agent ID to exchange her token.</a:t>
            </a:r>
            <a:endParaRPr lang="en-US" sz="950" dirty="0"/>
          </a:p>
        </p:txBody>
      </p:sp>
      <p:sp>
        <p:nvSpPr>
          <p:cNvPr id="17" name="Shape 15"/>
          <p:cNvSpPr/>
          <p:nvPr/>
        </p:nvSpPr>
        <p:spPr>
          <a:xfrm>
            <a:off x="6126480" y="2240280"/>
            <a:ext cx="2743200" cy="1508760"/>
          </a:xfrm>
          <a:prstGeom prst="roundRect">
            <a:avLst>
              <a:gd name="adj" fmla="val 4848"/>
            </a:avLst>
          </a:prstGeom>
          <a:solidFill>
            <a:srgbClr val="FCEBCF"/>
          </a:solidFill>
          <a:ln w="25400">
            <a:solidFill>
              <a:srgbClr val="F5A623"/>
            </a:solidFill>
            <a:prstDash val="solid"/>
          </a:ln>
        </p:spPr>
      </p:sp>
      <p:sp>
        <p:nvSpPr>
          <p:cNvPr id="18" name="Shape 16"/>
          <p:cNvSpPr/>
          <p:nvPr/>
        </p:nvSpPr>
        <p:spPr>
          <a:xfrm>
            <a:off x="6263640" y="2377440"/>
            <a:ext cx="457200" cy="457200"/>
          </a:xfrm>
          <a:prstGeom prst="ellipse">
            <a:avLst/>
          </a:prstGeom>
          <a:solidFill>
            <a:srgbClr val="F5A623"/>
          </a:solidFill>
          <a:ln w="12700">
            <a:solidFill>
              <a:srgbClr val="F5A623"/>
            </a:solidFill>
            <a:prstDash val="solid"/>
          </a:ln>
        </p:spPr>
      </p:sp>
      <p:sp>
        <p:nvSpPr>
          <p:cNvPr id="19" name="Text 17"/>
          <p:cNvSpPr/>
          <p:nvPr/>
        </p:nvSpPr>
        <p:spPr>
          <a:xfrm>
            <a:off x="6263640" y="2377440"/>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3</a:t>
            </a:r>
            <a:endParaRPr lang="en-US" sz="1400" dirty="0"/>
          </a:p>
        </p:txBody>
      </p:sp>
      <p:sp>
        <p:nvSpPr>
          <p:cNvPr id="20" name="Text 18"/>
          <p:cNvSpPr/>
          <p:nvPr/>
        </p:nvSpPr>
        <p:spPr>
          <a:xfrm>
            <a:off x="6812280" y="2404872"/>
            <a:ext cx="19659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OBO Token Exchange</a:t>
            </a:r>
            <a:endParaRPr lang="en-US" sz="1200" dirty="0"/>
          </a:p>
        </p:txBody>
      </p:sp>
      <p:sp>
        <p:nvSpPr>
          <p:cNvPr id="21" name="Text 19"/>
          <p:cNvSpPr/>
          <p:nvPr/>
        </p:nvSpPr>
        <p:spPr>
          <a:xfrm>
            <a:off x="6263640" y="2834640"/>
            <a:ext cx="2468880" cy="822960"/>
          </a:xfrm>
          <a:prstGeom prst="rect">
            <a:avLst/>
          </a:prstGeom>
          <a:noFill/>
          <a:ln/>
        </p:spPr>
        <p:txBody>
          <a:bodyPr wrap="square" lIns="0" tIns="0" rIns="0" bIns="0" rtlCol="0" anchor="ctr"/>
          <a:lstStyle/>
          <a:p>
            <a:pPr indent="0" marL="0">
              <a:buNone/>
            </a:pPr>
            <a:r>
              <a:rPr lang="en-US" sz="950" dirty="0">
                <a:solidFill>
                  <a:srgbClr val="6B7B8C"/>
                </a:solidFill>
                <a:latin typeface="Calibri" pitchFamily="34" charset="0"/>
                <a:ea typeface="Calibri" pitchFamily="34" charset="-122"/>
                <a:cs typeface="Calibri" pitchFamily="34" charset="-120"/>
              </a:rPr>
              <a:t>Entra validates blueprint credential + user token. Issues resource token TR scoped to ERP.PO.Read.</a:t>
            </a:r>
            <a:endParaRPr lang="en-US" sz="950" dirty="0"/>
          </a:p>
        </p:txBody>
      </p:sp>
      <p:sp>
        <p:nvSpPr>
          <p:cNvPr id="22" name="Shape 20"/>
          <p:cNvSpPr/>
          <p:nvPr/>
        </p:nvSpPr>
        <p:spPr>
          <a:xfrm>
            <a:off x="8961120" y="2240280"/>
            <a:ext cx="2743200" cy="1508760"/>
          </a:xfrm>
          <a:prstGeom prst="roundRect">
            <a:avLst>
              <a:gd name="adj" fmla="val 4848"/>
            </a:avLst>
          </a:prstGeom>
          <a:solidFill>
            <a:srgbClr val="FCEBCF"/>
          </a:solidFill>
          <a:ln w="25400">
            <a:solidFill>
              <a:srgbClr val="F5A623"/>
            </a:solidFill>
            <a:prstDash val="solid"/>
          </a:ln>
        </p:spPr>
      </p:sp>
      <p:sp>
        <p:nvSpPr>
          <p:cNvPr id="23" name="Shape 21"/>
          <p:cNvSpPr/>
          <p:nvPr/>
        </p:nvSpPr>
        <p:spPr>
          <a:xfrm>
            <a:off x="9098280" y="2377440"/>
            <a:ext cx="457200" cy="457200"/>
          </a:xfrm>
          <a:prstGeom prst="ellipse">
            <a:avLst/>
          </a:prstGeom>
          <a:solidFill>
            <a:srgbClr val="F5A623"/>
          </a:solidFill>
          <a:ln w="12700">
            <a:solidFill>
              <a:srgbClr val="F5A623"/>
            </a:solidFill>
            <a:prstDash val="solid"/>
          </a:ln>
        </p:spPr>
      </p:sp>
      <p:sp>
        <p:nvSpPr>
          <p:cNvPr id="24" name="Text 22"/>
          <p:cNvSpPr/>
          <p:nvPr/>
        </p:nvSpPr>
        <p:spPr>
          <a:xfrm>
            <a:off x="9098280" y="2377440"/>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4</a:t>
            </a:r>
            <a:endParaRPr lang="en-US" sz="1400" dirty="0"/>
          </a:p>
        </p:txBody>
      </p:sp>
      <p:sp>
        <p:nvSpPr>
          <p:cNvPr id="25" name="Text 23"/>
          <p:cNvSpPr/>
          <p:nvPr/>
        </p:nvSpPr>
        <p:spPr>
          <a:xfrm>
            <a:off x="9646920" y="2404872"/>
            <a:ext cx="19659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Conditional Access</a:t>
            </a:r>
            <a:endParaRPr lang="en-US" sz="1200" dirty="0"/>
          </a:p>
        </p:txBody>
      </p:sp>
      <p:sp>
        <p:nvSpPr>
          <p:cNvPr id="26" name="Text 24"/>
          <p:cNvSpPr/>
          <p:nvPr/>
        </p:nvSpPr>
        <p:spPr>
          <a:xfrm>
            <a:off x="9098280" y="2834640"/>
            <a:ext cx="2468880" cy="822960"/>
          </a:xfrm>
          <a:prstGeom prst="rect">
            <a:avLst/>
          </a:prstGeom>
          <a:noFill/>
          <a:ln/>
        </p:spPr>
        <p:txBody>
          <a:bodyPr wrap="square" lIns="0" tIns="0" rIns="0" bIns="0" rtlCol="0" anchor="ctr"/>
          <a:lstStyle/>
          <a:p>
            <a:pPr indent="0" marL="0">
              <a:buNone/>
            </a:pPr>
            <a:r>
              <a:rPr lang="en-US" sz="950" dirty="0">
                <a:solidFill>
                  <a:srgbClr val="6B7B8C"/>
                </a:solidFill>
                <a:latin typeface="Calibri" pitchFamily="34" charset="0"/>
                <a:ea typeface="Calibri" pitchFamily="34" charset="-122"/>
                <a:cs typeface="Calibri" pitchFamily="34" charset="-120"/>
              </a:rPr>
              <a:t>CA policy evaluated — user + agent + device + risk. All green → token granted.</a:t>
            </a:r>
            <a:endParaRPr lang="en-US" sz="950" dirty="0"/>
          </a:p>
        </p:txBody>
      </p:sp>
      <p:sp>
        <p:nvSpPr>
          <p:cNvPr id="27" name="Shape 25"/>
          <p:cNvSpPr/>
          <p:nvPr/>
        </p:nvSpPr>
        <p:spPr>
          <a:xfrm>
            <a:off x="457200" y="4023360"/>
            <a:ext cx="2743200" cy="1508760"/>
          </a:xfrm>
          <a:prstGeom prst="roundRect">
            <a:avLst>
              <a:gd name="adj" fmla="val 4848"/>
            </a:avLst>
          </a:prstGeom>
          <a:solidFill>
            <a:srgbClr val="F5F7FA"/>
          </a:solidFill>
          <a:ln w="12700">
            <a:solidFill>
              <a:srgbClr val="CADCFC"/>
            </a:solidFill>
            <a:prstDash val="solid"/>
          </a:ln>
        </p:spPr>
      </p:sp>
      <p:sp>
        <p:nvSpPr>
          <p:cNvPr id="28" name="Shape 26"/>
          <p:cNvSpPr/>
          <p:nvPr/>
        </p:nvSpPr>
        <p:spPr>
          <a:xfrm>
            <a:off x="594360" y="4160520"/>
            <a:ext cx="457200" cy="457200"/>
          </a:xfrm>
          <a:prstGeom prst="ellipse">
            <a:avLst/>
          </a:prstGeom>
          <a:solidFill>
            <a:srgbClr val="0B1F3A"/>
          </a:solidFill>
          <a:ln w="12700">
            <a:solidFill>
              <a:srgbClr val="0B1F3A"/>
            </a:solidFill>
            <a:prstDash val="solid"/>
          </a:ln>
        </p:spPr>
      </p:sp>
      <p:sp>
        <p:nvSpPr>
          <p:cNvPr id="29" name="Text 27"/>
          <p:cNvSpPr/>
          <p:nvPr/>
        </p:nvSpPr>
        <p:spPr>
          <a:xfrm>
            <a:off x="594360" y="4160520"/>
            <a:ext cx="457200" cy="457200"/>
          </a:xfrm>
          <a:prstGeom prst="rect">
            <a:avLst/>
          </a:prstGeom>
          <a:noFill/>
          <a:ln/>
        </p:spPr>
        <p:txBody>
          <a:bodyPr wrap="square" lIns="0" tIns="0" rIns="0" bIns="0" rtlCol="0" anchor="ctr"/>
          <a:lstStyle/>
          <a:p>
            <a:pPr algn="ctr" indent="0" marL="0">
              <a:buNone/>
            </a:pPr>
            <a:r>
              <a:rPr lang="en-US" sz="1400" b="1" dirty="0">
                <a:solidFill>
                  <a:srgbClr val="F5A623"/>
                </a:solidFill>
                <a:latin typeface="Cambria" pitchFamily="34" charset="0"/>
                <a:ea typeface="Cambria" pitchFamily="34" charset="-122"/>
                <a:cs typeface="Cambria" pitchFamily="34" charset="-120"/>
              </a:rPr>
              <a:t>5</a:t>
            </a:r>
            <a:endParaRPr lang="en-US" sz="1400" dirty="0"/>
          </a:p>
        </p:txBody>
      </p:sp>
      <p:sp>
        <p:nvSpPr>
          <p:cNvPr id="30" name="Text 28"/>
          <p:cNvSpPr/>
          <p:nvPr/>
        </p:nvSpPr>
        <p:spPr>
          <a:xfrm>
            <a:off x="1143000" y="4187952"/>
            <a:ext cx="19659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ERP Call</a:t>
            </a:r>
            <a:endParaRPr lang="en-US" sz="1200" dirty="0"/>
          </a:p>
        </p:txBody>
      </p:sp>
      <p:sp>
        <p:nvSpPr>
          <p:cNvPr id="31" name="Text 29"/>
          <p:cNvSpPr/>
          <p:nvPr/>
        </p:nvSpPr>
        <p:spPr>
          <a:xfrm>
            <a:off x="594360" y="4617720"/>
            <a:ext cx="2468880" cy="822960"/>
          </a:xfrm>
          <a:prstGeom prst="rect">
            <a:avLst/>
          </a:prstGeom>
          <a:noFill/>
          <a:ln/>
        </p:spPr>
        <p:txBody>
          <a:bodyPr wrap="square" lIns="0" tIns="0" rIns="0" bIns="0" rtlCol="0" anchor="ctr"/>
          <a:lstStyle/>
          <a:p>
            <a:pPr indent="0" marL="0">
              <a:buNone/>
            </a:pPr>
            <a:r>
              <a:rPr lang="en-US" sz="950" dirty="0">
                <a:solidFill>
                  <a:srgbClr val="6B7B8C"/>
                </a:solidFill>
                <a:latin typeface="Calibri" pitchFamily="34" charset="0"/>
                <a:ea typeface="Calibri" pitchFamily="34" charset="-122"/>
                <a:cs typeface="Calibri" pitchFamily="34" charset="-120"/>
              </a:rPr>
              <a:t>Agent hits ERP API with TR as Bearer. ERP validates TR, sees Anjali's delegated permission.</a:t>
            </a:r>
            <a:endParaRPr lang="en-US" sz="950" dirty="0"/>
          </a:p>
        </p:txBody>
      </p:sp>
      <p:sp>
        <p:nvSpPr>
          <p:cNvPr id="32" name="Shape 30"/>
          <p:cNvSpPr/>
          <p:nvPr/>
        </p:nvSpPr>
        <p:spPr>
          <a:xfrm>
            <a:off x="3291840" y="4023360"/>
            <a:ext cx="2743200" cy="1508760"/>
          </a:xfrm>
          <a:prstGeom prst="roundRect">
            <a:avLst>
              <a:gd name="adj" fmla="val 4848"/>
            </a:avLst>
          </a:prstGeom>
          <a:solidFill>
            <a:srgbClr val="F5F7FA"/>
          </a:solidFill>
          <a:ln w="12700">
            <a:solidFill>
              <a:srgbClr val="CADCFC"/>
            </a:solidFill>
            <a:prstDash val="solid"/>
          </a:ln>
        </p:spPr>
      </p:sp>
      <p:sp>
        <p:nvSpPr>
          <p:cNvPr id="33" name="Shape 31"/>
          <p:cNvSpPr/>
          <p:nvPr/>
        </p:nvSpPr>
        <p:spPr>
          <a:xfrm>
            <a:off x="3429000" y="4160520"/>
            <a:ext cx="457200" cy="457200"/>
          </a:xfrm>
          <a:prstGeom prst="ellipse">
            <a:avLst/>
          </a:prstGeom>
          <a:solidFill>
            <a:srgbClr val="0B1F3A"/>
          </a:solidFill>
          <a:ln w="12700">
            <a:solidFill>
              <a:srgbClr val="0B1F3A"/>
            </a:solidFill>
            <a:prstDash val="solid"/>
          </a:ln>
        </p:spPr>
      </p:sp>
      <p:sp>
        <p:nvSpPr>
          <p:cNvPr id="34" name="Text 32"/>
          <p:cNvSpPr/>
          <p:nvPr/>
        </p:nvSpPr>
        <p:spPr>
          <a:xfrm>
            <a:off x="3429000" y="4160520"/>
            <a:ext cx="457200" cy="457200"/>
          </a:xfrm>
          <a:prstGeom prst="rect">
            <a:avLst/>
          </a:prstGeom>
          <a:noFill/>
          <a:ln/>
        </p:spPr>
        <p:txBody>
          <a:bodyPr wrap="square" lIns="0" tIns="0" rIns="0" bIns="0" rtlCol="0" anchor="ctr"/>
          <a:lstStyle/>
          <a:p>
            <a:pPr algn="ctr" indent="0" marL="0">
              <a:buNone/>
            </a:pPr>
            <a:r>
              <a:rPr lang="en-US" sz="1400" b="1" dirty="0">
                <a:solidFill>
                  <a:srgbClr val="F5A623"/>
                </a:solidFill>
                <a:latin typeface="Cambria" pitchFamily="34" charset="0"/>
                <a:ea typeface="Cambria" pitchFamily="34" charset="-122"/>
                <a:cs typeface="Cambria" pitchFamily="34" charset="-120"/>
              </a:rPr>
              <a:t>6</a:t>
            </a:r>
            <a:endParaRPr lang="en-US" sz="1400" dirty="0"/>
          </a:p>
        </p:txBody>
      </p:sp>
      <p:sp>
        <p:nvSpPr>
          <p:cNvPr id="35" name="Text 33"/>
          <p:cNvSpPr/>
          <p:nvPr/>
        </p:nvSpPr>
        <p:spPr>
          <a:xfrm>
            <a:off x="3977640" y="4187952"/>
            <a:ext cx="19659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Row-level Auth</a:t>
            </a:r>
            <a:endParaRPr lang="en-US" sz="1200" dirty="0"/>
          </a:p>
        </p:txBody>
      </p:sp>
      <p:sp>
        <p:nvSpPr>
          <p:cNvPr id="36" name="Text 34"/>
          <p:cNvSpPr/>
          <p:nvPr/>
        </p:nvSpPr>
        <p:spPr>
          <a:xfrm>
            <a:off x="3429000" y="4617720"/>
            <a:ext cx="2468880" cy="822960"/>
          </a:xfrm>
          <a:prstGeom prst="rect">
            <a:avLst/>
          </a:prstGeom>
          <a:noFill/>
          <a:ln/>
        </p:spPr>
        <p:txBody>
          <a:bodyPr wrap="square" lIns="0" tIns="0" rIns="0" bIns="0" rtlCol="0" anchor="ctr"/>
          <a:lstStyle/>
          <a:p>
            <a:pPr indent="0" marL="0">
              <a:buNone/>
            </a:pPr>
            <a:r>
              <a:rPr lang="en-US" sz="950" dirty="0">
                <a:solidFill>
                  <a:srgbClr val="6B7B8C"/>
                </a:solidFill>
                <a:latin typeface="Calibri" pitchFamily="34" charset="0"/>
                <a:ea typeface="Calibri" pitchFamily="34" charset="-122"/>
                <a:cs typeface="Calibri" pitchFamily="34" charset="-120"/>
              </a:rPr>
              <a:t>ERP checks: can Anjali see PO-12345? Yes (her cost center). Returns status + line items.</a:t>
            </a:r>
            <a:endParaRPr lang="en-US" sz="950" dirty="0"/>
          </a:p>
        </p:txBody>
      </p:sp>
      <p:sp>
        <p:nvSpPr>
          <p:cNvPr id="37" name="Shape 35"/>
          <p:cNvSpPr/>
          <p:nvPr/>
        </p:nvSpPr>
        <p:spPr>
          <a:xfrm>
            <a:off x="6126480" y="4023360"/>
            <a:ext cx="2743200" cy="1508760"/>
          </a:xfrm>
          <a:prstGeom prst="roundRect">
            <a:avLst>
              <a:gd name="adj" fmla="val 4848"/>
            </a:avLst>
          </a:prstGeom>
          <a:solidFill>
            <a:srgbClr val="F5F7FA"/>
          </a:solidFill>
          <a:ln w="12700">
            <a:solidFill>
              <a:srgbClr val="CADCFC"/>
            </a:solidFill>
            <a:prstDash val="solid"/>
          </a:ln>
        </p:spPr>
      </p:sp>
      <p:sp>
        <p:nvSpPr>
          <p:cNvPr id="38" name="Shape 36"/>
          <p:cNvSpPr/>
          <p:nvPr/>
        </p:nvSpPr>
        <p:spPr>
          <a:xfrm>
            <a:off x="6263640" y="4160520"/>
            <a:ext cx="457200" cy="457200"/>
          </a:xfrm>
          <a:prstGeom prst="ellipse">
            <a:avLst/>
          </a:prstGeom>
          <a:solidFill>
            <a:srgbClr val="0B1F3A"/>
          </a:solidFill>
          <a:ln w="12700">
            <a:solidFill>
              <a:srgbClr val="0B1F3A"/>
            </a:solidFill>
            <a:prstDash val="solid"/>
          </a:ln>
        </p:spPr>
      </p:sp>
      <p:sp>
        <p:nvSpPr>
          <p:cNvPr id="39" name="Text 37"/>
          <p:cNvSpPr/>
          <p:nvPr/>
        </p:nvSpPr>
        <p:spPr>
          <a:xfrm>
            <a:off x="6263640" y="4160520"/>
            <a:ext cx="457200" cy="457200"/>
          </a:xfrm>
          <a:prstGeom prst="rect">
            <a:avLst/>
          </a:prstGeom>
          <a:noFill/>
          <a:ln/>
        </p:spPr>
        <p:txBody>
          <a:bodyPr wrap="square" lIns="0" tIns="0" rIns="0" bIns="0" rtlCol="0" anchor="ctr"/>
          <a:lstStyle/>
          <a:p>
            <a:pPr algn="ctr" indent="0" marL="0">
              <a:buNone/>
            </a:pPr>
            <a:r>
              <a:rPr lang="en-US" sz="1400" b="1" dirty="0">
                <a:solidFill>
                  <a:srgbClr val="F5A623"/>
                </a:solidFill>
                <a:latin typeface="Cambria" pitchFamily="34" charset="0"/>
                <a:ea typeface="Cambria" pitchFamily="34" charset="-122"/>
                <a:cs typeface="Cambria" pitchFamily="34" charset="-120"/>
              </a:rPr>
              <a:t>7</a:t>
            </a:r>
            <a:endParaRPr lang="en-US" sz="1400" dirty="0"/>
          </a:p>
        </p:txBody>
      </p:sp>
      <p:sp>
        <p:nvSpPr>
          <p:cNvPr id="40" name="Text 38"/>
          <p:cNvSpPr/>
          <p:nvPr/>
        </p:nvSpPr>
        <p:spPr>
          <a:xfrm>
            <a:off x="6812280" y="4187952"/>
            <a:ext cx="19659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Reason + Cite</a:t>
            </a:r>
            <a:endParaRPr lang="en-US" sz="1200" dirty="0"/>
          </a:p>
        </p:txBody>
      </p:sp>
      <p:sp>
        <p:nvSpPr>
          <p:cNvPr id="41" name="Text 39"/>
          <p:cNvSpPr/>
          <p:nvPr/>
        </p:nvSpPr>
        <p:spPr>
          <a:xfrm>
            <a:off x="6263640" y="4617720"/>
            <a:ext cx="2468880" cy="822960"/>
          </a:xfrm>
          <a:prstGeom prst="rect">
            <a:avLst/>
          </a:prstGeom>
          <a:noFill/>
          <a:ln/>
        </p:spPr>
        <p:txBody>
          <a:bodyPr wrap="square" lIns="0" tIns="0" rIns="0" bIns="0" rtlCol="0" anchor="ctr"/>
          <a:lstStyle/>
          <a:p>
            <a:pPr indent="0" marL="0">
              <a:buNone/>
            </a:pPr>
            <a:r>
              <a:rPr lang="en-US" sz="950" dirty="0">
                <a:solidFill>
                  <a:srgbClr val="6B7B8C"/>
                </a:solidFill>
                <a:latin typeface="Calibri" pitchFamily="34" charset="0"/>
                <a:ea typeface="Calibri" pitchFamily="34" charset="-122"/>
                <a:cs typeface="Calibri" pitchFamily="34" charset="-120"/>
              </a:rPr>
              <a:t>Agent LLM formats the response, cites the ERP record ID and timestamp for auditability.</a:t>
            </a:r>
            <a:endParaRPr lang="en-US" sz="950" dirty="0"/>
          </a:p>
        </p:txBody>
      </p:sp>
      <p:sp>
        <p:nvSpPr>
          <p:cNvPr id="42" name="Shape 40"/>
          <p:cNvSpPr/>
          <p:nvPr/>
        </p:nvSpPr>
        <p:spPr>
          <a:xfrm>
            <a:off x="8961120" y="4023360"/>
            <a:ext cx="2743200" cy="1508760"/>
          </a:xfrm>
          <a:prstGeom prst="roundRect">
            <a:avLst>
              <a:gd name="adj" fmla="val 4848"/>
            </a:avLst>
          </a:prstGeom>
          <a:solidFill>
            <a:srgbClr val="F5F7FA"/>
          </a:solidFill>
          <a:ln w="12700">
            <a:solidFill>
              <a:srgbClr val="CADCFC"/>
            </a:solidFill>
            <a:prstDash val="solid"/>
          </a:ln>
        </p:spPr>
      </p:sp>
      <p:sp>
        <p:nvSpPr>
          <p:cNvPr id="43" name="Shape 41"/>
          <p:cNvSpPr/>
          <p:nvPr/>
        </p:nvSpPr>
        <p:spPr>
          <a:xfrm>
            <a:off x="9098280" y="4160520"/>
            <a:ext cx="457200" cy="457200"/>
          </a:xfrm>
          <a:prstGeom prst="ellipse">
            <a:avLst/>
          </a:prstGeom>
          <a:solidFill>
            <a:srgbClr val="0B1F3A"/>
          </a:solidFill>
          <a:ln w="12700">
            <a:solidFill>
              <a:srgbClr val="0B1F3A"/>
            </a:solidFill>
            <a:prstDash val="solid"/>
          </a:ln>
        </p:spPr>
      </p:sp>
      <p:sp>
        <p:nvSpPr>
          <p:cNvPr id="44" name="Text 42"/>
          <p:cNvSpPr/>
          <p:nvPr/>
        </p:nvSpPr>
        <p:spPr>
          <a:xfrm>
            <a:off x="9098280" y="4160520"/>
            <a:ext cx="457200" cy="457200"/>
          </a:xfrm>
          <a:prstGeom prst="rect">
            <a:avLst/>
          </a:prstGeom>
          <a:noFill/>
          <a:ln/>
        </p:spPr>
        <p:txBody>
          <a:bodyPr wrap="square" lIns="0" tIns="0" rIns="0" bIns="0" rtlCol="0" anchor="ctr"/>
          <a:lstStyle/>
          <a:p>
            <a:pPr algn="ctr" indent="0" marL="0">
              <a:buNone/>
            </a:pPr>
            <a:r>
              <a:rPr lang="en-US" sz="1400" b="1" dirty="0">
                <a:solidFill>
                  <a:srgbClr val="F5A623"/>
                </a:solidFill>
                <a:latin typeface="Cambria" pitchFamily="34" charset="0"/>
                <a:ea typeface="Cambria" pitchFamily="34" charset="-122"/>
                <a:cs typeface="Cambria" pitchFamily="34" charset="-120"/>
              </a:rPr>
              <a:t>8</a:t>
            </a:r>
            <a:endParaRPr lang="en-US" sz="1400" dirty="0"/>
          </a:p>
        </p:txBody>
      </p:sp>
      <p:sp>
        <p:nvSpPr>
          <p:cNvPr id="45" name="Text 43"/>
          <p:cNvSpPr/>
          <p:nvPr/>
        </p:nvSpPr>
        <p:spPr>
          <a:xfrm>
            <a:off x="9646920" y="4187952"/>
            <a:ext cx="196596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Answer + Log</a:t>
            </a:r>
            <a:endParaRPr lang="en-US" sz="1200" dirty="0"/>
          </a:p>
        </p:txBody>
      </p:sp>
      <p:sp>
        <p:nvSpPr>
          <p:cNvPr id="46" name="Text 44"/>
          <p:cNvSpPr/>
          <p:nvPr/>
        </p:nvSpPr>
        <p:spPr>
          <a:xfrm>
            <a:off x="9098280" y="4617720"/>
            <a:ext cx="2468880" cy="822960"/>
          </a:xfrm>
          <a:prstGeom prst="rect">
            <a:avLst/>
          </a:prstGeom>
          <a:noFill/>
          <a:ln/>
        </p:spPr>
        <p:txBody>
          <a:bodyPr wrap="square" lIns="0" tIns="0" rIns="0" bIns="0" rtlCol="0" anchor="ctr"/>
          <a:lstStyle/>
          <a:p>
            <a:pPr indent="0" marL="0">
              <a:buNone/>
            </a:pPr>
            <a:r>
              <a:rPr lang="en-US" sz="950" dirty="0">
                <a:solidFill>
                  <a:srgbClr val="6B7B8C"/>
                </a:solidFill>
                <a:latin typeface="Calibri" pitchFamily="34" charset="0"/>
                <a:ea typeface="Calibri" pitchFamily="34" charset="-122"/>
                <a:cs typeface="Calibri" pitchFamily="34" charset="-120"/>
              </a:rPr>
              <a:t>Anjali sees: 'PO-12345 is APPROVED, delivery expected Aug 3'. Every step logged in Entra + Purview.</a:t>
            </a:r>
            <a:endParaRPr lang="en-US" sz="950" dirty="0"/>
          </a:p>
        </p:txBody>
      </p:sp>
      <p:sp>
        <p:nvSpPr>
          <p:cNvPr id="47" name="Shape 45"/>
          <p:cNvSpPr/>
          <p:nvPr/>
        </p:nvSpPr>
        <p:spPr>
          <a:xfrm>
            <a:off x="3182112" y="2994660"/>
            <a:ext cx="109728" cy="0"/>
          </a:xfrm>
          <a:prstGeom prst="line">
            <a:avLst/>
          </a:prstGeom>
          <a:noFill/>
          <a:ln w="19050">
            <a:solidFill>
              <a:srgbClr val="0B1F3A"/>
            </a:solidFill>
            <a:prstDash val="solid"/>
            <a:tailEnd type="triangle"/>
          </a:ln>
        </p:spPr>
      </p:sp>
      <p:sp>
        <p:nvSpPr>
          <p:cNvPr id="48" name="Shape 46"/>
          <p:cNvSpPr/>
          <p:nvPr/>
        </p:nvSpPr>
        <p:spPr>
          <a:xfrm>
            <a:off x="3182112" y="4777740"/>
            <a:ext cx="109728" cy="0"/>
          </a:xfrm>
          <a:prstGeom prst="line">
            <a:avLst/>
          </a:prstGeom>
          <a:noFill/>
          <a:ln w="19050">
            <a:solidFill>
              <a:srgbClr val="0B1F3A"/>
            </a:solidFill>
            <a:prstDash val="solid"/>
            <a:tailEnd type="triangle"/>
          </a:ln>
        </p:spPr>
      </p:sp>
      <p:sp>
        <p:nvSpPr>
          <p:cNvPr id="49" name="Shape 47"/>
          <p:cNvSpPr/>
          <p:nvPr/>
        </p:nvSpPr>
        <p:spPr>
          <a:xfrm>
            <a:off x="6016752" y="2994660"/>
            <a:ext cx="109728" cy="0"/>
          </a:xfrm>
          <a:prstGeom prst="line">
            <a:avLst/>
          </a:prstGeom>
          <a:noFill/>
          <a:ln w="19050">
            <a:solidFill>
              <a:srgbClr val="0B1F3A"/>
            </a:solidFill>
            <a:prstDash val="solid"/>
            <a:tailEnd type="triangle"/>
          </a:ln>
        </p:spPr>
      </p:sp>
      <p:sp>
        <p:nvSpPr>
          <p:cNvPr id="50" name="Shape 48"/>
          <p:cNvSpPr/>
          <p:nvPr/>
        </p:nvSpPr>
        <p:spPr>
          <a:xfrm>
            <a:off x="6016752" y="4777740"/>
            <a:ext cx="109728" cy="0"/>
          </a:xfrm>
          <a:prstGeom prst="line">
            <a:avLst/>
          </a:prstGeom>
          <a:noFill/>
          <a:ln w="19050">
            <a:solidFill>
              <a:srgbClr val="0B1F3A"/>
            </a:solidFill>
            <a:prstDash val="solid"/>
            <a:tailEnd type="triangle"/>
          </a:ln>
        </p:spPr>
      </p:sp>
      <p:sp>
        <p:nvSpPr>
          <p:cNvPr id="51" name="Shape 49"/>
          <p:cNvSpPr/>
          <p:nvPr/>
        </p:nvSpPr>
        <p:spPr>
          <a:xfrm>
            <a:off x="8851392" y="2994660"/>
            <a:ext cx="109728" cy="0"/>
          </a:xfrm>
          <a:prstGeom prst="line">
            <a:avLst/>
          </a:prstGeom>
          <a:noFill/>
          <a:ln w="19050">
            <a:solidFill>
              <a:srgbClr val="0B1F3A"/>
            </a:solidFill>
            <a:prstDash val="solid"/>
            <a:tailEnd type="triangle"/>
          </a:ln>
        </p:spPr>
      </p:sp>
      <p:sp>
        <p:nvSpPr>
          <p:cNvPr id="52" name="Shape 50"/>
          <p:cNvSpPr/>
          <p:nvPr/>
        </p:nvSpPr>
        <p:spPr>
          <a:xfrm>
            <a:off x="8851392" y="4777740"/>
            <a:ext cx="109728" cy="0"/>
          </a:xfrm>
          <a:prstGeom prst="line">
            <a:avLst/>
          </a:prstGeom>
          <a:noFill/>
          <a:ln w="19050">
            <a:solidFill>
              <a:srgbClr val="0B1F3A"/>
            </a:solidFill>
            <a:prstDash val="solid"/>
            <a:tailEnd type="triangle"/>
          </a:ln>
        </p:spPr>
      </p:sp>
      <p:sp>
        <p:nvSpPr>
          <p:cNvPr id="53" name="Shape 51"/>
          <p:cNvSpPr/>
          <p:nvPr/>
        </p:nvSpPr>
        <p:spPr>
          <a:xfrm>
            <a:off x="11521440" y="3749040"/>
            <a:ext cx="0" cy="274320"/>
          </a:xfrm>
          <a:prstGeom prst="line">
            <a:avLst/>
          </a:prstGeom>
          <a:noFill/>
          <a:ln w="19050">
            <a:solidFill>
              <a:srgbClr val="0B1F3A"/>
            </a:solidFill>
            <a:prstDash val="solid"/>
          </a:ln>
        </p:spPr>
      </p:sp>
      <p:sp>
        <p:nvSpPr>
          <p:cNvPr id="54" name="Shape 52"/>
          <p:cNvSpPr/>
          <p:nvPr/>
        </p:nvSpPr>
        <p:spPr>
          <a:xfrm>
            <a:off x="640080" y="3886200"/>
            <a:ext cx="10881360" cy="0"/>
          </a:xfrm>
          <a:prstGeom prst="line">
            <a:avLst/>
          </a:prstGeom>
          <a:noFill/>
          <a:ln w="19050">
            <a:solidFill>
              <a:srgbClr val="0B1F3A"/>
            </a:solidFill>
            <a:prstDash val="solid"/>
          </a:ln>
        </p:spPr>
      </p:sp>
      <p:sp>
        <p:nvSpPr>
          <p:cNvPr id="55" name="Shape 53"/>
          <p:cNvSpPr/>
          <p:nvPr/>
        </p:nvSpPr>
        <p:spPr>
          <a:xfrm>
            <a:off x="640080" y="3886200"/>
            <a:ext cx="0" cy="137160"/>
          </a:xfrm>
          <a:prstGeom prst="line">
            <a:avLst/>
          </a:prstGeom>
          <a:noFill/>
          <a:ln w="19050">
            <a:solidFill>
              <a:srgbClr val="0B1F3A"/>
            </a:solidFill>
            <a:prstDash val="solid"/>
            <a:tailEnd type="triangle"/>
          </a:ln>
        </p:spPr>
      </p:sp>
      <p:sp>
        <p:nvSpPr>
          <p:cNvPr id="56" name="Shape 54"/>
          <p:cNvSpPr/>
          <p:nvPr/>
        </p:nvSpPr>
        <p:spPr>
          <a:xfrm>
            <a:off x="457200" y="5852160"/>
            <a:ext cx="11247120" cy="685800"/>
          </a:xfrm>
          <a:prstGeom prst="roundRect">
            <a:avLst>
              <a:gd name="adj" fmla="val 8000"/>
            </a:avLst>
          </a:prstGeom>
          <a:solidFill>
            <a:srgbClr val="0B1F3A"/>
          </a:solidFill>
          <a:ln w="12700">
            <a:solidFill>
              <a:srgbClr val="0B1F3A"/>
            </a:solidFill>
            <a:prstDash val="solid"/>
          </a:ln>
        </p:spPr>
      </p:sp>
      <p:sp>
        <p:nvSpPr>
          <p:cNvPr id="57" name="Shape 55"/>
          <p:cNvSpPr/>
          <p:nvPr/>
        </p:nvSpPr>
        <p:spPr>
          <a:xfrm>
            <a:off x="685800" y="5989320"/>
            <a:ext cx="320040" cy="320040"/>
          </a:xfrm>
          <a:prstGeom prst="ellipse">
            <a:avLst/>
          </a:prstGeom>
          <a:solidFill>
            <a:srgbClr val="F5A623"/>
          </a:solidFill>
          <a:ln w="12700">
            <a:solidFill>
              <a:srgbClr val="F5A623"/>
            </a:solidFill>
            <a:prstDash val="solid"/>
          </a:ln>
        </p:spPr>
      </p:sp>
      <p:sp>
        <p:nvSpPr>
          <p:cNvPr id="58" name="Text 56"/>
          <p:cNvSpPr/>
          <p:nvPr/>
        </p:nvSpPr>
        <p:spPr>
          <a:xfrm>
            <a:off x="1097280" y="5852160"/>
            <a:ext cx="10515600" cy="685800"/>
          </a:xfrm>
          <a:prstGeom prst="rect">
            <a:avLst/>
          </a:prstGeom>
          <a:noFill/>
          <a:ln/>
        </p:spPr>
        <p:txBody>
          <a:bodyPr wrap="square" lIns="0" tIns="0" rIns="0" bIns="0" rtlCol="0" anchor="ctr"/>
          <a:lstStyle/>
          <a:p>
            <a:pPr indent="0" marL="0">
              <a:buNone/>
            </a:pPr>
            <a:r>
              <a:rPr lang="en-US" sz="1150" i="1" dirty="0">
                <a:solidFill>
                  <a:srgbClr val="CADCFC"/>
                </a:solidFill>
                <a:latin typeface="Calibri" pitchFamily="34" charset="0"/>
                <a:ea typeface="Calibri" pitchFamily="34" charset="-122"/>
                <a:cs typeface="Calibri" pitchFamily="34" charset="-120"/>
              </a:rPr>
              <a:t>Amber-bordered steps (2, 3, 4) are where Entra Agent ID is the active enforcement point — token exchange + Conditional Access. Everything else depends on those three doing their job.</a:t>
            </a:r>
            <a:endParaRPr lang="en-US" sz="1150" dirty="0"/>
          </a:p>
        </p:txBody>
      </p:sp>
      <p:sp>
        <p:nvSpPr>
          <p:cNvPr id="59" name="Text 57"/>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60" name="Text 58"/>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18 / 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37160" cy="320040"/>
          </a:xfrm>
          <a:prstGeom prst="rect">
            <a:avLst/>
          </a:prstGeom>
          <a:solidFill>
            <a:srgbClr val="F5A623"/>
          </a:solidFill>
          <a:ln w="12700">
            <a:solidFill>
              <a:srgbClr val="F5A623"/>
            </a:solidFill>
            <a:prstDash val="solid"/>
          </a:ln>
        </p:spPr>
      </p:sp>
      <p:sp>
        <p:nvSpPr>
          <p:cNvPr id="3" name="Text 1"/>
          <p:cNvSpPr/>
          <p:nvPr/>
        </p:nvSpPr>
        <p:spPr>
          <a:xfrm>
            <a:off x="685800" y="365760"/>
            <a:ext cx="7315200" cy="320040"/>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06  END-TO-END EXAMPLE  ★  DEEP-DIVE</a:t>
            </a:r>
            <a:endParaRPr lang="en-US" sz="1100" dirty="0"/>
          </a:p>
        </p:txBody>
      </p:sp>
      <p:sp>
        <p:nvSpPr>
          <p:cNvPr id="4" name="Text 2"/>
          <p:cNvSpPr/>
          <p:nvPr/>
        </p:nvSpPr>
        <p:spPr>
          <a:xfrm>
            <a:off x="457200" y="822960"/>
            <a:ext cx="1124712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Edge cases — what happens when things go wrong</a:t>
            </a:r>
            <a:endParaRPr lang="en-US" sz="3200" dirty="0"/>
          </a:p>
        </p:txBody>
      </p:sp>
      <p:sp>
        <p:nvSpPr>
          <p:cNvPr id="5" name="Text 3"/>
          <p:cNvSpPr/>
          <p:nvPr/>
        </p:nvSpPr>
        <p:spPr>
          <a:xfrm>
            <a:off x="457200" y="1508760"/>
            <a:ext cx="11247120" cy="365760"/>
          </a:xfrm>
          <a:prstGeom prst="rect">
            <a:avLst/>
          </a:prstGeom>
          <a:noFill/>
          <a:ln/>
        </p:spPr>
        <p:txBody>
          <a:bodyPr wrap="square" lIns="0" tIns="0" rIns="0" bIns="0" rtlCol="0" anchor="ctr"/>
          <a:lstStyle/>
          <a:p>
            <a:pPr indent="0" marL="0">
              <a:buNone/>
            </a:pPr>
            <a:r>
              <a:rPr lang="en-US" sz="1200" i="1" dirty="0">
                <a:solidFill>
                  <a:srgbClr val="6B7B8C"/>
                </a:solidFill>
                <a:latin typeface="Calibri" pitchFamily="34" charset="0"/>
                <a:ea typeface="Calibri" pitchFamily="34" charset="-122"/>
                <a:cs typeface="Calibri" pitchFamily="34" charset="-120"/>
              </a:rPr>
              <a:t>The happy path is easy. Here's how the design handles the ~15% of requests that don't go smoothly.</a:t>
            </a:r>
            <a:endParaRPr lang="en-US" sz="1200" dirty="0"/>
          </a:p>
        </p:txBody>
      </p:sp>
      <p:sp>
        <p:nvSpPr>
          <p:cNvPr id="6" name="Shape 4"/>
          <p:cNvSpPr/>
          <p:nvPr/>
        </p:nvSpPr>
        <p:spPr>
          <a:xfrm>
            <a:off x="5166360" y="1965960"/>
            <a:ext cx="1828800" cy="457200"/>
          </a:xfrm>
          <a:prstGeom prst="ellipse">
            <a:avLst/>
          </a:prstGeom>
          <a:solidFill>
            <a:srgbClr val="0B1F3A"/>
          </a:solidFill>
          <a:ln w="12700">
            <a:solidFill>
              <a:srgbClr val="0B1F3A"/>
            </a:solidFill>
            <a:prstDash val="solid"/>
          </a:ln>
        </p:spPr>
      </p:sp>
      <p:sp>
        <p:nvSpPr>
          <p:cNvPr id="7" name="Text 5"/>
          <p:cNvSpPr/>
          <p:nvPr/>
        </p:nvSpPr>
        <p:spPr>
          <a:xfrm>
            <a:off x="5166360" y="1965960"/>
            <a:ext cx="1828800" cy="457200"/>
          </a:xfrm>
          <a:prstGeom prst="rect">
            <a:avLst/>
          </a:prstGeom>
          <a:noFill/>
          <a:ln/>
        </p:spPr>
        <p:txBody>
          <a:bodyPr wrap="square" lIns="0" tIns="0" rIns="0" bIns="0" rtlCol="0" anchor="ctr"/>
          <a:lstStyle/>
          <a:p>
            <a:pPr algn="ctr" indent="0" marL="0">
              <a:buNone/>
            </a:pPr>
            <a:r>
              <a:rPr lang="en-US" sz="1100" b="1" dirty="0">
                <a:solidFill>
                  <a:srgbClr val="F5A623"/>
                </a:solidFill>
                <a:latin typeface="Calibri" pitchFamily="34" charset="0"/>
                <a:ea typeface="Calibri" pitchFamily="34" charset="-122"/>
                <a:cs typeface="Calibri" pitchFamily="34" charset="-120"/>
              </a:rPr>
              <a:t>Query received</a:t>
            </a:r>
            <a:endParaRPr lang="en-US" sz="1100" dirty="0"/>
          </a:p>
        </p:txBody>
      </p:sp>
      <p:sp>
        <p:nvSpPr>
          <p:cNvPr id="8" name="Shape 6"/>
          <p:cNvSpPr/>
          <p:nvPr/>
        </p:nvSpPr>
        <p:spPr>
          <a:xfrm>
            <a:off x="6080760" y="2423160"/>
            <a:ext cx="0" cy="274320"/>
          </a:xfrm>
          <a:prstGeom prst="line">
            <a:avLst/>
          </a:prstGeom>
          <a:noFill/>
          <a:ln w="25400">
            <a:solidFill>
              <a:srgbClr val="0B1F3A"/>
            </a:solidFill>
            <a:prstDash val="solid"/>
            <a:tailEnd type="triangle"/>
          </a:ln>
        </p:spPr>
      </p:sp>
      <p:sp>
        <p:nvSpPr>
          <p:cNvPr id="9" name="Shape 7"/>
          <p:cNvSpPr/>
          <p:nvPr/>
        </p:nvSpPr>
        <p:spPr>
          <a:xfrm>
            <a:off x="457200" y="2743200"/>
            <a:ext cx="2743200" cy="548640"/>
          </a:xfrm>
          <a:prstGeom prst="roundRect">
            <a:avLst>
              <a:gd name="adj" fmla="val 10000"/>
            </a:avLst>
          </a:prstGeom>
          <a:solidFill>
            <a:srgbClr val="1C7293"/>
          </a:solidFill>
          <a:ln w="12700">
            <a:solidFill>
              <a:srgbClr val="1C7293"/>
            </a:solidFill>
            <a:prstDash val="solid"/>
          </a:ln>
        </p:spPr>
      </p:sp>
      <p:sp>
        <p:nvSpPr>
          <p:cNvPr id="10" name="Text 8"/>
          <p:cNvSpPr/>
          <p:nvPr/>
        </p:nvSpPr>
        <p:spPr>
          <a:xfrm>
            <a:off x="457200" y="2743200"/>
            <a:ext cx="27432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 doesn't exist</a:t>
            </a:r>
            <a:endParaRPr lang="en-US" sz="1300" dirty="0"/>
          </a:p>
        </p:txBody>
      </p:sp>
      <p:sp>
        <p:nvSpPr>
          <p:cNvPr id="11" name="Shape 9"/>
          <p:cNvSpPr/>
          <p:nvPr/>
        </p:nvSpPr>
        <p:spPr>
          <a:xfrm>
            <a:off x="457200" y="3337560"/>
            <a:ext cx="2743200" cy="2331720"/>
          </a:xfrm>
          <a:prstGeom prst="roundRect">
            <a:avLst>
              <a:gd name="adj" fmla="val 2353"/>
            </a:avLst>
          </a:prstGeom>
          <a:solidFill>
            <a:srgbClr val="F5F7FA"/>
          </a:solidFill>
          <a:ln w="12700">
            <a:solidFill>
              <a:srgbClr val="1C7293"/>
            </a:solidFill>
            <a:prstDash val="solid"/>
          </a:ln>
        </p:spPr>
      </p:sp>
      <p:sp>
        <p:nvSpPr>
          <p:cNvPr id="12" name="Shape 10"/>
          <p:cNvSpPr/>
          <p:nvPr/>
        </p:nvSpPr>
        <p:spPr>
          <a:xfrm>
            <a:off x="594360" y="3520440"/>
            <a:ext cx="201168" cy="201168"/>
          </a:xfrm>
          <a:prstGeom prst="ellipse">
            <a:avLst/>
          </a:prstGeom>
          <a:solidFill>
            <a:srgbClr val="1C7293"/>
          </a:solidFill>
          <a:ln w="12700">
            <a:solidFill>
              <a:srgbClr val="1C7293"/>
            </a:solidFill>
            <a:prstDash val="solid"/>
          </a:ln>
        </p:spPr>
      </p:sp>
      <p:sp>
        <p:nvSpPr>
          <p:cNvPr id="13" name="Text 11"/>
          <p:cNvSpPr/>
          <p:nvPr/>
        </p:nvSpPr>
        <p:spPr>
          <a:xfrm>
            <a:off x="594360" y="352044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4" name="Text 12"/>
          <p:cNvSpPr/>
          <p:nvPr/>
        </p:nvSpPr>
        <p:spPr>
          <a:xfrm>
            <a:off x="868680" y="347472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Agent calls ERP with valid token</a:t>
            </a:r>
            <a:endParaRPr lang="en-US" sz="900" dirty="0"/>
          </a:p>
        </p:txBody>
      </p:sp>
      <p:sp>
        <p:nvSpPr>
          <p:cNvPr id="15" name="Shape 13"/>
          <p:cNvSpPr/>
          <p:nvPr/>
        </p:nvSpPr>
        <p:spPr>
          <a:xfrm>
            <a:off x="594360" y="3931920"/>
            <a:ext cx="201168" cy="201168"/>
          </a:xfrm>
          <a:prstGeom prst="ellipse">
            <a:avLst/>
          </a:prstGeom>
          <a:solidFill>
            <a:srgbClr val="1C7293"/>
          </a:solidFill>
          <a:ln w="12700">
            <a:solidFill>
              <a:srgbClr val="1C7293"/>
            </a:solidFill>
            <a:prstDash val="solid"/>
          </a:ln>
        </p:spPr>
      </p:sp>
      <p:sp>
        <p:nvSpPr>
          <p:cNvPr id="16" name="Text 14"/>
          <p:cNvSpPr/>
          <p:nvPr/>
        </p:nvSpPr>
        <p:spPr>
          <a:xfrm>
            <a:off x="594360" y="393192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5"/>
          <p:cNvSpPr/>
          <p:nvPr/>
        </p:nvSpPr>
        <p:spPr>
          <a:xfrm>
            <a:off x="868680" y="388620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ERP returns 404 Not Found</a:t>
            </a:r>
            <a:endParaRPr lang="en-US" sz="900" dirty="0"/>
          </a:p>
        </p:txBody>
      </p:sp>
      <p:sp>
        <p:nvSpPr>
          <p:cNvPr id="18" name="Shape 16"/>
          <p:cNvSpPr/>
          <p:nvPr/>
        </p:nvSpPr>
        <p:spPr>
          <a:xfrm>
            <a:off x="594360" y="4343400"/>
            <a:ext cx="201168" cy="201168"/>
          </a:xfrm>
          <a:prstGeom prst="ellipse">
            <a:avLst/>
          </a:prstGeom>
          <a:solidFill>
            <a:srgbClr val="1C7293"/>
          </a:solidFill>
          <a:ln w="12700">
            <a:solidFill>
              <a:srgbClr val="1C7293"/>
            </a:solidFill>
            <a:prstDash val="solid"/>
          </a:ln>
        </p:spPr>
      </p:sp>
      <p:sp>
        <p:nvSpPr>
          <p:cNvPr id="19" name="Text 17"/>
          <p:cNvSpPr/>
          <p:nvPr/>
        </p:nvSpPr>
        <p:spPr>
          <a:xfrm>
            <a:off x="594360" y="434340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0" name="Text 18"/>
          <p:cNvSpPr/>
          <p:nvPr/>
        </p:nvSpPr>
        <p:spPr>
          <a:xfrm>
            <a:off x="868680" y="429768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Agent responds: 'No PO with that number. Check the ID or ask procurement.'</a:t>
            </a:r>
            <a:endParaRPr lang="en-US" sz="900" dirty="0"/>
          </a:p>
        </p:txBody>
      </p:sp>
      <p:sp>
        <p:nvSpPr>
          <p:cNvPr id="21" name="Shape 19"/>
          <p:cNvSpPr/>
          <p:nvPr/>
        </p:nvSpPr>
        <p:spPr>
          <a:xfrm>
            <a:off x="594360" y="4754880"/>
            <a:ext cx="201168" cy="201168"/>
          </a:xfrm>
          <a:prstGeom prst="ellipse">
            <a:avLst/>
          </a:prstGeom>
          <a:solidFill>
            <a:srgbClr val="1C7293"/>
          </a:solidFill>
          <a:ln w="12700">
            <a:solidFill>
              <a:srgbClr val="1C7293"/>
            </a:solidFill>
            <a:prstDash val="solid"/>
          </a:ln>
        </p:spPr>
      </p:sp>
      <p:sp>
        <p:nvSpPr>
          <p:cNvPr id="22" name="Text 20"/>
          <p:cNvSpPr/>
          <p:nvPr/>
        </p:nvSpPr>
        <p:spPr>
          <a:xfrm>
            <a:off x="594360" y="475488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3" name="Text 21"/>
          <p:cNvSpPr/>
          <p:nvPr/>
        </p:nvSpPr>
        <p:spPr>
          <a:xfrm>
            <a:off x="868680" y="470916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No sensitive data leaked</a:t>
            </a:r>
            <a:endParaRPr lang="en-US" sz="900" dirty="0"/>
          </a:p>
        </p:txBody>
      </p:sp>
      <p:sp>
        <p:nvSpPr>
          <p:cNvPr id="24" name="Shape 22"/>
          <p:cNvSpPr/>
          <p:nvPr/>
        </p:nvSpPr>
        <p:spPr>
          <a:xfrm>
            <a:off x="457200" y="5760720"/>
            <a:ext cx="2743200" cy="548640"/>
          </a:xfrm>
          <a:prstGeom prst="roundRect">
            <a:avLst>
              <a:gd name="adj" fmla="val 10000"/>
            </a:avLst>
          </a:prstGeom>
          <a:solidFill>
            <a:srgbClr val="0B1F3A"/>
          </a:solidFill>
          <a:ln w="12700">
            <a:solidFill>
              <a:srgbClr val="0B1F3A"/>
            </a:solidFill>
            <a:prstDash val="solid"/>
          </a:ln>
        </p:spPr>
      </p:sp>
      <p:sp>
        <p:nvSpPr>
          <p:cNvPr id="25" name="Text 23"/>
          <p:cNvSpPr/>
          <p:nvPr/>
        </p:nvSpPr>
        <p:spPr>
          <a:xfrm>
            <a:off x="548640" y="5760720"/>
            <a:ext cx="2560320" cy="548640"/>
          </a:xfrm>
          <a:prstGeom prst="rect">
            <a:avLst/>
          </a:prstGeom>
          <a:noFill/>
          <a:ln/>
        </p:spPr>
        <p:txBody>
          <a:bodyPr wrap="square" lIns="0" tIns="0" rIns="0" bIns="0" rtlCol="0" anchor="ctr"/>
          <a:lstStyle/>
          <a:p>
            <a:pPr algn="ctr" indent="0" marL="0">
              <a:buNone/>
            </a:pPr>
            <a:r>
              <a:rPr lang="en-US" sz="950" b="1" i="1" dirty="0">
                <a:solidFill>
                  <a:srgbClr val="F5A623"/>
                </a:solidFill>
                <a:latin typeface="Calibri" pitchFamily="34" charset="0"/>
                <a:ea typeface="Calibri" pitchFamily="34" charset="-122"/>
                <a:cs typeface="Calibri" pitchFamily="34" charset="-120"/>
              </a:rPr>
              <a:t>Handled at the ERP — Entra doesn't need to know</a:t>
            </a:r>
            <a:endParaRPr lang="en-US" sz="950" dirty="0"/>
          </a:p>
        </p:txBody>
      </p:sp>
      <p:sp>
        <p:nvSpPr>
          <p:cNvPr id="26" name="Shape 24"/>
          <p:cNvSpPr/>
          <p:nvPr/>
        </p:nvSpPr>
        <p:spPr>
          <a:xfrm>
            <a:off x="3337560" y="2743200"/>
            <a:ext cx="2743200" cy="548640"/>
          </a:xfrm>
          <a:prstGeom prst="roundRect">
            <a:avLst>
              <a:gd name="adj" fmla="val 10000"/>
            </a:avLst>
          </a:prstGeom>
          <a:solidFill>
            <a:srgbClr val="F5A623"/>
          </a:solidFill>
          <a:ln w="12700">
            <a:solidFill>
              <a:srgbClr val="F5A623"/>
            </a:solidFill>
            <a:prstDash val="solid"/>
          </a:ln>
        </p:spPr>
      </p:sp>
      <p:sp>
        <p:nvSpPr>
          <p:cNvPr id="27" name="Text 25"/>
          <p:cNvSpPr/>
          <p:nvPr/>
        </p:nvSpPr>
        <p:spPr>
          <a:xfrm>
            <a:off x="3337560" y="2743200"/>
            <a:ext cx="2743200" cy="5486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User unauthorized</a:t>
            </a:r>
            <a:endParaRPr lang="en-US" sz="1300" dirty="0"/>
          </a:p>
        </p:txBody>
      </p:sp>
      <p:sp>
        <p:nvSpPr>
          <p:cNvPr id="28" name="Shape 26"/>
          <p:cNvSpPr/>
          <p:nvPr/>
        </p:nvSpPr>
        <p:spPr>
          <a:xfrm>
            <a:off x="3337560" y="3337560"/>
            <a:ext cx="2743200" cy="2331720"/>
          </a:xfrm>
          <a:prstGeom prst="roundRect">
            <a:avLst>
              <a:gd name="adj" fmla="val 2353"/>
            </a:avLst>
          </a:prstGeom>
          <a:solidFill>
            <a:srgbClr val="F5F7FA"/>
          </a:solidFill>
          <a:ln w="12700">
            <a:solidFill>
              <a:srgbClr val="F5A623"/>
            </a:solidFill>
            <a:prstDash val="solid"/>
          </a:ln>
        </p:spPr>
      </p:sp>
      <p:sp>
        <p:nvSpPr>
          <p:cNvPr id="29" name="Shape 27"/>
          <p:cNvSpPr/>
          <p:nvPr/>
        </p:nvSpPr>
        <p:spPr>
          <a:xfrm>
            <a:off x="3474720" y="3520440"/>
            <a:ext cx="201168" cy="201168"/>
          </a:xfrm>
          <a:prstGeom prst="ellipse">
            <a:avLst/>
          </a:prstGeom>
          <a:solidFill>
            <a:srgbClr val="F5A623"/>
          </a:solidFill>
          <a:ln w="12700">
            <a:solidFill>
              <a:srgbClr val="F5A623"/>
            </a:solidFill>
            <a:prstDash val="solid"/>
          </a:ln>
        </p:spPr>
      </p:sp>
      <p:sp>
        <p:nvSpPr>
          <p:cNvPr id="30" name="Text 28"/>
          <p:cNvSpPr/>
          <p:nvPr/>
        </p:nvSpPr>
        <p:spPr>
          <a:xfrm>
            <a:off x="3474720" y="3520440"/>
            <a:ext cx="201168" cy="201168"/>
          </a:xfrm>
          <a:prstGeom prst="rect">
            <a:avLst/>
          </a:prstGeom>
          <a:noFill/>
          <a:ln/>
        </p:spPr>
        <p:txBody>
          <a:bodyPr wrap="square" lIns="0" tIns="0" rIns="0" bIns="0"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1</a:t>
            </a:r>
            <a:endParaRPr lang="en-US" sz="900" dirty="0"/>
          </a:p>
        </p:txBody>
      </p:sp>
      <p:sp>
        <p:nvSpPr>
          <p:cNvPr id="31" name="Text 29"/>
          <p:cNvSpPr/>
          <p:nvPr/>
        </p:nvSpPr>
        <p:spPr>
          <a:xfrm>
            <a:off x="3749040" y="347472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Agent calls ERP with TR</a:t>
            </a:r>
            <a:endParaRPr lang="en-US" sz="900" dirty="0"/>
          </a:p>
        </p:txBody>
      </p:sp>
      <p:sp>
        <p:nvSpPr>
          <p:cNvPr id="32" name="Shape 30"/>
          <p:cNvSpPr/>
          <p:nvPr/>
        </p:nvSpPr>
        <p:spPr>
          <a:xfrm>
            <a:off x="3474720" y="3931920"/>
            <a:ext cx="201168" cy="201168"/>
          </a:xfrm>
          <a:prstGeom prst="ellipse">
            <a:avLst/>
          </a:prstGeom>
          <a:solidFill>
            <a:srgbClr val="F5A623"/>
          </a:solidFill>
          <a:ln w="12700">
            <a:solidFill>
              <a:srgbClr val="F5A623"/>
            </a:solidFill>
            <a:prstDash val="solid"/>
          </a:ln>
        </p:spPr>
      </p:sp>
      <p:sp>
        <p:nvSpPr>
          <p:cNvPr id="33" name="Text 31"/>
          <p:cNvSpPr/>
          <p:nvPr/>
        </p:nvSpPr>
        <p:spPr>
          <a:xfrm>
            <a:off x="3474720" y="3931920"/>
            <a:ext cx="201168" cy="201168"/>
          </a:xfrm>
          <a:prstGeom prst="rect">
            <a:avLst/>
          </a:prstGeom>
          <a:noFill/>
          <a:ln/>
        </p:spPr>
        <p:txBody>
          <a:bodyPr wrap="square" lIns="0" tIns="0" rIns="0" bIns="0"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2</a:t>
            </a:r>
            <a:endParaRPr lang="en-US" sz="900" dirty="0"/>
          </a:p>
        </p:txBody>
      </p:sp>
      <p:sp>
        <p:nvSpPr>
          <p:cNvPr id="34" name="Text 32"/>
          <p:cNvSpPr/>
          <p:nvPr/>
        </p:nvSpPr>
        <p:spPr>
          <a:xfrm>
            <a:off x="3749040" y="388620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TR carries Anjali's oid</a:t>
            </a:r>
            <a:endParaRPr lang="en-US" sz="900" dirty="0"/>
          </a:p>
        </p:txBody>
      </p:sp>
      <p:sp>
        <p:nvSpPr>
          <p:cNvPr id="35" name="Shape 33"/>
          <p:cNvSpPr/>
          <p:nvPr/>
        </p:nvSpPr>
        <p:spPr>
          <a:xfrm>
            <a:off x="3474720" y="4343400"/>
            <a:ext cx="201168" cy="201168"/>
          </a:xfrm>
          <a:prstGeom prst="ellipse">
            <a:avLst/>
          </a:prstGeom>
          <a:solidFill>
            <a:srgbClr val="F5A623"/>
          </a:solidFill>
          <a:ln w="12700">
            <a:solidFill>
              <a:srgbClr val="F5A623"/>
            </a:solidFill>
            <a:prstDash val="solid"/>
          </a:ln>
        </p:spPr>
      </p:sp>
      <p:sp>
        <p:nvSpPr>
          <p:cNvPr id="36" name="Text 34"/>
          <p:cNvSpPr/>
          <p:nvPr/>
        </p:nvSpPr>
        <p:spPr>
          <a:xfrm>
            <a:off x="3474720" y="4343400"/>
            <a:ext cx="201168" cy="201168"/>
          </a:xfrm>
          <a:prstGeom prst="rect">
            <a:avLst/>
          </a:prstGeom>
          <a:noFill/>
          <a:ln/>
        </p:spPr>
        <p:txBody>
          <a:bodyPr wrap="square" lIns="0" tIns="0" rIns="0" bIns="0"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3</a:t>
            </a:r>
            <a:endParaRPr lang="en-US" sz="900" dirty="0"/>
          </a:p>
        </p:txBody>
      </p:sp>
      <p:sp>
        <p:nvSpPr>
          <p:cNvPr id="37" name="Text 35"/>
          <p:cNvSpPr/>
          <p:nvPr/>
        </p:nvSpPr>
        <p:spPr>
          <a:xfrm>
            <a:off x="3749040" y="429768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ERP row-level check: 'Anjali not on this cost center'</a:t>
            </a:r>
            <a:endParaRPr lang="en-US" sz="900" dirty="0"/>
          </a:p>
        </p:txBody>
      </p:sp>
      <p:sp>
        <p:nvSpPr>
          <p:cNvPr id="38" name="Shape 36"/>
          <p:cNvSpPr/>
          <p:nvPr/>
        </p:nvSpPr>
        <p:spPr>
          <a:xfrm>
            <a:off x="3474720" y="4754880"/>
            <a:ext cx="201168" cy="201168"/>
          </a:xfrm>
          <a:prstGeom prst="ellipse">
            <a:avLst/>
          </a:prstGeom>
          <a:solidFill>
            <a:srgbClr val="F5A623"/>
          </a:solidFill>
          <a:ln w="12700">
            <a:solidFill>
              <a:srgbClr val="F5A623"/>
            </a:solidFill>
            <a:prstDash val="solid"/>
          </a:ln>
        </p:spPr>
      </p:sp>
      <p:sp>
        <p:nvSpPr>
          <p:cNvPr id="39" name="Text 37"/>
          <p:cNvSpPr/>
          <p:nvPr/>
        </p:nvSpPr>
        <p:spPr>
          <a:xfrm>
            <a:off x="3474720" y="4754880"/>
            <a:ext cx="201168" cy="201168"/>
          </a:xfrm>
          <a:prstGeom prst="rect">
            <a:avLst/>
          </a:prstGeom>
          <a:noFill/>
          <a:ln/>
        </p:spPr>
        <p:txBody>
          <a:bodyPr wrap="square" lIns="0" tIns="0" rIns="0" bIns="0"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4</a:t>
            </a:r>
            <a:endParaRPr lang="en-US" sz="900" dirty="0"/>
          </a:p>
        </p:txBody>
      </p:sp>
      <p:sp>
        <p:nvSpPr>
          <p:cNvPr id="40" name="Text 38"/>
          <p:cNvSpPr/>
          <p:nvPr/>
        </p:nvSpPr>
        <p:spPr>
          <a:xfrm>
            <a:off x="3749040" y="470916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Returns 403 Forbidden</a:t>
            </a:r>
            <a:endParaRPr lang="en-US" sz="900" dirty="0"/>
          </a:p>
        </p:txBody>
      </p:sp>
      <p:sp>
        <p:nvSpPr>
          <p:cNvPr id="41" name="Shape 39"/>
          <p:cNvSpPr/>
          <p:nvPr/>
        </p:nvSpPr>
        <p:spPr>
          <a:xfrm>
            <a:off x="3474720" y="5166360"/>
            <a:ext cx="201168" cy="201168"/>
          </a:xfrm>
          <a:prstGeom prst="ellipse">
            <a:avLst/>
          </a:prstGeom>
          <a:solidFill>
            <a:srgbClr val="F5A623"/>
          </a:solidFill>
          <a:ln w="12700">
            <a:solidFill>
              <a:srgbClr val="F5A623"/>
            </a:solidFill>
            <a:prstDash val="solid"/>
          </a:ln>
        </p:spPr>
      </p:sp>
      <p:sp>
        <p:nvSpPr>
          <p:cNvPr id="42" name="Text 40"/>
          <p:cNvSpPr/>
          <p:nvPr/>
        </p:nvSpPr>
        <p:spPr>
          <a:xfrm>
            <a:off x="3474720" y="5166360"/>
            <a:ext cx="201168" cy="201168"/>
          </a:xfrm>
          <a:prstGeom prst="rect">
            <a:avLst/>
          </a:prstGeom>
          <a:noFill/>
          <a:ln/>
        </p:spPr>
        <p:txBody>
          <a:bodyPr wrap="square" lIns="0" tIns="0" rIns="0" bIns="0" rtlCol="0" anchor="ctr"/>
          <a:lstStyle/>
          <a:p>
            <a:pPr algn="ctr" indent="0" marL="0">
              <a:buNone/>
            </a:pPr>
            <a:r>
              <a:rPr lang="en-US" sz="900" b="1" dirty="0">
                <a:solidFill>
                  <a:srgbClr val="0B1F3A"/>
                </a:solidFill>
                <a:latin typeface="Calibri" pitchFamily="34" charset="0"/>
                <a:ea typeface="Calibri" pitchFamily="34" charset="-122"/>
                <a:cs typeface="Calibri" pitchFamily="34" charset="-120"/>
              </a:rPr>
              <a:t>5</a:t>
            </a:r>
            <a:endParaRPr lang="en-US" sz="900" dirty="0"/>
          </a:p>
        </p:txBody>
      </p:sp>
      <p:sp>
        <p:nvSpPr>
          <p:cNvPr id="43" name="Text 41"/>
          <p:cNvSpPr/>
          <p:nvPr/>
        </p:nvSpPr>
        <p:spPr>
          <a:xfrm>
            <a:off x="3749040" y="512064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Agent responds: 'You don't have access to this PO. Contact your manager.'</a:t>
            </a:r>
            <a:endParaRPr lang="en-US" sz="900" dirty="0"/>
          </a:p>
        </p:txBody>
      </p:sp>
      <p:sp>
        <p:nvSpPr>
          <p:cNvPr id="44" name="Shape 42"/>
          <p:cNvSpPr/>
          <p:nvPr/>
        </p:nvSpPr>
        <p:spPr>
          <a:xfrm>
            <a:off x="3337560" y="5760720"/>
            <a:ext cx="2743200" cy="548640"/>
          </a:xfrm>
          <a:prstGeom prst="roundRect">
            <a:avLst>
              <a:gd name="adj" fmla="val 10000"/>
            </a:avLst>
          </a:prstGeom>
          <a:solidFill>
            <a:srgbClr val="0B1F3A"/>
          </a:solidFill>
          <a:ln w="12700">
            <a:solidFill>
              <a:srgbClr val="0B1F3A"/>
            </a:solidFill>
            <a:prstDash val="solid"/>
          </a:ln>
        </p:spPr>
      </p:sp>
      <p:sp>
        <p:nvSpPr>
          <p:cNvPr id="45" name="Text 43"/>
          <p:cNvSpPr/>
          <p:nvPr/>
        </p:nvSpPr>
        <p:spPr>
          <a:xfrm>
            <a:off x="3429000" y="5760720"/>
            <a:ext cx="2560320" cy="548640"/>
          </a:xfrm>
          <a:prstGeom prst="rect">
            <a:avLst/>
          </a:prstGeom>
          <a:noFill/>
          <a:ln/>
        </p:spPr>
        <p:txBody>
          <a:bodyPr wrap="square" lIns="0" tIns="0" rIns="0" bIns="0" rtlCol="0" anchor="ctr"/>
          <a:lstStyle/>
          <a:p>
            <a:pPr algn="ctr" indent="0" marL="0">
              <a:buNone/>
            </a:pPr>
            <a:r>
              <a:rPr lang="en-US" sz="950" b="1" i="1" dirty="0">
                <a:solidFill>
                  <a:srgbClr val="F5A623"/>
                </a:solidFill>
                <a:latin typeface="Calibri" pitchFamily="34" charset="0"/>
                <a:ea typeface="Calibri" pitchFamily="34" charset="-122"/>
                <a:cs typeface="Calibri" pitchFamily="34" charset="-120"/>
              </a:rPr>
              <a:t>OBO ensures agent inherits user's access — no elevation</a:t>
            </a:r>
            <a:endParaRPr lang="en-US" sz="950" dirty="0"/>
          </a:p>
        </p:txBody>
      </p:sp>
      <p:sp>
        <p:nvSpPr>
          <p:cNvPr id="46" name="Shape 44"/>
          <p:cNvSpPr/>
          <p:nvPr/>
        </p:nvSpPr>
        <p:spPr>
          <a:xfrm>
            <a:off x="6217920" y="2743200"/>
            <a:ext cx="2743200" cy="548640"/>
          </a:xfrm>
          <a:prstGeom prst="roundRect">
            <a:avLst>
              <a:gd name="adj" fmla="val 10000"/>
            </a:avLst>
          </a:prstGeom>
          <a:solidFill>
            <a:srgbClr val="13315C"/>
          </a:solidFill>
          <a:ln w="12700">
            <a:solidFill>
              <a:srgbClr val="13315C"/>
            </a:solidFill>
            <a:prstDash val="solid"/>
          </a:ln>
        </p:spPr>
      </p:sp>
      <p:sp>
        <p:nvSpPr>
          <p:cNvPr id="47" name="Text 45"/>
          <p:cNvSpPr/>
          <p:nvPr/>
        </p:nvSpPr>
        <p:spPr>
          <a:xfrm>
            <a:off x="6217920" y="2743200"/>
            <a:ext cx="27432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Backend is down</a:t>
            </a:r>
            <a:endParaRPr lang="en-US" sz="1300" dirty="0"/>
          </a:p>
        </p:txBody>
      </p:sp>
      <p:sp>
        <p:nvSpPr>
          <p:cNvPr id="48" name="Shape 46"/>
          <p:cNvSpPr/>
          <p:nvPr/>
        </p:nvSpPr>
        <p:spPr>
          <a:xfrm>
            <a:off x="6217920" y="3337560"/>
            <a:ext cx="2743200" cy="2331720"/>
          </a:xfrm>
          <a:prstGeom prst="roundRect">
            <a:avLst>
              <a:gd name="adj" fmla="val 2353"/>
            </a:avLst>
          </a:prstGeom>
          <a:solidFill>
            <a:srgbClr val="F5F7FA"/>
          </a:solidFill>
          <a:ln w="12700">
            <a:solidFill>
              <a:srgbClr val="13315C"/>
            </a:solidFill>
            <a:prstDash val="solid"/>
          </a:ln>
        </p:spPr>
      </p:sp>
      <p:sp>
        <p:nvSpPr>
          <p:cNvPr id="49" name="Shape 47"/>
          <p:cNvSpPr/>
          <p:nvPr/>
        </p:nvSpPr>
        <p:spPr>
          <a:xfrm>
            <a:off x="6355080" y="3520440"/>
            <a:ext cx="201168" cy="201168"/>
          </a:xfrm>
          <a:prstGeom prst="ellipse">
            <a:avLst/>
          </a:prstGeom>
          <a:solidFill>
            <a:srgbClr val="13315C"/>
          </a:solidFill>
          <a:ln w="12700">
            <a:solidFill>
              <a:srgbClr val="13315C"/>
            </a:solidFill>
            <a:prstDash val="solid"/>
          </a:ln>
        </p:spPr>
      </p:sp>
      <p:sp>
        <p:nvSpPr>
          <p:cNvPr id="50" name="Text 48"/>
          <p:cNvSpPr/>
          <p:nvPr/>
        </p:nvSpPr>
        <p:spPr>
          <a:xfrm>
            <a:off x="6355080" y="352044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1" name="Text 49"/>
          <p:cNvSpPr/>
          <p:nvPr/>
        </p:nvSpPr>
        <p:spPr>
          <a:xfrm>
            <a:off x="6629400" y="347472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Agent calls ERP — timeout</a:t>
            </a:r>
            <a:endParaRPr lang="en-US" sz="900" dirty="0"/>
          </a:p>
        </p:txBody>
      </p:sp>
      <p:sp>
        <p:nvSpPr>
          <p:cNvPr id="52" name="Shape 50"/>
          <p:cNvSpPr/>
          <p:nvPr/>
        </p:nvSpPr>
        <p:spPr>
          <a:xfrm>
            <a:off x="6355080" y="3931920"/>
            <a:ext cx="201168" cy="201168"/>
          </a:xfrm>
          <a:prstGeom prst="ellipse">
            <a:avLst/>
          </a:prstGeom>
          <a:solidFill>
            <a:srgbClr val="13315C"/>
          </a:solidFill>
          <a:ln w="12700">
            <a:solidFill>
              <a:srgbClr val="13315C"/>
            </a:solidFill>
            <a:prstDash val="solid"/>
          </a:ln>
        </p:spPr>
      </p:sp>
      <p:sp>
        <p:nvSpPr>
          <p:cNvPr id="53" name="Text 51"/>
          <p:cNvSpPr/>
          <p:nvPr/>
        </p:nvSpPr>
        <p:spPr>
          <a:xfrm>
            <a:off x="6355080" y="393192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54" name="Text 52"/>
          <p:cNvSpPr/>
          <p:nvPr/>
        </p:nvSpPr>
        <p:spPr>
          <a:xfrm>
            <a:off x="6629400" y="388620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Retry with exponential backoff (3x)</a:t>
            </a:r>
            <a:endParaRPr lang="en-US" sz="900" dirty="0"/>
          </a:p>
        </p:txBody>
      </p:sp>
      <p:sp>
        <p:nvSpPr>
          <p:cNvPr id="55" name="Shape 53"/>
          <p:cNvSpPr/>
          <p:nvPr/>
        </p:nvSpPr>
        <p:spPr>
          <a:xfrm>
            <a:off x="6355080" y="4343400"/>
            <a:ext cx="201168" cy="201168"/>
          </a:xfrm>
          <a:prstGeom prst="ellipse">
            <a:avLst/>
          </a:prstGeom>
          <a:solidFill>
            <a:srgbClr val="13315C"/>
          </a:solidFill>
          <a:ln w="12700">
            <a:solidFill>
              <a:srgbClr val="13315C"/>
            </a:solidFill>
            <a:prstDash val="solid"/>
          </a:ln>
        </p:spPr>
      </p:sp>
      <p:sp>
        <p:nvSpPr>
          <p:cNvPr id="56" name="Text 54"/>
          <p:cNvSpPr/>
          <p:nvPr/>
        </p:nvSpPr>
        <p:spPr>
          <a:xfrm>
            <a:off x="6355080" y="434340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57" name="Text 55"/>
          <p:cNvSpPr/>
          <p:nvPr/>
        </p:nvSpPr>
        <p:spPr>
          <a:xfrm>
            <a:off x="6629400" y="429768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Circuit breaker trips</a:t>
            </a:r>
            <a:endParaRPr lang="en-US" sz="900" dirty="0"/>
          </a:p>
        </p:txBody>
      </p:sp>
      <p:sp>
        <p:nvSpPr>
          <p:cNvPr id="58" name="Shape 56"/>
          <p:cNvSpPr/>
          <p:nvPr/>
        </p:nvSpPr>
        <p:spPr>
          <a:xfrm>
            <a:off x="6355080" y="4754880"/>
            <a:ext cx="201168" cy="201168"/>
          </a:xfrm>
          <a:prstGeom prst="ellipse">
            <a:avLst/>
          </a:prstGeom>
          <a:solidFill>
            <a:srgbClr val="13315C"/>
          </a:solidFill>
          <a:ln w="12700">
            <a:solidFill>
              <a:srgbClr val="13315C"/>
            </a:solidFill>
            <a:prstDash val="solid"/>
          </a:ln>
        </p:spPr>
      </p:sp>
      <p:sp>
        <p:nvSpPr>
          <p:cNvPr id="59" name="Text 57"/>
          <p:cNvSpPr/>
          <p:nvPr/>
        </p:nvSpPr>
        <p:spPr>
          <a:xfrm>
            <a:off x="6355080" y="475488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60" name="Text 58"/>
          <p:cNvSpPr/>
          <p:nvPr/>
        </p:nvSpPr>
        <p:spPr>
          <a:xfrm>
            <a:off x="6629400" y="470916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Agent responds: 'ERP unavailable, please retry in a few minutes.'</a:t>
            </a:r>
            <a:endParaRPr lang="en-US" sz="900" dirty="0"/>
          </a:p>
        </p:txBody>
      </p:sp>
      <p:sp>
        <p:nvSpPr>
          <p:cNvPr id="61" name="Shape 59"/>
          <p:cNvSpPr/>
          <p:nvPr/>
        </p:nvSpPr>
        <p:spPr>
          <a:xfrm>
            <a:off x="6355080" y="5166360"/>
            <a:ext cx="201168" cy="201168"/>
          </a:xfrm>
          <a:prstGeom prst="ellipse">
            <a:avLst/>
          </a:prstGeom>
          <a:solidFill>
            <a:srgbClr val="13315C"/>
          </a:solidFill>
          <a:ln w="12700">
            <a:solidFill>
              <a:srgbClr val="13315C"/>
            </a:solidFill>
            <a:prstDash val="solid"/>
          </a:ln>
        </p:spPr>
      </p:sp>
      <p:sp>
        <p:nvSpPr>
          <p:cNvPr id="62" name="Text 60"/>
          <p:cNvSpPr/>
          <p:nvPr/>
        </p:nvSpPr>
        <p:spPr>
          <a:xfrm>
            <a:off x="6355080" y="516636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63" name="Text 61"/>
          <p:cNvSpPr/>
          <p:nvPr/>
        </p:nvSpPr>
        <p:spPr>
          <a:xfrm>
            <a:off x="6629400" y="512064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Alert to Ops team via Defender</a:t>
            </a:r>
            <a:endParaRPr lang="en-US" sz="900" dirty="0"/>
          </a:p>
        </p:txBody>
      </p:sp>
      <p:sp>
        <p:nvSpPr>
          <p:cNvPr id="64" name="Shape 62"/>
          <p:cNvSpPr/>
          <p:nvPr/>
        </p:nvSpPr>
        <p:spPr>
          <a:xfrm>
            <a:off x="6217920" y="5760720"/>
            <a:ext cx="2743200" cy="548640"/>
          </a:xfrm>
          <a:prstGeom prst="roundRect">
            <a:avLst>
              <a:gd name="adj" fmla="val 10000"/>
            </a:avLst>
          </a:prstGeom>
          <a:solidFill>
            <a:srgbClr val="0B1F3A"/>
          </a:solidFill>
          <a:ln w="12700">
            <a:solidFill>
              <a:srgbClr val="0B1F3A"/>
            </a:solidFill>
            <a:prstDash val="solid"/>
          </a:ln>
        </p:spPr>
      </p:sp>
      <p:sp>
        <p:nvSpPr>
          <p:cNvPr id="65" name="Text 63"/>
          <p:cNvSpPr/>
          <p:nvPr/>
        </p:nvSpPr>
        <p:spPr>
          <a:xfrm>
            <a:off x="6309360" y="5760720"/>
            <a:ext cx="2560320" cy="548640"/>
          </a:xfrm>
          <a:prstGeom prst="rect">
            <a:avLst/>
          </a:prstGeom>
          <a:noFill/>
          <a:ln/>
        </p:spPr>
        <p:txBody>
          <a:bodyPr wrap="square" lIns="0" tIns="0" rIns="0" bIns="0" rtlCol="0" anchor="ctr"/>
          <a:lstStyle/>
          <a:p>
            <a:pPr algn="ctr" indent="0" marL="0">
              <a:buNone/>
            </a:pPr>
            <a:r>
              <a:rPr lang="en-US" sz="950" b="1" i="1" dirty="0">
                <a:solidFill>
                  <a:srgbClr val="F5A623"/>
                </a:solidFill>
                <a:latin typeface="Calibri" pitchFamily="34" charset="0"/>
                <a:ea typeface="Calibri" pitchFamily="34" charset="-122"/>
                <a:cs typeface="Calibri" pitchFamily="34" charset="-120"/>
              </a:rPr>
              <a:t>Resilience is agent-side, not identity-side</a:t>
            </a:r>
            <a:endParaRPr lang="en-US" sz="950" dirty="0"/>
          </a:p>
        </p:txBody>
      </p:sp>
      <p:sp>
        <p:nvSpPr>
          <p:cNvPr id="66" name="Shape 64"/>
          <p:cNvSpPr/>
          <p:nvPr/>
        </p:nvSpPr>
        <p:spPr>
          <a:xfrm>
            <a:off x="9098280" y="2743200"/>
            <a:ext cx="2743200" cy="548640"/>
          </a:xfrm>
          <a:prstGeom prst="roundRect">
            <a:avLst>
              <a:gd name="adj" fmla="val 10000"/>
            </a:avLst>
          </a:prstGeom>
          <a:solidFill>
            <a:srgbClr val="B85042"/>
          </a:solidFill>
          <a:ln w="12700">
            <a:solidFill>
              <a:srgbClr val="B85042"/>
            </a:solidFill>
            <a:prstDash val="solid"/>
          </a:ln>
        </p:spPr>
      </p:sp>
      <p:sp>
        <p:nvSpPr>
          <p:cNvPr id="67" name="Text 65"/>
          <p:cNvSpPr/>
          <p:nvPr/>
        </p:nvSpPr>
        <p:spPr>
          <a:xfrm>
            <a:off x="9098280" y="2743200"/>
            <a:ext cx="27432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Suspicious activity</a:t>
            </a:r>
            <a:endParaRPr lang="en-US" sz="1300" dirty="0"/>
          </a:p>
        </p:txBody>
      </p:sp>
      <p:sp>
        <p:nvSpPr>
          <p:cNvPr id="68" name="Shape 66"/>
          <p:cNvSpPr/>
          <p:nvPr/>
        </p:nvSpPr>
        <p:spPr>
          <a:xfrm>
            <a:off x="9098280" y="3337560"/>
            <a:ext cx="2743200" cy="2331720"/>
          </a:xfrm>
          <a:prstGeom prst="roundRect">
            <a:avLst>
              <a:gd name="adj" fmla="val 2353"/>
            </a:avLst>
          </a:prstGeom>
          <a:solidFill>
            <a:srgbClr val="F5F7FA"/>
          </a:solidFill>
          <a:ln w="12700">
            <a:solidFill>
              <a:srgbClr val="B85042"/>
            </a:solidFill>
            <a:prstDash val="solid"/>
          </a:ln>
        </p:spPr>
      </p:sp>
      <p:sp>
        <p:nvSpPr>
          <p:cNvPr id="69" name="Shape 67"/>
          <p:cNvSpPr/>
          <p:nvPr/>
        </p:nvSpPr>
        <p:spPr>
          <a:xfrm>
            <a:off x="9235440" y="3520440"/>
            <a:ext cx="201168" cy="201168"/>
          </a:xfrm>
          <a:prstGeom prst="ellipse">
            <a:avLst/>
          </a:prstGeom>
          <a:solidFill>
            <a:srgbClr val="B85042"/>
          </a:solidFill>
          <a:ln w="12700">
            <a:solidFill>
              <a:srgbClr val="B85042"/>
            </a:solidFill>
            <a:prstDash val="solid"/>
          </a:ln>
        </p:spPr>
      </p:sp>
      <p:sp>
        <p:nvSpPr>
          <p:cNvPr id="70" name="Text 68"/>
          <p:cNvSpPr/>
          <p:nvPr/>
        </p:nvSpPr>
        <p:spPr>
          <a:xfrm>
            <a:off x="9235440" y="352044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1" name="Text 69"/>
          <p:cNvSpPr/>
          <p:nvPr/>
        </p:nvSpPr>
        <p:spPr>
          <a:xfrm>
            <a:off x="9509760" y="347472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Agent hits ERP 1,000× in 60 sec</a:t>
            </a:r>
            <a:endParaRPr lang="en-US" sz="900" dirty="0"/>
          </a:p>
        </p:txBody>
      </p:sp>
      <p:sp>
        <p:nvSpPr>
          <p:cNvPr id="72" name="Shape 70"/>
          <p:cNvSpPr/>
          <p:nvPr/>
        </p:nvSpPr>
        <p:spPr>
          <a:xfrm>
            <a:off x="9235440" y="3931920"/>
            <a:ext cx="201168" cy="201168"/>
          </a:xfrm>
          <a:prstGeom prst="ellipse">
            <a:avLst/>
          </a:prstGeom>
          <a:solidFill>
            <a:srgbClr val="B85042"/>
          </a:solidFill>
          <a:ln w="12700">
            <a:solidFill>
              <a:srgbClr val="B85042"/>
            </a:solidFill>
            <a:prstDash val="solid"/>
          </a:ln>
        </p:spPr>
      </p:sp>
      <p:sp>
        <p:nvSpPr>
          <p:cNvPr id="73" name="Text 71"/>
          <p:cNvSpPr/>
          <p:nvPr/>
        </p:nvSpPr>
        <p:spPr>
          <a:xfrm>
            <a:off x="9235440" y="393192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74" name="Text 72"/>
          <p:cNvSpPr/>
          <p:nvPr/>
        </p:nvSpPr>
        <p:spPr>
          <a:xfrm>
            <a:off x="9509760" y="388620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Defender flags anomaly on agent oid</a:t>
            </a:r>
            <a:endParaRPr lang="en-US" sz="900" dirty="0"/>
          </a:p>
        </p:txBody>
      </p:sp>
      <p:sp>
        <p:nvSpPr>
          <p:cNvPr id="75" name="Shape 73"/>
          <p:cNvSpPr/>
          <p:nvPr/>
        </p:nvSpPr>
        <p:spPr>
          <a:xfrm>
            <a:off x="9235440" y="4343400"/>
            <a:ext cx="201168" cy="201168"/>
          </a:xfrm>
          <a:prstGeom prst="ellipse">
            <a:avLst/>
          </a:prstGeom>
          <a:solidFill>
            <a:srgbClr val="B85042"/>
          </a:solidFill>
          <a:ln w="12700">
            <a:solidFill>
              <a:srgbClr val="B85042"/>
            </a:solidFill>
            <a:prstDash val="solid"/>
          </a:ln>
        </p:spPr>
      </p:sp>
      <p:sp>
        <p:nvSpPr>
          <p:cNvPr id="76" name="Text 74"/>
          <p:cNvSpPr/>
          <p:nvPr/>
        </p:nvSpPr>
        <p:spPr>
          <a:xfrm>
            <a:off x="9235440" y="434340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77" name="Text 75"/>
          <p:cNvSpPr/>
          <p:nvPr/>
        </p:nvSpPr>
        <p:spPr>
          <a:xfrm>
            <a:off x="9509760" y="429768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CA policy blocks new tokens</a:t>
            </a:r>
            <a:endParaRPr lang="en-US" sz="900" dirty="0"/>
          </a:p>
        </p:txBody>
      </p:sp>
      <p:sp>
        <p:nvSpPr>
          <p:cNvPr id="78" name="Shape 76"/>
          <p:cNvSpPr/>
          <p:nvPr/>
        </p:nvSpPr>
        <p:spPr>
          <a:xfrm>
            <a:off x="9235440" y="4754880"/>
            <a:ext cx="201168" cy="201168"/>
          </a:xfrm>
          <a:prstGeom prst="ellipse">
            <a:avLst/>
          </a:prstGeom>
          <a:solidFill>
            <a:srgbClr val="B85042"/>
          </a:solidFill>
          <a:ln w="12700">
            <a:solidFill>
              <a:srgbClr val="B85042"/>
            </a:solidFill>
            <a:prstDash val="solid"/>
          </a:ln>
        </p:spPr>
      </p:sp>
      <p:sp>
        <p:nvSpPr>
          <p:cNvPr id="79" name="Text 77"/>
          <p:cNvSpPr/>
          <p:nvPr/>
        </p:nvSpPr>
        <p:spPr>
          <a:xfrm>
            <a:off x="9235440" y="475488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80" name="Text 78"/>
          <p:cNvSpPr/>
          <p:nvPr/>
        </p:nvSpPr>
        <p:spPr>
          <a:xfrm>
            <a:off x="9509760" y="470916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SOC notified with agent identity + user context</a:t>
            </a:r>
            <a:endParaRPr lang="en-US" sz="900" dirty="0"/>
          </a:p>
        </p:txBody>
      </p:sp>
      <p:sp>
        <p:nvSpPr>
          <p:cNvPr id="81" name="Shape 79"/>
          <p:cNvSpPr/>
          <p:nvPr/>
        </p:nvSpPr>
        <p:spPr>
          <a:xfrm>
            <a:off x="9235440" y="5166360"/>
            <a:ext cx="201168" cy="201168"/>
          </a:xfrm>
          <a:prstGeom prst="ellipse">
            <a:avLst/>
          </a:prstGeom>
          <a:solidFill>
            <a:srgbClr val="B85042"/>
          </a:solidFill>
          <a:ln w="12700">
            <a:solidFill>
              <a:srgbClr val="B85042"/>
            </a:solidFill>
            <a:prstDash val="solid"/>
          </a:ln>
        </p:spPr>
      </p:sp>
      <p:sp>
        <p:nvSpPr>
          <p:cNvPr id="82" name="Text 80"/>
          <p:cNvSpPr/>
          <p:nvPr/>
        </p:nvSpPr>
        <p:spPr>
          <a:xfrm>
            <a:off x="9235440" y="516636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83" name="Text 81"/>
          <p:cNvSpPr/>
          <p:nvPr/>
        </p:nvSpPr>
        <p:spPr>
          <a:xfrm>
            <a:off x="9509760" y="5120640"/>
            <a:ext cx="2240280" cy="3657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Incident response flowchart triggers →</a:t>
            </a:r>
            <a:endParaRPr lang="en-US" sz="900" dirty="0"/>
          </a:p>
        </p:txBody>
      </p:sp>
      <p:sp>
        <p:nvSpPr>
          <p:cNvPr id="84" name="Shape 82"/>
          <p:cNvSpPr/>
          <p:nvPr/>
        </p:nvSpPr>
        <p:spPr>
          <a:xfrm>
            <a:off x="9098280" y="5760720"/>
            <a:ext cx="2743200" cy="548640"/>
          </a:xfrm>
          <a:prstGeom prst="roundRect">
            <a:avLst>
              <a:gd name="adj" fmla="val 10000"/>
            </a:avLst>
          </a:prstGeom>
          <a:solidFill>
            <a:srgbClr val="0B1F3A"/>
          </a:solidFill>
          <a:ln w="12700">
            <a:solidFill>
              <a:srgbClr val="0B1F3A"/>
            </a:solidFill>
            <a:prstDash val="solid"/>
          </a:ln>
        </p:spPr>
      </p:sp>
      <p:sp>
        <p:nvSpPr>
          <p:cNvPr id="85" name="Text 83"/>
          <p:cNvSpPr/>
          <p:nvPr/>
        </p:nvSpPr>
        <p:spPr>
          <a:xfrm>
            <a:off x="9189720" y="5760720"/>
            <a:ext cx="2560320" cy="548640"/>
          </a:xfrm>
          <a:prstGeom prst="rect">
            <a:avLst/>
          </a:prstGeom>
          <a:noFill/>
          <a:ln/>
        </p:spPr>
        <p:txBody>
          <a:bodyPr wrap="square" lIns="0" tIns="0" rIns="0" bIns="0" rtlCol="0" anchor="ctr"/>
          <a:lstStyle/>
          <a:p>
            <a:pPr algn="ctr" indent="0" marL="0">
              <a:buNone/>
            </a:pPr>
            <a:r>
              <a:rPr lang="en-US" sz="950" b="1" i="1" dirty="0">
                <a:solidFill>
                  <a:srgbClr val="F5A623"/>
                </a:solidFill>
                <a:latin typeface="Calibri" pitchFamily="34" charset="0"/>
                <a:ea typeface="Calibri" pitchFamily="34" charset="-122"/>
                <a:cs typeface="Calibri" pitchFamily="34" charset="-120"/>
              </a:rPr>
              <a:t>Because agent has its own oid, threat detection is trivial</a:t>
            </a:r>
            <a:endParaRPr lang="en-US" sz="950" dirty="0"/>
          </a:p>
        </p:txBody>
      </p:sp>
      <p:sp>
        <p:nvSpPr>
          <p:cNvPr id="86" name="Text 8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6B7B8C"/>
                </a:solidFill>
                <a:latin typeface="Calibri" pitchFamily="34" charset="0"/>
                <a:ea typeface="Calibri" pitchFamily="34" charset="-122"/>
                <a:cs typeface="Calibri" pitchFamily="34" charset="-120"/>
              </a:rPr>
              <a:t>Entra Agent ID  •  Procurement Assistant</a:t>
            </a:r>
            <a:endParaRPr lang="en-US" sz="900" dirty="0"/>
          </a:p>
        </p:txBody>
      </p:sp>
      <p:sp>
        <p:nvSpPr>
          <p:cNvPr id="87" name="Text 85"/>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3474720" cy="6858000"/>
          </a:xfrm>
          <a:prstGeom prst="rtTriangle">
            <a:avLst/>
          </a:prstGeom>
          <a:solidFill>
            <a:srgbClr val="13315C"/>
          </a:solidFill>
          <a:ln w="12700">
            <a:solidFill>
              <a:srgbClr val="13315C"/>
            </a:solidFill>
            <a:prstDash val="solid"/>
          </a:ln>
        </p:spPr>
      </p:sp>
      <p:sp>
        <p:nvSpPr>
          <p:cNvPr id="3" name="Shape 1"/>
          <p:cNvSpPr/>
          <p:nvPr/>
        </p:nvSpPr>
        <p:spPr>
          <a:xfrm>
            <a:off x="0" y="0"/>
            <a:ext cx="457200" cy="6858000"/>
          </a:xfrm>
          <a:prstGeom prst="rect">
            <a:avLst/>
          </a:prstGeom>
          <a:solidFill>
            <a:srgbClr val="F5A623"/>
          </a:solidFill>
          <a:ln w="12700">
            <a:solidFill>
              <a:srgbClr val="F5A623"/>
            </a:solidFill>
            <a:prstDash val="solid"/>
          </a:ln>
        </p:spPr>
      </p:sp>
      <p:sp>
        <p:nvSpPr>
          <p:cNvPr id="4" name="Text 2"/>
          <p:cNvSpPr/>
          <p:nvPr/>
        </p:nvSpPr>
        <p:spPr>
          <a:xfrm>
            <a:off x="3840480" y="640080"/>
            <a:ext cx="7772400" cy="365760"/>
          </a:xfrm>
          <a:prstGeom prst="rect">
            <a:avLst/>
          </a:prstGeom>
          <a:noFill/>
          <a:ln/>
        </p:spPr>
        <p:txBody>
          <a:bodyPr wrap="square" lIns="0" tIns="0" rIns="0" bIns="0" rtlCol="0" anchor="ctr"/>
          <a:lstStyle/>
          <a:p>
            <a:pPr indent="0" marL="0">
              <a:buNone/>
            </a:pPr>
            <a:r>
              <a:rPr lang="en-US" sz="1200" b="1" spc="600" kern="0" dirty="0">
                <a:solidFill>
                  <a:srgbClr val="F5A623"/>
                </a:solidFill>
                <a:latin typeface="Calibri" pitchFamily="34" charset="0"/>
                <a:ea typeface="Calibri" pitchFamily="34" charset="-122"/>
                <a:cs typeface="Calibri" pitchFamily="34" charset="-120"/>
              </a:rPr>
              <a:t>KEY TAKEAWAYS</a:t>
            </a:r>
            <a:endParaRPr lang="en-US" sz="1200" dirty="0"/>
          </a:p>
        </p:txBody>
      </p:sp>
      <p:sp>
        <p:nvSpPr>
          <p:cNvPr id="5" name="Text 3"/>
          <p:cNvSpPr/>
          <p:nvPr/>
        </p:nvSpPr>
        <p:spPr>
          <a:xfrm>
            <a:off x="3840480" y="1005840"/>
            <a:ext cx="77724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we've established</a:t>
            </a:r>
            <a:endParaRPr lang="en-US" sz="3400" dirty="0"/>
          </a:p>
        </p:txBody>
      </p:sp>
      <p:sp>
        <p:nvSpPr>
          <p:cNvPr id="6" name="Shape 4"/>
          <p:cNvSpPr/>
          <p:nvPr/>
        </p:nvSpPr>
        <p:spPr>
          <a:xfrm>
            <a:off x="3840480" y="1828800"/>
            <a:ext cx="457200" cy="457200"/>
          </a:xfrm>
          <a:prstGeom prst="ellipse">
            <a:avLst/>
          </a:prstGeom>
          <a:solidFill>
            <a:srgbClr val="F5A623"/>
          </a:solidFill>
          <a:ln w="12700">
            <a:solidFill>
              <a:srgbClr val="F5A623"/>
            </a:solidFill>
            <a:prstDash val="solid"/>
          </a:ln>
        </p:spPr>
      </p:sp>
      <p:sp>
        <p:nvSpPr>
          <p:cNvPr id="7" name="Text 5"/>
          <p:cNvSpPr/>
          <p:nvPr/>
        </p:nvSpPr>
        <p:spPr>
          <a:xfrm>
            <a:off x="3840480" y="1828800"/>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4434840" y="1783080"/>
            <a:ext cx="7315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AI agents need their own identity</a:t>
            </a:r>
            <a:endParaRPr lang="en-US" sz="1400" dirty="0"/>
          </a:p>
        </p:txBody>
      </p:sp>
      <p:sp>
        <p:nvSpPr>
          <p:cNvPr id="9" name="Text 7"/>
          <p:cNvSpPr/>
          <p:nvPr/>
        </p:nvSpPr>
        <p:spPr>
          <a:xfrm>
            <a:off x="4434840" y="2103120"/>
            <a:ext cx="7315200" cy="32004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Not shared service accounts. Zero Trust applies to non-humans too.</a:t>
            </a:r>
            <a:endParaRPr lang="en-US" sz="1050" dirty="0"/>
          </a:p>
        </p:txBody>
      </p:sp>
      <p:sp>
        <p:nvSpPr>
          <p:cNvPr id="10" name="Shape 8"/>
          <p:cNvSpPr/>
          <p:nvPr/>
        </p:nvSpPr>
        <p:spPr>
          <a:xfrm>
            <a:off x="3840480" y="2487168"/>
            <a:ext cx="457200" cy="457200"/>
          </a:xfrm>
          <a:prstGeom prst="ellipse">
            <a:avLst/>
          </a:prstGeom>
          <a:solidFill>
            <a:srgbClr val="F5A623"/>
          </a:solidFill>
          <a:ln w="12700">
            <a:solidFill>
              <a:srgbClr val="F5A623"/>
            </a:solidFill>
            <a:prstDash val="solid"/>
          </a:ln>
        </p:spPr>
      </p:sp>
      <p:sp>
        <p:nvSpPr>
          <p:cNvPr id="11" name="Text 9"/>
          <p:cNvSpPr/>
          <p:nvPr/>
        </p:nvSpPr>
        <p:spPr>
          <a:xfrm>
            <a:off x="3840480" y="2487168"/>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4434840" y="2441448"/>
            <a:ext cx="7315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Entra Agent ID is the right platform</a:t>
            </a:r>
            <a:endParaRPr lang="en-US" sz="1400" dirty="0"/>
          </a:p>
        </p:txBody>
      </p:sp>
      <p:sp>
        <p:nvSpPr>
          <p:cNvPr id="13" name="Text 11"/>
          <p:cNvSpPr/>
          <p:nvPr/>
        </p:nvSpPr>
        <p:spPr>
          <a:xfrm>
            <a:off x="4434840" y="2761488"/>
            <a:ext cx="7315200" cy="32004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GA April 2026. Standards-based OAuth. Native to Copilot Studio / Foundry.</a:t>
            </a:r>
            <a:endParaRPr lang="en-US" sz="1050" dirty="0"/>
          </a:p>
        </p:txBody>
      </p:sp>
      <p:sp>
        <p:nvSpPr>
          <p:cNvPr id="14" name="Shape 12"/>
          <p:cNvSpPr/>
          <p:nvPr/>
        </p:nvSpPr>
        <p:spPr>
          <a:xfrm>
            <a:off x="3840480" y="3145536"/>
            <a:ext cx="457200" cy="457200"/>
          </a:xfrm>
          <a:prstGeom prst="ellipse">
            <a:avLst/>
          </a:prstGeom>
          <a:solidFill>
            <a:srgbClr val="F5A623"/>
          </a:solidFill>
          <a:ln w="12700">
            <a:solidFill>
              <a:srgbClr val="F5A623"/>
            </a:solidFill>
            <a:prstDash val="solid"/>
          </a:ln>
        </p:spPr>
      </p:sp>
      <p:sp>
        <p:nvSpPr>
          <p:cNvPr id="15" name="Text 13"/>
          <p:cNvSpPr/>
          <p:nvPr/>
        </p:nvSpPr>
        <p:spPr>
          <a:xfrm>
            <a:off x="3840480" y="3145536"/>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3</a:t>
            </a:r>
            <a:endParaRPr lang="en-US" sz="1400" dirty="0"/>
          </a:p>
        </p:txBody>
      </p:sp>
      <p:sp>
        <p:nvSpPr>
          <p:cNvPr id="16" name="Text 14"/>
          <p:cNvSpPr/>
          <p:nvPr/>
        </p:nvSpPr>
        <p:spPr>
          <a:xfrm>
            <a:off x="4434840" y="3099816"/>
            <a:ext cx="7315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AuthN ≠ AuthZ</a:t>
            </a:r>
            <a:endParaRPr lang="en-US" sz="1400" dirty="0"/>
          </a:p>
        </p:txBody>
      </p:sp>
      <p:sp>
        <p:nvSpPr>
          <p:cNvPr id="17" name="Text 15"/>
          <p:cNvSpPr/>
          <p:nvPr/>
        </p:nvSpPr>
        <p:spPr>
          <a:xfrm>
            <a:off x="4434840" y="3419856"/>
            <a:ext cx="7315200" cy="32004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Entra authenticates. Scopes + resource-side checks authorize.</a:t>
            </a:r>
            <a:endParaRPr lang="en-US" sz="1050" dirty="0"/>
          </a:p>
        </p:txBody>
      </p:sp>
      <p:sp>
        <p:nvSpPr>
          <p:cNvPr id="18" name="Shape 16"/>
          <p:cNvSpPr/>
          <p:nvPr/>
        </p:nvSpPr>
        <p:spPr>
          <a:xfrm>
            <a:off x="3840480" y="3803904"/>
            <a:ext cx="457200" cy="457200"/>
          </a:xfrm>
          <a:prstGeom prst="ellipse">
            <a:avLst/>
          </a:prstGeom>
          <a:solidFill>
            <a:srgbClr val="F5A623"/>
          </a:solidFill>
          <a:ln w="12700">
            <a:solidFill>
              <a:srgbClr val="F5A623"/>
            </a:solidFill>
            <a:prstDash val="solid"/>
          </a:ln>
        </p:spPr>
      </p:sp>
      <p:sp>
        <p:nvSpPr>
          <p:cNvPr id="19" name="Text 17"/>
          <p:cNvSpPr/>
          <p:nvPr/>
        </p:nvSpPr>
        <p:spPr>
          <a:xfrm>
            <a:off x="3840480" y="3803904"/>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4</a:t>
            </a:r>
            <a:endParaRPr lang="en-US" sz="1400" dirty="0"/>
          </a:p>
        </p:txBody>
      </p:sp>
      <p:sp>
        <p:nvSpPr>
          <p:cNvPr id="20" name="Text 18"/>
          <p:cNvSpPr/>
          <p:nvPr/>
        </p:nvSpPr>
        <p:spPr>
          <a:xfrm>
            <a:off x="4434840" y="3758184"/>
            <a:ext cx="7315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Least privilege on the blueprint</a:t>
            </a:r>
            <a:endParaRPr lang="en-US" sz="1400" dirty="0"/>
          </a:p>
        </p:txBody>
      </p:sp>
      <p:sp>
        <p:nvSpPr>
          <p:cNvPr id="21" name="Text 19"/>
          <p:cNvSpPr/>
          <p:nvPr/>
        </p:nvSpPr>
        <p:spPr>
          <a:xfrm>
            <a:off x="4434840" y="4078224"/>
            <a:ext cx="7315200" cy="32004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Scoped inheritable permissions — Sites.Selected, not Sites.ReadWrite.All.</a:t>
            </a:r>
            <a:endParaRPr lang="en-US" sz="1050" dirty="0"/>
          </a:p>
        </p:txBody>
      </p:sp>
      <p:sp>
        <p:nvSpPr>
          <p:cNvPr id="22" name="Shape 20"/>
          <p:cNvSpPr/>
          <p:nvPr/>
        </p:nvSpPr>
        <p:spPr>
          <a:xfrm>
            <a:off x="3840480" y="4462272"/>
            <a:ext cx="457200" cy="457200"/>
          </a:xfrm>
          <a:prstGeom prst="ellipse">
            <a:avLst/>
          </a:prstGeom>
          <a:solidFill>
            <a:srgbClr val="F5A623"/>
          </a:solidFill>
          <a:ln w="12700">
            <a:solidFill>
              <a:srgbClr val="F5A623"/>
            </a:solidFill>
            <a:prstDash val="solid"/>
          </a:ln>
        </p:spPr>
      </p:sp>
      <p:sp>
        <p:nvSpPr>
          <p:cNvPr id="23" name="Text 21"/>
          <p:cNvSpPr/>
          <p:nvPr/>
        </p:nvSpPr>
        <p:spPr>
          <a:xfrm>
            <a:off x="3840480" y="4462272"/>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5</a:t>
            </a:r>
            <a:endParaRPr lang="en-US" sz="1400" dirty="0"/>
          </a:p>
        </p:txBody>
      </p:sp>
      <p:sp>
        <p:nvSpPr>
          <p:cNvPr id="24" name="Text 22"/>
          <p:cNvSpPr/>
          <p:nvPr/>
        </p:nvSpPr>
        <p:spPr>
          <a:xfrm>
            <a:off x="4434840" y="4416552"/>
            <a:ext cx="7315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Governance is table-stakes</a:t>
            </a:r>
            <a:endParaRPr lang="en-US" sz="1400" dirty="0"/>
          </a:p>
        </p:txBody>
      </p:sp>
      <p:sp>
        <p:nvSpPr>
          <p:cNvPr id="25" name="Text 23"/>
          <p:cNvSpPr/>
          <p:nvPr/>
        </p:nvSpPr>
        <p:spPr>
          <a:xfrm>
            <a:off x="4434840" y="4736592"/>
            <a:ext cx="7315200" cy="32004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Sign-in logs + Purview + Defender + access reviews. Compliance-ready.</a:t>
            </a:r>
            <a:endParaRPr lang="en-US" sz="1050" dirty="0"/>
          </a:p>
        </p:txBody>
      </p:sp>
      <p:sp>
        <p:nvSpPr>
          <p:cNvPr id="26" name="Shape 24"/>
          <p:cNvSpPr/>
          <p:nvPr/>
        </p:nvSpPr>
        <p:spPr>
          <a:xfrm>
            <a:off x="3840480" y="5120640"/>
            <a:ext cx="457200" cy="457200"/>
          </a:xfrm>
          <a:prstGeom prst="ellipse">
            <a:avLst/>
          </a:prstGeom>
          <a:solidFill>
            <a:srgbClr val="F5A623"/>
          </a:solidFill>
          <a:ln w="12700">
            <a:solidFill>
              <a:srgbClr val="F5A623"/>
            </a:solidFill>
            <a:prstDash val="solid"/>
          </a:ln>
        </p:spPr>
      </p:sp>
      <p:sp>
        <p:nvSpPr>
          <p:cNvPr id="27" name="Text 25"/>
          <p:cNvSpPr/>
          <p:nvPr/>
        </p:nvSpPr>
        <p:spPr>
          <a:xfrm>
            <a:off x="3840480" y="5120640"/>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6</a:t>
            </a:r>
            <a:endParaRPr lang="en-US" sz="1400" dirty="0"/>
          </a:p>
        </p:txBody>
      </p:sp>
      <p:sp>
        <p:nvSpPr>
          <p:cNvPr id="28" name="Text 26"/>
          <p:cNvSpPr/>
          <p:nvPr/>
        </p:nvSpPr>
        <p:spPr>
          <a:xfrm>
            <a:off x="4434840" y="5074920"/>
            <a:ext cx="7315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OBO preserves user permissions</a:t>
            </a:r>
            <a:endParaRPr lang="en-US" sz="1400" dirty="0"/>
          </a:p>
        </p:txBody>
      </p:sp>
      <p:sp>
        <p:nvSpPr>
          <p:cNvPr id="29" name="Text 27"/>
          <p:cNvSpPr/>
          <p:nvPr/>
        </p:nvSpPr>
        <p:spPr>
          <a:xfrm>
            <a:off x="4434840" y="5394960"/>
            <a:ext cx="7315200" cy="32004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Agent inherits the user's own access to backend systems — no elevation.</a:t>
            </a:r>
            <a:endParaRPr lang="en-US" sz="1050" dirty="0"/>
          </a:p>
        </p:txBody>
      </p:sp>
      <p:sp>
        <p:nvSpPr>
          <p:cNvPr id="30" name="Shape 28"/>
          <p:cNvSpPr/>
          <p:nvPr/>
        </p:nvSpPr>
        <p:spPr>
          <a:xfrm>
            <a:off x="3840480" y="5943600"/>
            <a:ext cx="3200400" cy="0"/>
          </a:xfrm>
          <a:prstGeom prst="line">
            <a:avLst/>
          </a:prstGeom>
          <a:noFill/>
          <a:ln w="38100">
            <a:solidFill>
              <a:srgbClr val="F5A623"/>
            </a:solidFill>
            <a:prstDash val="solid"/>
          </a:ln>
        </p:spPr>
      </p:sp>
      <p:sp>
        <p:nvSpPr>
          <p:cNvPr id="31" name="Text 29"/>
          <p:cNvSpPr/>
          <p:nvPr/>
        </p:nvSpPr>
        <p:spPr>
          <a:xfrm>
            <a:off x="3840480" y="608076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Thank you  —  Questions?</a:t>
            </a:r>
            <a:endParaRPr lang="en-US" sz="2200" dirty="0"/>
          </a:p>
        </p:txBody>
      </p:sp>
      <p:sp>
        <p:nvSpPr>
          <p:cNvPr id="32" name="Text 30"/>
          <p:cNvSpPr/>
          <p:nvPr/>
        </p:nvSpPr>
        <p:spPr>
          <a:xfrm>
            <a:off x="640080" y="2286000"/>
            <a:ext cx="2743200" cy="2286000"/>
          </a:xfrm>
          <a:prstGeom prst="rect">
            <a:avLst/>
          </a:prstGeom>
          <a:noFill/>
          <a:ln/>
        </p:spPr>
        <p:txBody>
          <a:bodyPr wrap="square" lIns="0" tIns="0" rIns="0" bIns="0" rtlCol="0" anchor="ctr"/>
          <a:lstStyle/>
          <a:p>
            <a:pPr algn="ctr" indent="0" marL="0">
              <a:buNone/>
            </a:pPr>
            <a:r>
              <a:rPr lang="en-US" sz="13000" b="1" dirty="0">
                <a:solidFill>
                  <a:srgbClr val="F5A623"/>
                </a:solidFill>
                <a:latin typeface="Cambria" pitchFamily="34" charset="0"/>
                <a:ea typeface="Cambria" pitchFamily="34" charset="-122"/>
                <a:cs typeface="Cambria" pitchFamily="34" charset="-120"/>
              </a:rPr>
              <a:t>20</a:t>
            </a:r>
            <a:endParaRPr lang="en-US" sz="13000" dirty="0"/>
          </a:p>
        </p:txBody>
      </p:sp>
      <p:sp>
        <p:nvSpPr>
          <p:cNvPr id="33" name="Text 31"/>
          <p:cNvSpPr/>
          <p:nvPr/>
        </p:nvSpPr>
        <p:spPr>
          <a:xfrm>
            <a:off x="640080" y="4572000"/>
            <a:ext cx="2743200" cy="320040"/>
          </a:xfrm>
          <a:prstGeom prst="rect">
            <a:avLst/>
          </a:prstGeom>
          <a:noFill/>
          <a:ln/>
        </p:spPr>
        <p:txBody>
          <a:bodyPr wrap="square" lIns="0" tIns="0" rIns="0" bIns="0" rtlCol="0" anchor="ctr"/>
          <a:lstStyle/>
          <a:p>
            <a:pPr algn="ctr" indent="0" marL="0">
              <a:buNone/>
            </a:pPr>
            <a:r>
              <a:rPr lang="en-US" sz="1200" b="1" spc="600" kern="0" dirty="0">
                <a:solidFill>
                  <a:srgbClr val="CADCFC"/>
                </a:solidFill>
                <a:latin typeface="Calibri" pitchFamily="34" charset="0"/>
                <a:ea typeface="Calibri" pitchFamily="34" charset="-122"/>
                <a:cs typeface="Calibri" pitchFamily="34" charset="-120"/>
              </a:rPr>
              <a:t>SLIDES</a:t>
            </a:r>
            <a:endParaRPr lang="en-US" sz="1200" dirty="0"/>
          </a:p>
        </p:txBody>
      </p:sp>
      <p:sp>
        <p:nvSpPr>
          <p:cNvPr id="34" name="Text 32"/>
          <p:cNvSpPr/>
          <p:nvPr/>
        </p:nvSpPr>
        <p:spPr>
          <a:xfrm>
            <a:off x="640080" y="4892040"/>
            <a:ext cx="2743200" cy="320040"/>
          </a:xfrm>
          <a:prstGeom prst="rect">
            <a:avLst/>
          </a:prstGeom>
          <a:noFill/>
          <a:ln/>
        </p:spPr>
        <p:txBody>
          <a:bodyPr wrap="square" lIns="0" tIns="0" rIns="0" bIns="0" rtlCol="0" anchor="ctr"/>
          <a:lstStyle/>
          <a:p>
            <a:pPr algn="ctr" indent="0" marL="0">
              <a:buNone/>
            </a:pPr>
            <a:r>
              <a:rPr lang="en-US" sz="1100" i="1" dirty="0">
                <a:solidFill>
                  <a:srgbClr val="CADCFC"/>
                </a:solidFill>
                <a:latin typeface="Calibri" pitchFamily="34" charset="0"/>
                <a:ea typeface="Calibri" pitchFamily="34" charset="-122"/>
                <a:cs typeface="Calibri" pitchFamily="34" charset="-120"/>
              </a:rPr>
              <a:t>one clear message</a:t>
            </a:r>
            <a:endParaRPr lang="en-US" sz="1100" dirty="0"/>
          </a:p>
        </p:txBody>
      </p:sp>
      <p:sp>
        <p:nvSpPr>
          <p:cNvPr id="35" name="Text 33"/>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Entra Agent ID  •  Procurement Assistant</a:t>
            </a:r>
            <a:endParaRPr lang="en-US" sz="900" dirty="0"/>
          </a:p>
        </p:txBody>
      </p:sp>
      <p:sp>
        <p:nvSpPr>
          <p:cNvPr id="36" name="Text 34"/>
          <p:cNvSpPr/>
          <p:nvPr/>
        </p:nvSpPr>
        <p:spPr>
          <a:xfrm>
            <a:off x="11247120" y="6492240"/>
            <a:ext cx="64008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20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Procurement Assistant with Microsoft Entra Agent ID</dc:title>
  <dc:subject>PptxGenJS Presentation</dc:subject>
  <dc:creator>Shashi Ranjan</dc:creator>
  <cp:lastModifiedBy>Shashi Ranjan</cp:lastModifiedBy>
  <cp:revision>1</cp:revision>
  <dcterms:created xsi:type="dcterms:W3CDTF">2026-07-26T11:50:48Z</dcterms:created>
  <dcterms:modified xsi:type="dcterms:W3CDTF">2026-07-26T11:50:48Z</dcterms:modified>
</cp:coreProperties>
</file>